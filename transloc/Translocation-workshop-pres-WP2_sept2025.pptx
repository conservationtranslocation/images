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60" r:id="rId3"/>
    <p:sldId id="261" r:id="rId4"/>
    <p:sldId id="262" r:id="rId5"/>
    <p:sldId id="305" r:id="rId6"/>
    <p:sldId id="307" r:id="rId7"/>
    <p:sldId id="322" r:id="rId8"/>
    <p:sldId id="321" r:id="rId9"/>
    <p:sldId id="323" r:id="rId10"/>
    <p:sldId id="324" r:id="rId11"/>
    <p:sldId id="341" r:id="rId12"/>
    <p:sldId id="325" r:id="rId13"/>
    <p:sldId id="326" r:id="rId14"/>
    <p:sldId id="272" r:id="rId15"/>
    <p:sldId id="273" r:id="rId16"/>
    <p:sldId id="277" r:id="rId17"/>
    <p:sldId id="309" r:id="rId18"/>
    <p:sldId id="310" r:id="rId19"/>
    <p:sldId id="311" r:id="rId20"/>
    <p:sldId id="327" r:id="rId21"/>
    <p:sldId id="274" r:id="rId22"/>
    <p:sldId id="328" r:id="rId23"/>
    <p:sldId id="280" r:id="rId24"/>
    <p:sldId id="282" r:id="rId25"/>
    <p:sldId id="258" r:id="rId26"/>
    <p:sldId id="283" r:id="rId27"/>
    <p:sldId id="287" r:id="rId28"/>
    <p:sldId id="284" r:id="rId29"/>
    <p:sldId id="294" r:id="rId30"/>
    <p:sldId id="288" r:id="rId31"/>
    <p:sldId id="292" r:id="rId32"/>
    <p:sldId id="289" r:id="rId33"/>
    <p:sldId id="293" r:id="rId34"/>
    <p:sldId id="291" r:id="rId35"/>
    <p:sldId id="295" r:id="rId36"/>
    <p:sldId id="337" r:id="rId37"/>
    <p:sldId id="338" r:id="rId38"/>
    <p:sldId id="335" r:id="rId39"/>
    <p:sldId id="336" r:id="rId40"/>
    <p:sldId id="339" r:id="rId41"/>
    <p:sldId id="332" r:id="rId42"/>
    <p:sldId id="303" r:id="rId43"/>
    <p:sldId id="297" r:id="rId44"/>
    <p:sldId id="271"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7024" autoAdjust="0"/>
  </p:normalViewPr>
  <p:slideViewPr>
    <p:cSldViewPr snapToGrid="0">
      <p:cViewPr varScale="1">
        <p:scale>
          <a:sx n="51" d="100"/>
          <a:sy n="51" d="100"/>
        </p:scale>
        <p:origin x="14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E21B9-F3F0-4903-8EAB-837DD76AE850}" type="datetimeFigureOut">
              <a:rPr lang="fr-FR" smtClean="0"/>
              <a:t>10/09/2025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49301E-2F7A-4A2C-AE9A-220D326BD9F0}" type="slidenum">
              <a:rPr lang="fr-FR" smtClean="0"/>
              <a:t>‹N°›</a:t>
            </a:fld>
            <a:endParaRPr lang="fr-FR"/>
          </a:p>
        </p:txBody>
      </p:sp>
    </p:spTree>
    <p:extLst>
      <p:ext uri="{BB962C8B-B14F-4D97-AF65-F5344CB8AC3E}">
        <p14:creationId xmlns:p14="http://schemas.microsoft.com/office/powerpoint/2010/main" val="134189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To Bruno:</a:t>
            </a:r>
          </a:p>
          <a:p>
            <a:r>
              <a:rPr lang="fr-FR" dirty="0" err="1"/>
              <a:t>Title</a:t>
            </a:r>
            <a:r>
              <a:rPr lang="fr-FR" dirty="0"/>
              <a:t> of the </a:t>
            </a:r>
            <a:r>
              <a:rPr lang="fr-FR" dirty="0" err="1"/>
              <a:t>presentation</a:t>
            </a:r>
            <a:endParaRPr lang="fr-FR" dirty="0"/>
          </a:p>
          <a:p>
            <a:r>
              <a:rPr lang="fr-FR" dirty="0"/>
              <a:t>Structure of the </a:t>
            </a:r>
            <a:r>
              <a:rPr lang="fr-FR" dirty="0" err="1"/>
              <a:t>presentation</a:t>
            </a:r>
            <a:r>
              <a:rPr lang="fr-FR" dirty="0"/>
              <a:t> </a:t>
            </a:r>
            <a:r>
              <a:rPr lang="fr-FR" dirty="0" err="1"/>
              <a:t>will</a:t>
            </a:r>
            <a:r>
              <a:rPr lang="fr-FR" dirty="0"/>
              <a:t> </a:t>
            </a:r>
            <a:r>
              <a:rPr lang="fr-FR" dirty="0" err="1"/>
              <a:t>be</a:t>
            </a:r>
            <a:r>
              <a:rPr lang="fr-FR" dirty="0"/>
              <a:t> </a:t>
            </a:r>
            <a:r>
              <a:rPr lang="fr-FR" dirty="0" err="1"/>
              <a:t>exactly</a:t>
            </a:r>
            <a:r>
              <a:rPr lang="fr-FR" dirty="0"/>
              <a:t> as the </a:t>
            </a:r>
            <a:r>
              <a:rPr lang="fr-FR" dirty="0" err="1"/>
              <a:t>title</a:t>
            </a:r>
            <a:r>
              <a:rPr lang="fr-FR" dirty="0"/>
              <a:t> </a:t>
            </a:r>
            <a:r>
              <a:rPr lang="fr-FR" dirty="0" err="1"/>
              <a:t>suggests</a:t>
            </a:r>
            <a:r>
              <a:rPr lang="fr-FR" dirty="0"/>
              <a:t>, </a:t>
            </a:r>
            <a:r>
              <a:rPr lang="fr-FR" dirty="0" err="1"/>
              <a:t>with</a:t>
            </a:r>
            <a:r>
              <a:rPr lang="fr-FR" dirty="0"/>
              <a:t> the </a:t>
            </a:r>
            <a:r>
              <a:rPr lang="fr-FR" dirty="0" err="1"/>
              <a:t>largest</a:t>
            </a:r>
            <a:r>
              <a:rPr lang="fr-FR" dirty="0"/>
              <a:t> part </a:t>
            </a:r>
            <a:r>
              <a:rPr lang="fr-FR" dirty="0" err="1"/>
              <a:t>devoted</a:t>
            </a:r>
            <a:r>
              <a:rPr lang="fr-FR" dirty="0"/>
              <a:t> to the </a:t>
            </a:r>
            <a:r>
              <a:rPr lang="fr-FR" dirty="0" err="1"/>
              <a:t>functioning</a:t>
            </a:r>
            <a:r>
              <a:rPr lang="fr-FR" dirty="0"/>
              <a:t> of the </a:t>
            </a:r>
            <a:r>
              <a:rPr lang="fr-FR" dirty="0" err="1"/>
              <a:t>database</a:t>
            </a:r>
            <a:r>
              <a:rPr lang="fr-FR"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a:t>
            </a:fld>
            <a:endParaRPr lang="fr-FR"/>
          </a:p>
        </p:txBody>
      </p:sp>
    </p:spTree>
    <p:extLst>
      <p:ext uri="{BB962C8B-B14F-4D97-AF65-F5344CB8AC3E}">
        <p14:creationId xmlns:p14="http://schemas.microsoft.com/office/powerpoint/2010/main" val="2957577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fr-FR" dirty="0" err="1"/>
              <a:t>Let’s</a:t>
            </a:r>
            <a:r>
              <a:rPr lang="fr-FR" dirty="0"/>
              <a:t> </a:t>
            </a:r>
            <a:r>
              <a:rPr lang="fr-FR" dirty="0" err="1"/>
              <a:t>begin</a:t>
            </a:r>
            <a:r>
              <a:rPr lang="fr-FR" dirty="0"/>
              <a:t> </a:t>
            </a:r>
            <a:r>
              <a:rPr lang="fr-FR" dirty="0" err="1"/>
              <a:t>with</a:t>
            </a:r>
            <a:r>
              <a:rPr lang="fr-FR" dirty="0"/>
              <a:t> the </a:t>
            </a:r>
            <a:r>
              <a:rPr lang="fr-FR" dirty="0" err="1"/>
              <a:t>purpose</a:t>
            </a:r>
            <a:r>
              <a:rPr lang="fr-FR" dirty="0"/>
              <a:t> of the </a:t>
            </a:r>
            <a:r>
              <a:rPr lang="fr-FR" dirty="0" err="1"/>
              <a:t>database</a:t>
            </a:r>
            <a:endParaRPr lang="fr-FR" dirty="0"/>
          </a:p>
          <a:p>
            <a:r>
              <a:rPr lang="fr-FR" dirty="0" err="1"/>
              <a:t>I’ll</a:t>
            </a:r>
            <a:r>
              <a:rPr lang="fr-FR" dirty="0"/>
              <a:t> </a:t>
            </a:r>
            <a:r>
              <a:rPr lang="fr-FR" dirty="0" err="1"/>
              <a:t>be</a:t>
            </a:r>
            <a:r>
              <a:rPr lang="fr-FR" dirty="0"/>
              <a:t> quick </a:t>
            </a:r>
            <a:r>
              <a:rPr lang="fr-FR" dirty="0" err="1"/>
              <a:t>because</a:t>
            </a:r>
            <a:r>
              <a:rPr lang="fr-FR" dirty="0"/>
              <a:t> </a:t>
            </a:r>
            <a:r>
              <a:rPr lang="fr-FR" dirty="0" err="1"/>
              <a:t>we</a:t>
            </a:r>
            <a:r>
              <a:rPr lang="fr-FR" dirty="0"/>
              <a:t> are all </a:t>
            </a:r>
            <a:r>
              <a:rPr lang="fr-FR" dirty="0" err="1"/>
              <a:t>involved</a:t>
            </a:r>
            <a:r>
              <a:rPr lang="fr-FR" dirty="0"/>
              <a:t> in translocation issues and </a:t>
            </a:r>
            <a:r>
              <a:rPr lang="fr-FR" dirty="0" err="1"/>
              <a:t>we</a:t>
            </a:r>
            <a:r>
              <a:rPr lang="fr-FR" dirty="0"/>
              <a:t> are all </a:t>
            </a:r>
            <a:r>
              <a:rPr lang="fr-FR" dirty="0" err="1"/>
              <a:t>aware</a:t>
            </a:r>
            <a:r>
              <a:rPr lang="fr-FR" dirty="0"/>
              <a:t> of the </a:t>
            </a:r>
            <a:r>
              <a:rPr lang="fr-FR" dirty="0" err="1"/>
              <a:t>context</a:t>
            </a:r>
            <a:r>
              <a:rPr lang="fr-FR" dirty="0"/>
              <a:t> and of the objectives </a:t>
            </a:r>
            <a:r>
              <a:rPr lang="fr-FR" dirty="0" err="1"/>
              <a:t>associated</a:t>
            </a:r>
            <a:r>
              <a:rPr lang="fr-FR" dirty="0"/>
              <a:t> </a:t>
            </a:r>
            <a:r>
              <a:rPr lang="fr-FR" dirty="0" err="1"/>
              <a:t>with</a:t>
            </a:r>
            <a:r>
              <a:rPr lang="fr-FR" dirty="0"/>
              <a:t> </a:t>
            </a:r>
            <a:r>
              <a:rPr lang="fr-FR" dirty="0" err="1"/>
              <a:t>this</a:t>
            </a:r>
            <a:r>
              <a:rPr lang="fr-FR" dirty="0"/>
              <a:t> type of </a:t>
            </a:r>
            <a:r>
              <a:rPr lang="fr-FR" dirty="0" err="1"/>
              <a:t>databases</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a:t>
            </a:fld>
            <a:endParaRPr lang="fr-FR"/>
          </a:p>
        </p:txBody>
      </p:sp>
    </p:spTree>
    <p:extLst>
      <p:ext uri="{BB962C8B-B14F-4D97-AF65-F5344CB8AC3E}">
        <p14:creationId xmlns:p14="http://schemas.microsoft.com/office/powerpoint/2010/main" val="3596081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a:spcBef>
                <a:spcPts val="1800"/>
              </a:spcBef>
            </a:pPr>
            <a:r>
              <a:rPr lang="en-US" sz="1200" kern="1200" dirty="0">
                <a:solidFill>
                  <a:schemeClr val="tx1"/>
                </a:solidFill>
                <a:effectLst/>
                <a:latin typeface="+mn-lt"/>
                <a:ea typeface="+mn-ea"/>
                <a:cs typeface="+mn-cs"/>
              </a:rPr>
              <a:t>We are operating in a context where:</a:t>
            </a:r>
          </a:p>
          <a:p>
            <a:pPr>
              <a:spcBef>
                <a:spcPts val="1800"/>
              </a:spcBef>
            </a:pPr>
            <a:r>
              <a:rPr lang="en-US" sz="1200" dirty="0"/>
              <a:t>- Translocation projects have been increasing over the last 10-20 years</a:t>
            </a:r>
          </a:p>
          <a:p>
            <a:pPr>
              <a:spcBef>
                <a:spcPts val="1800"/>
              </a:spcBef>
            </a:pPr>
            <a:r>
              <a:rPr lang="en-US" sz="1200" dirty="0"/>
              <a:t>- Efforts to implement translocations vary greatly between projects</a:t>
            </a:r>
          </a:p>
          <a:p>
            <a:pPr>
              <a:spcBef>
                <a:spcPts val="1800"/>
              </a:spcBef>
            </a:pPr>
            <a:r>
              <a:rPr lang="en-US" sz="1200" dirty="0"/>
              <a:t>- Monitoring of translocated populations is heterogeneous</a:t>
            </a:r>
          </a:p>
          <a:p>
            <a:pPr>
              <a:spcBef>
                <a:spcPts val="1800"/>
              </a:spcBef>
            </a:pPr>
            <a:r>
              <a:rPr lang="en-US" sz="1200" dirty="0"/>
              <a:t>- Vocabulary can be a source of misunderstanding</a:t>
            </a:r>
          </a:p>
          <a:p>
            <a:pPr>
              <a:spcBef>
                <a:spcPts val="1800"/>
              </a:spcBef>
            </a:pPr>
            <a:r>
              <a:rPr lang="en-US" sz="1200" dirty="0"/>
              <a:t>- Data is scattered, often in grey literature, especially for plants</a:t>
            </a: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4</a:t>
            </a:fld>
            <a:endParaRPr lang="fr-FR"/>
          </a:p>
        </p:txBody>
      </p:sp>
    </p:spTree>
    <p:extLst>
      <p:ext uri="{BB962C8B-B14F-4D97-AF65-F5344CB8AC3E}">
        <p14:creationId xmlns:p14="http://schemas.microsoft.com/office/powerpoint/2010/main" val="3356835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GB" sz="1200" kern="1200" dirty="0">
                <a:solidFill>
                  <a:schemeClr val="tx1"/>
                </a:solidFill>
                <a:effectLst/>
                <a:latin typeface="+mn-lt"/>
                <a:ea typeface="+mn-ea"/>
                <a:cs typeface="+mn-cs"/>
              </a:rPr>
              <a:t>The objectives of the database are multiple</a:t>
            </a:r>
            <a:endParaRPr lang="fr-FR"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These are short-term objectives. We think that they have been mostly achieved.</a:t>
            </a:r>
            <a:endParaRPr lang="fr-FR" sz="1200" kern="1200" dirty="0">
              <a:solidFill>
                <a:schemeClr val="tx1"/>
              </a:solidFill>
              <a:effectLst/>
              <a:latin typeface="+mn-lt"/>
              <a:ea typeface="+mn-ea"/>
              <a:cs typeface="+mn-cs"/>
            </a:endParaRPr>
          </a:p>
          <a:p>
            <a:r>
              <a:rPr lang="fr-FR" i="1" dirty="0"/>
              <a:t>[Read the slide]</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5</a:t>
            </a:fld>
            <a:endParaRPr lang="fr-FR"/>
          </a:p>
        </p:txBody>
      </p:sp>
    </p:spTree>
    <p:extLst>
      <p:ext uri="{BB962C8B-B14F-4D97-AF65-F5344CB8AC3E}">
        <p14:creationId xmlns:p14="http://schemas.microsoft.com/office/powerpoint/2010/main" val="383616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fr-FR" dirty="0"/>
              <a:t>There are </a:t>
            </a:r>
            <a:r>
              <a:rPr lang="fr-FR" dirty="0" err="1"/>
              <a:t>also</a:t>
            </a:r>
            <a:r>
              <a:rPr lang="fr-FR" dirty="0"/>
              <a:t> long-</a:t>
            </a:r>
            <a:r>
              <a:rPr lang="fr-FR" dirty="0" err="1"/>
              <a:t>term</a:t>
            </a:r>
            <a:r>
              <a:rPr lang="fr-FR" dirty="0"/>
              <a:t> objectives, or, </a:t>
            </a:r>
            <a:r>
              <a:rPr lang="fr-FR" dirty="0" err="1"/>
              <a:t>let’s</a:t>
            </a:r>
            <a:r>
              <a:rPr lang="fr-FR" dirty="0"/>
              <a:t> </a:t>
            </a:r>
            <a:r>
              <a:rPr lang="fr-FR" dirty="0" err="1"/>
              <a:t>say</a:t>
            </a:r>
            <a:r>
              <a:rPr lang="fr-FR" dirty="0"/>
              <a:t>, more </a:t>
            </a:r>
            <a:r>
              <a:rPr lang="fr-FR" dirty="0" err="1"/>
              <a:t>ambitious</a:t>
            </a:r>
            <a:r>
              <a:rPr lang="fr-FR" dirty="0"/>
              <a:t> objectives.</a:t>
            </a:r>
          </a:p>
          <a:p>
            <a:r>
              <a:rPr lang="en-US" dirty="0"/>
              <a:t>The first and third objectives have not yet been achieved</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6</a:t>
            </a:fld>
            <a:endParaRPr lang="fr-FR"/>
          </a:p>
        </p:txBody>
      </p:sp>
    </p:spTree>
    <p:extLst>
      <p:ext uri="{BB962C8B-B14F-4D97-AF65-F5344CB8AC3E}">
        <p14:creationId xmlns:p14="http://schemas.microsoft.com/office/powerpoint/2010/main" val="724340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That's all for the purpose of the database. Now let's move on to its scope.</a:t>
            </a:r>
            <a:endParaRPr lang="fr-FR" b="0"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7</a:t>
            </a:fld>
            <a:endParaRPr lang="fr-FR"/>
          </a:p>
        </p:txBody>
      </p:sp>
    </p:spTree>
    <p:extLst>
      <p:ext uri="{BB962C8B-B14F-4D97-AF65-F5344CB8AC3E}">
        <p14:creationId xmlns:p14="http://schemas.microsoft.com/office/powerpoint/2010/main" val="2579065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US" dirty="0"/>
              <a:t>The database deals with all </a:t>
            </a:r>
            <a:r>
              <a:rPr lang="fr-FR" dirty="0" err="1"/>
              <a:t>kinds</a:t>
            </a:r>
            <a:r>
              <a:rPr lang="fr-FR" dirty="0"/>
              <a:t> of plants, </a:t>
            </a:r>
            <a:r>
              <a:rPr lang="fr-FR" dirty="0" err="1"/>
              <a:t>animals</a:t>
            </a:r>
            <a:r>
              <a:rPr lang="fr-FR" dirty="0"/>
              <a:t> and </a:t>
            </a:r>
            <a:r>
              <a:rPr lang="fr-FR" dirty="0" err="1"/>
              <a:t>fungi</a:t>
            </a:r>
            <a:r>
              <a:rPr lang="fr-FR" dirty="0"/>
              <a:t>.</a:t>
            </a:r>
          </a:p>
          <a:p>
            <a:r>
              <a:rPr lang="fr-FR" dirty="0" err="1"/>
              <a:t>Geographical</a:t>
            </a:r>
            <a:r>
              <a:rPr lang="fr-FR" dirty="0"/>
              <a:t> </a:t>
            </a:r>
            <a:r>
              <a:rPr lang="fr-FR" dirty="0" err="1"/>
              <a:t>perimeter</a:t>
            </a:r>
            <a:r>
              <a:rPr lang="fr-FR" dirty="0"/>
              <a:t>: Europe in the </a:t>
            </a:r>
            <a:r>
              <a:rPr lang="fr-FR" dirty="0" err="1"/>
              <a:t>geographical</a:t>
            </a:r>
            <a:r>
              <a:rPr lang="fr-FR" dirty="0"/>
              <a:t> </a:t>
            </a:r>
            <a:r>
              <a:rPr lang="fr-FR" dirty="0" err="1"/>
              <a:t>sense</a:t>
            </a:r>
            <a:r>
              <a:rPr lang="fr-FR" dirty="0"/>
              <a:t>: </a:t>
            </a:r>
            <a:r>
              <a:rPr lang="fr-FR" dirty="0" err="1"/>
              <a:t>from</a:t>
            </a:r>
            <a:r>
              <a:rPr lang="fr-FR" dirty="0"/>
              <a:t> </a:t>
            </a:r>
            <a:r>
              <a:rPr lang="fr-FR" dirty="0" err="1"/>
              <a:t>Iceland</a:t>
            </a:r>
            <a:r>
              <a:rPr lang="fr-FR" dirty="0"/>
              <a:t> up to the </a:t>
            </a:r>
            <a:r>
              <a:rPr lang="fr-FR" dirty="0" err="1"/>
              <a:t>Ural</a:t>
            </a:r>
            <a:r>
              <a:rPr lang="fr-FR" dirty="0"/>
              <a:t> </a:t>
            </a:r>
            <a:r>
              <a:rPr lang="fr-FR" dirty="0" err="1"/>
              <a:t>Mountains</a:t>
            </a:r>
            <a:r>
              <a:rPr lang="fr-FR" dirty="0"/>
              <a:t> and the </a:t>
            </a:r>
            <a:r>
              <a:rPr lang="fr-FR" dirty="0" err="1"/>
              <a:t>Caucasus</a:t>
            </a:r>
            <a:r>
              <a:rPr lang="fr-FR" dirty="0"/>
              <a:t>, plus the </a:t>
            </a:r>
            <a:r>
              <a:rPr lang="fr-FR" dirty="0" err="1"/>
              <a:t>Mediterranean</a:t>
            </a:r>
            <a:r>
              <a:rPr lang="fr-FR" dirty="0"/>
              <a:t> countries.</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8</a:t>
            </a:fld>
            <a:endParaRPr lang="fr-FR"/>
          </a:p>
        </p:txBody>
      </p:sp>
    </p:spTree>
    <p:extLst>
      <p:ext uri="{BB962C8B-B14F-4D97-AF65-F5344CB8AC3E}">
        <p14:creationId xmlns:p14="http://schemas.microsoft.com/office/powerpoint/2010/main" val="3987921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fr-FR" dirty="0" err="1"/>
              <a:t>According</a:t>
            </a:r>
            <a:r>
              <a:rPr lang="fr-FR" dirty="0"/>
              <a:t> to IUCN, a c</a:t>
            </a:r>
            <a:r>
              <a:rPr lang="fr-FR" sz="1200" b="0" i="0" u="none" strike="noStrike" kern="1200" baseline="0" dirty="0">
                <a:solidFill>
                  <a:schemeClr val="tx1"/>
                </a:solidFill>
                <a:latin typeface="+mn-lt"/>
                <a:ea typeface="+mn-ea"/>
                <a:cs typeface="+mn-cs"/>
              </a:rPr>
              <a:t>onservation translocation </a:t>
            </a:r>
            <a:r>
              <a:rPr lang="fr-FR" sz="1200" b="0" i="1" u="none" strike="noStrike" kern="1200" baseline="0" dirty="0" err="1">
                <a:solidFill>
                  <a:schemeClr val="tx1"/>
                </a:solidFill>
                <a:latin typeface="+mn-lt"/>
                <a:ea typeface="+mn-ea"/>
                <a:cs typeface="+mn-cs"/>
              </a:rPr>
              <a:t>is</a:t>
            </a:r>
            <a:r>
              <a:rPr lang="fr-FR" sz="1200" b="0" i="1" u="none" strike="noStrike" kern="1200" baseline="0" dirty="0">
                <a:solidFill>
                  <a:schemeClr val="tx1"/>
                </a:solidFill>
                <a:latin typeface="+mn-lt"/>
                <a:ea typeface="+mn-ea"/>
                <a:cs typeface="+mn-cs"/>
              </a:rPr>
              <a:t> the </a:t>
            </a:r>
            <a:r>
              <a:rPr lang="en-US" sz="1200" b="0" i="1" u="none" strike="noStrike" kern="1200" baseline="0" dirty="0">
                <a:solidFill>
                  <a:schemeClr val="tx1"/>
                </a:solidFill>
                <a:latin typeface="+mn-lt"/>
                <a:ea typeface="+mn-ea"/>
                <a:cs typeface="+mn-cs"/>
              </a:rPr>
              <a:t>intentional movement and release of a living organism where the primary objective is a conservation benefit: this will usually comprise improving the conservation status of the focal species locally or globally, and/or </a:t>
            </a:r>
            <a:r>
              <a:rPr lang="fr-FR" sz="1200" b="0" i="1" u="none" strike="noStrike" kern="1200" baseline="0" dirty="0" err="1">
                <a:solidFill>
                  <a:schemeClr val="tx1"/>
                </a:solidFill>
                <a:latin typeface="+mn-lt"/>
                <a:ea typeface="+mn-ea"/>
                <a:cs typeface="+mn-cs"/>
              </a:rPr>
              <a:t>restoring</a:t>
            </a:r>
            <a:r>
              <a:rPr lang="fr-FR" sz="1200" b="0" i="1" u="none" strike="noStrike" kern="1200" baseline="0" dirty="0">
                <a:solidFill>
                  <a:schemeClr val="tx1"/>
                </a:solidFill>
                <a:latin typeface="+mn-lt"/>
                <a:ea typeface="+mn-ea"/>
                <a:cs typeface="+mn-cs"/>
              </a:rPr>
              <a:t> </a:t>
            </a:r>
            <a:r>
              <a:rPr lang="fr-FR" sz="1200" b="0" i="1" u="none" strike="noStrike" kern="1200" baseline="0" dirty="0" err="1">
                <a:solidFill>
                  <a:schemeClr val="tx1"/>
                </a:solidFill>
                <a:latin typeface="+mn-lt"/>
                <a:ea typeface="+mn-ea"/>
                <a:cs typeface="+mn-cs"/>
              </a:rPr>
              <a:t>natural</a:t>
            </a:r>
            <a:r>
              <a:rPr lang="fr-FR" sz="1200" b="0" i="1" u="none" strike="noStrike" kern="1200" baseline="0" dirty="0">
                <a:solidFill>
                  <a:schemeClr val="tx1"/>
                </a:solidFill>
                <a:latin typeface="+mn-lt"/>
                <a:ea typeface="+mn-ea"/>
                <a:cs typeface="+mn-cs"/>
              </a:rPr>
              <a:t> </a:t>
            </a:r>
            <a:r>
              <a:rPr lang="fr-FR" sz="1200" b="0" i="1" u="none" strike="noStrike" kern="1200" baseline="0" dirty="0" err="1">
                <a:solidFill>
                  <a:schemeClr val="tx1"/>
                </a:solidFill>
                <a:latin typeface="+mn-lt"/>
                <a:ea typeface="+mn-ea"/>
                <a:cs typeface="+mn-cs"/>
              </a:rPr>
              <a:t>ecosystem</a:t>
            </a:r>
            <a:r>
              <a:rPr lang="fr-FR" sz="1200" b="0" i="1" u="none" strike="noStrike" kern="1200" baseline="0" dirty="0">
                <a:solidFill>
                  <a:schemeClr val="tx1"/>
                </a:solidFill>
                <a:latin typeface="+mn-lt"/>
                <a:ea typeface="+mn-ea"/>
                <a:cs typeface="+mn-cs"/>
              </a:rPr>
              <a:t> </a:t>
            </a:r>
            <a:r>
              <a:rPr lang="fr-FR" sz="1200" b="0" i="1" u="none" strike="noStrike" kern="1200" baseline="0" dirty="0" err="1">
                <a:solidFill>
                  <a:schemeClr val="tx1"/>
                </a:solidFill>
                <a:latin typeface="+mn-lt"/>
                <a:ea typeface="+mn-ea"/>
                <a:cs typeface="+mn-cs"/>
              </a:rPr>
              <a:t>functions</a:t>
            </a:r>
            <a:r>
              <a:rPr lang="fr-FR" sz="1200" b="0" i="1" u="none" strike="noStrike" kern="1200" baseline="0" dirty="0">
                <a:solidFill>
                  <a:schemeClr val="tx1"/>
                </a:solidFill>
                <a:latin typeface="+mn-lt"/>
                <a:ea typeface="+mn-ea"/>
                <a:cs typeface="+mn-cs"/>
              </a:rPr>
              <a:t> or </a:t>
            </a:r>
            <a:r>
              <a:rPr lang="fr-FR" sz="1200" b="0" i="1" u="none" strike="noStrike" kern="1200" baseline="0" dirty="0" err="1">
                <a:solidFill>
                  <a:schemeClr val="tx1"/>
                </a:solidFill>
                <a:latin typeface="+mn-lt"/>
                <a:ea typeface="+mn-ea"/>
                <a:cs typeface="+mn-cs"/>
              </a:rPr>
              <a:t>processes</a:t>
            </a:r>
            <a:r>
              <a:rPr lang="fr-FR" sz="1200" b="0" i="1"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These goals correspond more or less to the final goals written here, which are not always easy to </a:t>
            </a:r>
            <a:r>
              <a:rPr lang="en-US" sz="1200" b="0" i="0" u="none" strike="noStrike" kern="1200" baseline="0" dirty="0" err="1">
                <a:solidFill>
                  <a:schemeClr val="tx1"/>
                </a:solidFill>
                <a:latin typeface="+mn-lt"/>
                <a:ea typeface="+mn-ea"/>
                <a:cs typeface="+mn-cs"/>
              </a:rPr>
              <a:t>disantangle</a:t>
            </a:r>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In many translocations, these goals coincide with the initial motivations that led to the translocation project.</a:t>
            </a:r>
            <a:endParaRPr lang="fr-FR" sz="12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9</a:t>
            </a:fld>
            <a:endParaRPr lang="fr-FR"/>
          </a:p>
        </p:txBody>
      </p:sp>
    </p:spTree>
    <p:extLst>
      <p:ext uri="{BB962C8B-B14F-4D97-AF65-F5344CB8AC3E}">
        <p14:creationId xmlns:p14="http://schemas.microsoft.com/office/powerpoint/2010/main" val="419721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But </a:t>
            </a:r>
            <a:r>
              <a:rPr lang="fr-FR" dirty="0" err="1"/>
              <a:t>sometimes</a:t>
            </a:r>
            <a:r>
              <a:rPr lang="fr-FR" dirty="0"/>
              <a:t>, </a:t>
            </a:r>
            <a:r>
              <a:rPr lang="fr-FR" dirty="0" err="1"/>
              <a:t>there</a:t>
            </a:r>
            <a:r>
              <a:rPr lang="fr-FR" dirty="0"/>
              <a:t> are mitigation translocations </a:t>
            </a:r>
            <a:r>
              <a:rPr lang="fr-FR" dirty="0" err="1"/>
              <a:t>that</a:t>
            </a:r>
            <a:r>
              <a:rPr lang="fr-FR" dirty="0"/>
              <a:t> have </a:t>
            </a:r>
            <a:r>
              <a:rPr lang="fr-FR" dirty="0" err="1"/>
              <a:t>similar</a:t>
            </a:r>
            <a:r>
              <a:rPr lang="fr-FR" dirty="0"/>
              <a:t> goals,</a:t>
            </a:r>
            <a:r>
              <a:rPr lang="fr-FR" baseline="0" dirty="0"/>
              <a:t> </a:t>
            </a:r>
            <a:r>
              <a:rPr lang="fr-FR" baseline="0" dirty="0" err="1"/>
              <a:t>even</a:t>
            </a:r>
            <a:r>
              <a:rPr lang="fr-FR" baseline="0" dirty="0"/>
              <a:t> </a:t>
            </a:r>
            <a:r>
              <a:rPr lang="fr-FR" baseline="0" dirty="0" err="1"/>
              <a:t>though</a:t>
            </a:r>
            <a:r>
              <a:rPr lang="fr-FR" baseline="0" dirty="0"/>
              <a:t> the translocation </a:t>
            </a:r>
            <a:r>
              <a:rPr lang="fr-FR" baseline="0" dirty="0" err="1"/>
              <a:t>project</a:t>
            </a:r>
            <a:r>
              <a:rPr lang="fr-FR" baseline="0" dirty="0"/>
              <a:t> has </a:t>
            </a:r>
            <a:r>
              <a:rPr lang="en-US" dirty="0"/>
              <a:t>its origins in the application of legal or regulatory obligations (in particular as a measure to compensate for or accompany development work).</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10</a:t>
            </a:fld>
            <a:endParaRPr lang="fr-FR"/>
          </a:p>
        </p:txBody>
      </p:sp>
    </p:spTree>
    <p:extLst>
      <p:ext uri="{BB962C8B-B14F-4D97-AF65-F5344CB8AC3E}">
        <p14:creationId xmlns:p14="http://schemas.microsoft.com/office/powerpoint/2010/main" val="829089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achieve these goals, it is generally necessary to go through an intermediate objective, which is the viability of the translocated population.</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11</a:t>
            </a:fld>
            <a:endParaRPr lang="fr-FR"/>
          </a:p>
        </p:txBody>
      </p:sp>
    </p:spTree>
    <p:extLst>
      <p:ext uri="{BB962C8B-B14F-4D97-AF65-F5344CB8AC3E}">
        <p14:creationId xmlns:p14="http://schemas.microsoft.com/office/powerpoint/2010/main" val="3124916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fr-FR" dirty="0" err="1"/>
              <a:t>Transloc</a:t>
            </a:r>
            <a:r>
              <a:rPr lang="fr-FR" baseline="0" dirty="0"/>
              <a:t> </a:t>
            </a:r>
            <a:r>
              <a:rPr lang="fr-FR" baseline="0" dirty="0" err="1"/>
              <a:t>database</a:t>
            </a:r>
            <a:r>
              <a:rPr lang="fr-FR" baseline="0" dirty="0"/>
              <a:t> </a:t>
            </a:r>
            <a:r>
              <a:rPr lang="fr-FR" baseline="0" dirty="0" err="1"/>
              <a:t>includes</a:t>
            </a:r>
            <a:r>
              <a:rPr lang="fr-FR" baseline="0" dirty="0"/>
              <a:t> translocations of </a:t>
            </a:r>
            <a:r>
              <a:rPr lang="fr-FR" baseline="0" dirty="0" err="1"/>
              <a:t>wild</a:t>
            </a:r>
            <a:r>
              <a:rPr lang="fr-FR" baseline="0" dirty="0"/>
              <a:t> </a:t>
            </a:r>
            <a:r>
              <a:rPr lang="fr-FR" baseline="0" dirty="0" err="1"/>
              <a:t>species</a:t>
            </a:r>
            <a:r>
              <a:rPr lang="fr-FR" baseline="0" dirty="0"/>
              <a:t> </a:t>
            </a:r>
            <a:r>
              <a:rPr lang="fr-FR" baseline="0" dirty="0" err="1"/>
              <a:t>which</a:t>
            </a:r>
            <a:r>
              <a:rPr lang="fr-FR" baseline="0" dirty="0"/>
              <a:t> have a population </a:t>
            </a:r>
            <a:r>
              <a:rPr lang="fr-FR" baseline="0" dirty="0" err="1"/>
              <a:t>viability</a:t>
            </a:r>
            <a:r>
              <a:rPr lang="fr-FR" baseline="0" dirty="0"/>
              <a:t> objective, </a:t>
            </a:r>
            <a:r>
              <a:rPr lang="fr-FR" baseline="0" dirty="0" err="1"/>
              <a:t>whatever</a:t>
            </a:r>
            <a:r>
              <a:rPr lang="fr-FR" baseline="0" dirty="0"/>
              <a:t> the initial motivation and the final goals.</a:t>
            </a:r>
          </a:p>
          <a:p>
            <a:r>
              <a:rPr lang="fr-FR" baseline="0" dirty="0"/>
              <a:t>This </a:t>
            </a:r>
            <a:r>
              <a:rPr lang="fr-FR" baseline="0" dirty="0" err="1"/>
              <a:t>includes</a:t>
            </a:r>
            <a:r>
              <a:rPr lang="fr-FR" baseline="0" dirty="0"/>
              <a:t> conservation-</a:t>
            </a:r>
            <a:r>
              <a:rPr lang="fr-FR" baseline="0" dirty="0" err="1"/>
              <a:t>driven</a:t>
            </a:r>
            <a:r>
              <a:rPr lang="fr-FR" baseline="0" dirty="0"/>
              <a:t> translocations and certain mitigation-</a:t>
            </a:r>
            <a:r>
              <a:rPr lang="fr-FR" baseline="0" dirty="0" err="1"/>
              <a:t>driven</a:t>
            </a:r>
            <a:r>
              <a:rPr lang="fr-FR" baseline="0" dirty="0"/>
              <a:t> translocations, the one </a:t>
            </a:r>
            <a:r>
              <a:rPr lang="fr-FR" baseline="0" dirty="0" err="1"/>
              <a:t>where</a:t>
            </a:r>
            <a:r>
              <a:rPr lang="fr-FR" baseline="0" dirty="0"/>
              <a:t> </a:t>
            </a:r>
            <a:r>
              <a:rPr lang="fr-FR" baseline="0" dirty="0" err="1"/>
              <a:t>ther</a:t>
            </a:r>
            <a:r>
              <a:rPr lang="fr-FR" baseline="0" dirty="0"/>
              <a:t> </a:t>
            </a:r>
            <a:r>
              <a:rPr lang="fr-FR" baseline="0" dirty="0" err="1"/>
              <a:t>is</a:t>
            </a:r>
            <a:r>
              <a:rPr lang="fr-FR" baseline="0" dirty="0"/>
              <a:t> a </a:t>
            </a:r>
            <a:r>
              <a:rPr lang="fr-FR" baseline="0" dirty="0" err="1"/>
              <a:t>clear</a:t>
            </a:r>
            <a:r>
              <a:rPr lang="fr-FR" baseline="0" dirty="0"/>
              <a:t> conservation objective at the population or </a:t>
            </a:r>
            <a:r>
              <a:rPr lang="fr-FR" baseline="0" dirty="0" err="1"/>
              <a:t>community</a:t>
            </a:r>
            <a:r>
              <a:rPr lang="fr-FR" baseline="0" dirty="0"/>
              <a:t> </a:t>
            </a:r>
            <a:r>
              <a:rPr lang="fr-FR" baseline="0" dirty="0" err="1"/>
              <a:t>levels</a:t>
            </a:r>
            <a:r>
              <a:rPr lang="fr-FR" baseline="0" dirty="0"/>
              <a:t>.</a:t>
            </a:r>
          </a:p>
          <a:p>
            <a:r>
              <a:rPr lang="fr-FR" baseline="0" dirty="0"/>
              <a:t>And </a:t>
            </a:r>
            <a:r>
              <a:rPr lang="fr-FR" baseline="0" dirty="0" err="1"/>
              <a:t>this</a:t>
            </a:r>
            <a:r>
              <a:rPr lang="fr-FR" baseline="0" dirty="0"/>
              <a:t> </a:t>
            </a:r>
            <a:r>
              <a:rPr lang="fr-FR" baseline="0" dirty="0" err="1"/>
              <a:t>includes</a:t>
            </a:r>
            <a:r>
              <a:rPr lang="fr-FR" baseline="0" dirty="0"/>
              <a:t> </a:t>
            </a:r>
            <a:r>
              <a:rPr lang="fr-FR" baseline="0" dirty="0" err="1"/>
              <a:t>species-centred</a:t>
            </a:r>
            <a:r>
              <a:rPr lang="fr-FR" baseline="0" dirty="0"/>
              <a:t> and certain </a:t>
            </a:r>
            <a:r>
              <a:rPr lang="fr-FR" baseline="0" dirty="0" err="1"/>
              <a:t>community-centred</a:t>
            </a:r>
            <a:r>
              <a:rPr lang="fr-FR" baseline="0" dirty="0"/>
              <a:t> translocations.</a:t>
            </a:r>
          </a:p>
          <a:p>
            <a:endParaRPr lang="fr-FR" baseline="0" dirty="0"/>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12</a:t>
            </a:fld>
            <a:endParaRPr lang="fr-FR"/>
          </a:p>
        </p:txBody>
      </p:sp>
    </p:spTree>
    <p:extLst>
      <p:ext uri="{BB962C8B-B14F-4D97-AF65-F5344CB8AC3E}">
        <p14:creationId xmlns:p14="http://schemas.microsoft.com/office/powerpoint/2010/main" val="2850583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err="1"/>
              <a:t>What</a:t>
            </a:r>
            <a:r>
              <a:rPr lang="fr-FR" b="0" dirty="0"/>
              <a:t> </a:t>
            </a:r>
            <a:r>
              <a:rPr lang="fr-FR" b="0" dirty="0" err="1"/>
              <a:t>is</a:t>
            </a:r>
            <a:r>
              <a:rPr lang="fr-FR" b="0" dirty="0"/>
              <a:t> the content of the </a:t>
            </a:r>
            <a:r>
              <a:rPr lang="fr-FR" b="0" dirty="0" err="1"/>
              <a:t>database</a:t>
            </a:r>
            <a:r>
              <a:rPr lang="fr-FR" b="0"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13</a:t>
            </a:fld>
            <a:endParaRPr lang="fr-FR"/>
          </a:p>
        </p:txBody>
      </p:sp>
    </p:spTree>
    <p:extLst>
      <p:ext uri="{BB962C8B-B14F-4D97-AF65-F5344CB8AC3E}">
        <p14:creationId xmlns:p14="http://schemas.microsoft.com/office/powerpoint/2010/main" val="2275311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GB" sz="1800" i="1" dirty="0">
                <a:effectLst/>
                <a:latin typeface="Calibri" panose="020F0502020204030204" pitchFamily="34" charset="0"/>
                <a:ea typeface="Calibri" panose="020F0502020204030204" pitchFamily="34" charset="0"/>
                <a:cs typeface="Times New Roman" panose="02020603050405020304" pitchFamily="18" charset="0"/>
              </a:rPr>
              <a:t>[Read the slide]</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14</a:t>
            </a:fld>
            <a:endParaRPr lang="fr-FR"/>
          </a:p>
        </p:txBody>
      </p:sp>
    </p:spTree>
    <p:extLst>
      <p:ext uri="{BB962C8B-B14F-4D97-AF65-F5344CB8AC3E}">
        <p14:creationId xmlns:p14="http://schemas.microsoft.com/office/powerpoint/2010/main" val="28235747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GB" sz="1800" i="1" dirty="0">
                <a:effectLst/>
                <a:latin typeface="Calibri" panose="020F0502020204030204" pitchFamily="34" charset="0"/>
                <a:ea typeface="Calibri" panose="020F0502020204030204" pitchFamily="34" charset="0"/>
                <a:cs typeface="Times New Roman" panose="02020603050405020304" pitchFamily="18" charset="0"/>
              </a:rPr>
              <a:t>[Read the slide]</a:t>
            </a:r>
          </a:p>
          <a:p>
            <a:r>
              <a:rPr lang="en-US" dirty="0"/>
              <a:t>This is probably fairly trivial. What is perhaps less so, because it is not perhaps shared by all databases, </a:t>
            </a:r>
            <a:r>
              <a:rPr lang="en-US" b="1" dirty="0"/>
              <a:t>is that </a:t>
            </a:r>
            <a:r>
              <a:rPr lang="en-US" sz="1200" b="1" dirty="0"/>
              <a:t>a project or program can appear in several entries if it concerns several species or several host sites.</a:t>
            </a:r>
            <a:endParaRPr lang="fr-FR" b="1"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15</a:t>
            </a:fld>
            <a:endParaRPr lang="fr-FR"/>
          </a:p>
        </p:txBody>
      </p:sp>
    </p:spTree>
    <p:extLst>
      <p:ext uri="{BB962C8B-B14F-4D97-AF65-F5344CB8AC3E}">
        <p14:creationId xmlns:p14="http://schemas.microsoft.com/office/powerpoint/2010/main" val="981580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a:spcBef>
                <a:spcPts val="600"/>
              </a:spcBef>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database, there are other important tables connected to the population table. For example…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pPr>
            <a:r>
              <a:rPr lang="en-GB" sz="1800" i="1" dirty="0">
                <a:effectLst/>
                <a:latin typeface="Calibri" panose="020F0502020204030204" pitchFamily="34" charset="0"/>
                <a:ea typeface="Calibri" panose="020F0502020204030204" pitchFamily="34" charset="0"/>
                <a:cs typeface="Times New Roman" panose="02020603050405020304" pitchFamily="18" charset="0"/>
              </a:rPr>
              <a:t>[Read the slide]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RST table shows the number of individuals translocated. There are three tables of demographic results: ‘Population dynamics’ simply corresponds to post-translocation population sizes. The other two tables correspond to demographic analysis results, which François, JB or Juliette will discuss in WP4.</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other tables accessible to admins only (for example the table of users) and many intermediate tables that you can access only if you go into the code of the database, for example the tables listing the options available in the drop-down lists.</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16</a:t>
            </a:fld>
            <a:endParaRPr lang="fr-FR"/>
          </a:p>
        </p:txBody>
      </p:sp>
    </p:spTree>
    <p:extLst>
      <p:ext uri="{BB962C8B-B14F-4D97-AF65-F5344CB8AC3E}">
        <p14:creationId xmlns:p14="http://schemas.microsoft.com/office/powerpoint/2010/main" val="3906091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US" dirty="0"/>
              <a:t>Let’s go to the content in terms of data. I won't go into detail about the fields included in the database. We can discuss them in the discussion if you wish. There are 160 fields, which we found it convenient to classify into the 12 tabs or frames on the website and which are shown on this slide.</a:t>
            </a:r>
          </a:p>
          <a:p>
            <a:r>
              <a:rPr lang="en-US" i="1" dirty="0"/>
              <a:t>[Read the tabs]</a:t>
            </a:r>
            <a:endParaRPr lang="fr-FR" i="1"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17</a:t>
            </a:fld>
            <a:endParaRPr lang="fr-FR"/>
          </a:p>
        </p:txBody>
      </p:sp>
    </p:spTree>
    <p:extLst>
      <p:ext uri="{BB962C8B-B14F-4D97-AF65-F5344CB8AC3E}">
        <p14:creationId xmlns:p14="http://schemas.microsoft.com/office/powerpoint/2010/main" val="4135329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US" dirty="0"/>
              <a:t>For some fields, there is a choice to be made from a drop-down list in the database; for others, it may be numerical data, a date, or free text; and some fields are linked to external databases such as </a:t>
            </a:r>
            <a:r>
              <a:rPr lang="en-US" dirty="0" err="1"/>
              <a:t>GeoNames</a:t>
            </a:r>
            <a:r>
              <a:rPr lang="en-US" dirty="0"/>
              <a:t> for state names.</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18</a:t>
            </a:fld>
            <a:endParaRPr lang="fr-FR"/>
          </a:p>
        </p:txBody>
      </p:sp>
    </p:spTree>
    <p:extLst>
      <p:ext uri="{BB962C8B-B14F-4D97-AF65-F5344CB8AC3E}">
        <p14:creationId xmlns:p14="http://schemas.microsoft.com/office/powerpoint/2010/main" val="4263544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US" dirty="0"/>
              <a:t>Today are included in the DB data on 1700 populations. These data are by no means a random sample of translocations in Europe and around the Mediterranean. They are mainly representative of the efforts made to collect data from various sources of information.</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19</a:t>
            </a:fld>
            <a:endParaRPr lang="fr-FR"/>
          </a:p>
        </p:txBody>
      </p:sp>
    </p:spTree>
    <p:extLst>
      <p:ext uri="{BB962C8B-B14F-4D97-AF65-F5344CB8AC3E}">
        <p14:creationId xmlns:p14="http://schemas.microsoft.com/office/powerpoint/2010/main" val="3795772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Now, let’s pass to the biggest part of the presentation: the functioning of the DB.</a:t>
            </a:r>
            <a:endParaRPr lang="fr-FR"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20</a:t>
            </a:fld>
            <a:endParaRPr lang="fr-FR"/>
          </a:p>
        </p:txBody>
      </p:sp>
    </p:spTree>
    <p:extLst>
      <p:ext uri="{BB962C8B-B14F-4D97-AF65-F5344CB8AC3E}">
        <p14:creationId xmlns:p14="http://schemas.microsoft.com/office/powerpoint/2010/main" val="3005473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r>
              <a:rPr lang="fr-FR" dirty="0"/>
              <a:t>Just </a:t>
            </a:r>
            <a:r>
              <a:rPr lang="fr-FR" dirty="0" err="1"/>
              <a:t>say</a:t>
            </a:r>
            <a:r>
              <a:rPr lang="fr-FR" dirty="0"/>
              <a:t> </a:t>
            </a:r>
            <a:r>
              <a:rPr lang="fr-FR" dirty="0" err="1"/>
              <a:t>that</a:t>
            </a:r>
            <a:r>
              <a:rPr lang="fr-FR" dirty="0"/>
              <a:t> </a:t>
            </a:r>
            <a:r>
              <a:rPr lang="fr-FR" dirty="0" err="1"/>
              <a:t>there</a:t>
            </a:r>
            <a:r>
              <a:rPr lang="fr-FR" dirty="0"/>
              <a:t> are 3 </a:t>
            </a:r>
            <a:r>
              <a:rPr lang="fr-FR" dirty="0" err="1"/>
              <a:t>levels</a:t>
            </a:r>
            <a:r>
              <a:rPr lang="fr-FR" dirty="0"/>
              <a:t> of </a:t>
            </a:r>
            <a:r>
              <a:rPr lang="fr-FR" dirty="0" err="1"/>
              <a:t>access</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21</a:t>
            </a:fld>
            <a:endParaRPr lang="fr-FR"/>
          </a:p>
        </p:txBody>
      </p:sp>
    </p:spTree>
    <p:extLst>
      <p:ext uri="{BB962C8B-B14F-4D97-AF65-F5344CB8AC3E}">
        <p14:creationId xmlns:p14="http://schemas.microsoft.com/office/powerpoint/2010/main" val="1821260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r>
              <a:rPr lang="fr-FR" dirty="0" err="1"/>
              <a:t>Visitors</a:t>
            </a:r>
            <a:r>
              <a:rPr lang="fr-FR" dirty="0"/>
              <a:t>: can </a:t>
            </a:r>
            <a:r>
              <a:rPr lang="fr-FR" dirty="0" err="1"/>
              <a:t>see</a:t>
            </a:r>
            <a:r>
              <a:rPr lang="fr-FR" dirty="0"/>
              <a:t> basic data on </a:t>
            </a:r>
            <a:r>
              <a:rPr lang="fr-FR" dirty="0" err="1"/>
              <a:t>maps</a:t>
            </a:r>
            <a:r>
              <a:rPr lang="fr-FR" dirty="0"/>
              <a:t> and tables and </a:t>
            </a:r>
            <a:r>
              <a:rPr lang="fr-FR" dirty="0" err="1"/>
              <a:t>that’s</a:t>
            </a:r>
            <a:r>
              <a:rPr lang="fr-FR" dirty="0"/>
              <a:t> </a:t>
            </a:r>
            <a:r>
              <a:rPr lang="fr-FR" dirty="0" err="1"/>
              <a:t>it</a:t>
            </a:r>
            <a:endParaRPr lang="fr-FR" dirty="0"/>
          </a:p>
          <a:p>
            <a:r>
              <a:rPr lang="fr-FR" dirty="0" err="1"/>
              <a:t>Users</a:t>
            </a:r>
            <a:r>
              <a:rPr lang="fr-FR" dirty="0"/>
              <a:t> can </a:t>
            </a:r>
            <a:r>
              <a:rPr lang="fr-FR" dirty="0" err="1"/>
              <a:t>contribute</a:t>
            </a:r>
            <a:r>
              <a:rPr lang="fr-FR" dirty="0"/>
              <a:t>, </a:t>
            </a:r>
            <a:r>
              <a:rPr lang="fr-FR" dirty="0" err="1"/>
              <a:t>see</a:t>
            </a:r>
            <a:r>
              <a:rPr lang="fr-FR" dirty="0"/>
              <a:t> </a:t>
            </a:r>
            <a:r>
              <a:rPr lang="fr-FR" dirty="0" err="1"/>
              <a:t>most</a:t>
            </a:r>
            <a:r>
              <a:rPr lang="fr-FR" dirty="0"/>
              <a:t> of the data and download </a:t>
            </a:r>
            <a:r>
              <a:rPr lang="fr-FR" dirty="0" err="1"/>
              <a:t>them</a:t>
            </a:r>
            <a:r>
              <a:rPr lang="fr-FR" dirty="0"/>
              <a:t> </a:t>
            </a:r>
            <a:r>
              <a:rPr lang="fr-FR" b="1" dirty="0" err="1"/>
              <a:t>with</a:t>
            </a:r>
            <a:r>
              <a:rPr lang="fr-FR" b="1" dirty="0"/>
              <a:t> </a:t>
            </a:r>
            <a:r>
              <a:rPr lang="fr-FR" b="1" dirty="0" err="1"/>
              <a:t>some</a:t>
            </a:r>
            <a:r>
              <a:rPr lang="fr-FR" b="1" dirty="0"/>
              <a:t> restrictions</a:t>
            </a:r>
            <a:r>
              <a:rPr lang="en-US" b="1" dirty="0"/>
              <a:t>, which will be discussed later</a:t>
            </a:r>
          </a:p>
          <a:p>
            <a:r>
              <a:rPr lang="en-US" b="1" dirty="0"/>
              <a:t>To become a user, you </a:t>
            </a:r>
            <a:r>
              <a:rPr lang="en-US" b="1" dirty="0" err="1"/>
              <a:t>juste</a:t>
            </a:r>
            <a:r>
              <a:rPr lang="en-US" b="1" dirty="0"/>
              <a:t> need to fill in a simple form on the website, and wait for the validation of your account by an admin.</a:t>
            </a:r>
          </a:p>
          <a:p>
            <a:r>
              <a:rPr lang="en-US" b="0" dirty="0"/>
              <a:t>Admins validate user accounts and also the data entered by users.</a:t>
            </a:r>
          </a:p>
          <a:p>
            <a:endParaRPr lang="fr-FR" b="0" dirty="0"/>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22</a:t>
            </a:fld>
            <a:endParaRPr lang="fr-FR"/>
          </a:p>
        </p:txBody>
      </p:sp>
    </p:spTree>
    <p:extLst>
      <p:ext uri="{BB962C8B-B14F-4D97-AF65-F5344CB8AC3E}">
        <p14:creationId xmlns:p14="http://schemas.microsoft.com/office/powerpoint/2010/main" val="4177058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23</a:t>
            </a:fld>
            <a:endParaRPr lang="fr-FR"/>
          </a:p>
        </p:txBody>
      </p:sp>
    </p:spTree>
    <p:extLst>
      <p:ext uri="{BB962C8B-B14F-4D97-AF65-F5344CB8AC3E}">
        <p14:creationId xmlns:p14="http://schemas.microsoft.com/office/powerpoint/2010/main" val="1805134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24</a:t>
            </a:fld>
            <a:endParaRPr lang="fr-FR"/>
          </a:p>
        </p:txBody>
      </p:sp>
    </p:spTree>
    <p:extLst>
      <p:ext uri="{BB962C8B-B14F-4D97-AF65-F5344CB8AC3E}">
        <p14:creationId xmlns:p14="http://schemas.microsoft.com/office/powerpoint/2010/main" val="746261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a:t>
            </a:r>
            <a:r>
              <a:rPr lang="fr-FR" b="1" dirty="0">
                <a:solidFill>
                  <a:srgbClr val="FF0000"/>
                </a:solidFill>
              </a:rPr>
              <a:t>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Show the </a:t>
            </a:r>
            <a:r>
              <a:rPr lang="fr-FR" dirty="0" err="1"/>
              <a:t>map</a:t>
            </a:r>
            <a:r>
              <a:rPr lang="fr-FR" dirty="0"/>
              <a:t>, zoom in, zoom out, change the </a:t>
            </a:r>
            <a:r>
              <a:rPr lang="fr-FR" dirty="0" err="1"/>
              <a:t>landscape</a:t>
            </a:r>
            <a:r>
              <a:rPr lang="fr-FR" dirty="0"/>
              <a:t>, </a:t>
            </a:r>
            <a:r>
              <a:rPr lang="fr-FR" dirty="0" err="1"/>
              <a:t>see</a:t>
            </a:r>
            <a:r>
              <a:rPr lang="fr-FR" dirty="0"/>
              <a:t> </a:t>
            </a:r>
            <a:r>
              <a:rPr lang="fr-FR" dirty="0" err="1"/>
              <a:t>species</a:t>
            </a:r>
            <a:r>
              <a:rPr lang="fr-FR" dirty="0"/>
              <a:t> and </a:t>
            </a:r>
            <a:r>
              <a:rPr lang="fr-FR" dirty="0" err="1"/>
              <a:t>years</a:t>
            </a:r>
            <a:r>
              <a:rPr lang="fr-FR" dirty="0"/>
              <a:t> on the dots</a:t>
            </a:r>
          </a:p>
          <a:p>
            <a:r>
              <a:rPr lang="fr-FR" dirty="0" err="1"/>
              <a:t>These</a:t>
            </a:r>
            <a:r>
              <a:rPr lang="fr-FR" dirty="0"/>
              <a:t> are </a:t>
            </a:r>
            <a:r>
              <a:rPr lang="fr-FR" dirty="0" err="1"/>
              <a:t>approximate</a:t>
            </a:r>
            <a:r>
              <a:rPr lang="fr-FR" dirty="0"/>
              <a:t> locations (</a:t>
            </a:r>
            <a:r>
              <a:rPr lang="fr-FR" dirty="0" err="1"/>
              <a:t>generally</a:t>
            </a:r>
            <a:r>
              <a:rPr lang="fr-FR" dirty="0"/>
              <a:t> at the </a:t>
            </a:r>
            <a:r>
              <a:rPr lang="fr-FR" dirty="0" err="1"/>
              <a:t>municipality</a:t>
            </a:r>
            <a:r>
              <a:rPr lang="fr-FR" dirty="0"/>
              <a:t> </a:t>
            </a:r>
            <a:r>
              <a:rPr lang="fr-FR" dirty="0" err="1"/>
              <a:t>level</a:t>
            </a:r>
            <a:r>
              <a:rPr lang="fr-FR"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25</a:t>
            </a:fld>
            <a:endParaRPr lang="fr-FR"/>
          </a:p>
        </p:txBody>
      </p:sp>
    </p:spTree>
    <p:extLst>
      <p:ext uri="{BB962C8B-B14F-4D97-AF65-F5344CB8AC3E}">
        <p14:creationId xmlns:p14="http://schemas.microsoft.com/office/powerpoint/2010/main" val="3884173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3 main menus: DATA, RESOURCES and ABOUT, and a short </a:t>
            </a:r>
            <a:r>
              <a:rPr lang="fr-FR" sz="1200" dirty="0" err="1"/>
              <a:t>cut</a:t>
            </a:r>
            <a:r>
              <a:rPr lang="fr-FR" sz="1200" dirty="0"/>
              <a:t> to </a:t>
            </a:r>
            <a:r>
              <a:rPr lang="fr-FR" sz="1200" dirty="0" err="1"/>
              <a:t>step</a:t>
            </a:r>
            <a:r>
              <a:rPr lang="fr-FR" sz="1200" dirty="0"/>
              <a:t>-by-</a:t>
            </a:r>
            <a:r>
              <a:rPr lang="fr-FR" sz="1200" dirty="0" err="1"/>
              <a:t>step</a:t>
            </a:r>
            <a:r>
              <a:rPr lang="fr-FR" sz="1200" dirty="0"/>
              <a:t>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t>We</a:t>
            </a:r>
            <a:r>
              <a:rPr lang="fr-FR" sz="1200" dirty="0"/>
              <a:t> </a:t>
            </a:r>
            <a:r>
              <a:rPr lang="fr-FR" sz="1200" dirty="0" err="1"/>
              <a:t>will</a:t>
            </a:r>
            <a:r>
              <a:rPr lang="fr-FR" sz="1200" dirty="0"/>
              <a:t> </a:t>
            </a:r>
            <a:r>
              <a:rPr lang="fr-FR" sz="1200" dirty="0" err="1"/>
              <a:t>forget</a:t>
            </a:r>
            <a:r>
              <a:rPr lang="fr-FR" sz="1200" dirty="0"/>
              <a:t> about the ABOUT menu </a:t>
            </a:r>
            <a:r>
              <a:rPr lang="fr-FR" sz="1200" dirty="0" err="1"/>
              <a:t>today</a:t>
            </a:r>
            <a:r>
              <a:rPr lang="fr-FR" sz="1200" dirty="0"/>
              <a:t> </a:t>
            </a:r>
            <a:r>
              <a:rPr lang="fr-FR" sz="1200" dirty="0" err="1"/>
              <a:t>because</a:t>
            </a:r>
            <a:r>
              <a:rPr lang="fr-FR" sz="1200" dirty="0"/>
              <a:t> </a:t>
            </a:r>
            <a:r>
              <a:rPr lang="fr-FR" sz="1200" dirty="0" err="1"/>
              <a:t>it</a:t>
            </a:r>
            <a:r>
              <a:rPr lang="fr-FR" sz="1200" dirty="0"/>
              <a:t> </a:t>
            </a:r>
            <a:r>
              <a:rPr lang="fr-FR" sz="1200" dirty="0" err="1"/>
              <a:t>is</a:t>
            </a:r>
            <a:r>
              <a:rPr lang="fr-FR" sz="1200" dirty="0"/>
              <a:t> not </a:t>
            </a:r>
            <a:r>
              <a:rPr lang="fr-FR" sz="1200" dirty="0" err="1"/>
              <a:t>yet</a:t>
            </a:r>
            <a:r>
              <a:rPr lang="fr-FR" sz="1200" dirty="0"/>
              <a:t> online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26</a:t>
            </a:fld>
            <a:endParaRPr lang="fr-FR"/>
          </a:p>
        </p:txBody>
      </p:sp>
    </p:spTree>
    <p:extLst>
      <p:ext uri="{BB962C8B-B14F-4D97-AF65-F5344CB8AC3E}">
        <p14:creationId xmlns:p14="http://schemas.microsoft.com/office/powerpoint/2010/main" val="2598022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err="1"/>
              <a:t>Let’s</a:t>
            </a:r>
            <a:r>
              <a:rPr lang="fr-FR" dirty="0"/>
              <a:t> </a:t>
            </a:r>
            <a:r>
              <a:rPr lang="fr-FR" dirty="0" err="1"/>
              <a:t>begin</a:t>
            </a:r>
            <a:r>
              <a:rPr lang="fr-FR" dirty="0"/>
              <a:t> by the </a:t>
            </a:r>
            <a:r>
              <a:rPr lang="fr-FR" dirty="0" err="1"/>
              <a:t>step</a:t>
            </a:r>
            <a:r>
              <a:rPr lang="fr-FR" dirty="0"/>
              <a:t>-by-</a:t>
            </a:r>
            <a:r>
              <a:rPr lang="fr-FR" dirty="0" err="1"/>
              <a:t>step</a:t>
            </a:r>
            <a:r>
              <a:rPr lang="fr-FR" dirty="0"/>
              <a:t> guide</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27</a:t>
            </a:fld>
            <a:endParaRPr lang="fr-FR"/>
          </a:p>
        </p:txBody>
      </p:sp>
    </p:spTree>
    <p:extLst>
      <p:ext uri="{BB962C8B-B14F-4D97-AF65-F5344CB8AC3E}">
        <p14:creationId xmlns:p14="http://schemas.microsoft.com/office/powerpoint/2010/main" val="1892965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There are </a:t>
            </a:r>
            <a:r>
              <a:rPr lang="fr-FR" dirty="0" err="1"/>
              <a:t>several</a:t>
            </a:r>
            <a:r>
              <a:rPr lang="fr-FR" dirty="0"/>
              <a:t> pages, </a:t>
            </a:r>
            <a:r>
              <a:rPr lang="fr-FR" dirty="0" err="1"/>
              <a:t>you</a:t>
            </a:r>
            <a:r>
              <a:rPr lang="fr-FR" dirty="0"/>
              <a:t> can download </a:t>
            </a:r>
            <a:r>
              <a:rPr lang="fr-FR" dirty="0" err="1"/>
              <a:t>it</a:t>
            </a:r>
            <a:r>
              <a:rPr lang="fr-FR" dirty="0"/>
              <a:t>. </a:t>
            </a:r>
            <a:r>
              <a:rPr lang="fr-FR" dirty="0" err="1"/>
              <a:t>It’s</a:t>
            </a:r>
            <a:r>
              <a:rPr lang="fr-FR" dirty="0"/>
              <a:t> </a:t>
            </a:r>
            <a:r>
              <a:rPr lang="fr-FR" dirty="0" err="1"/>
              <a:t>shown</a:t>
            </a:r>
            <a:r>
              <a:rPr lang="fr-FR" dirty="0"/>
              <a:t> how to use the </a:t>
            </a:r>
            <a:r>
              <a:rPr lang="fr-FR" dirty="0" err="1"/>
              <a:t>website</a:t>
            </a:r>
            <a:r>
              <a:rPr lang="fr-FR" dirty="0"/>
              <a:t> </a:t>
            </a:r>
            <a:r>
              <a:rPr lang="fr-FR" dirty="0" err="1"/>
              <a:t>when</a:t>
            </a:r>
            <a:r>
              <a:rPr lang="fr-FR" dirty="0"/>
              <a:t> </a:t>
            </a:r>
            <a:r>
              <a:rPr lang="fr-FR" dirty="0" err="1"/>
              <a:t>your</a:t>
            </a:r>
            <a:r>
              <a:rPr lang="fr-FR" dirty="0"/>
              <a:t> are a </a:t>
            </a:r>
            <a:r>
              <a:rPr lang="fr-FR" dirty="0" err="1"/>
              <a:t>beginner</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28</a:t>
            </a:fld>
            <a:endParaRPr lang="fr-FR"/>
          </a:p>
        </p:txBody>
      </p:sp>
    </p:spTree>
    <p:extLst>
      <p:ext uri="{BB962C8B-B14F-4D97-AF65-F5344CB8AC3E}">
        <p14:creationId xmlns:p14="http://schemas.microsoft.com/office/powerpoint/2010/main" val="2471906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 (or if </a:t>
            </a:r>
            <a:r>
              <a:rPr lang="fr-FR" b="1" dirty="0" err="1"/>
              <a:t>you</a:t>
            </a:r>
            <a:r>
              <a:rPr lang="fr-FR" b="1" dirty="0"/>
              <a:t> </a:t>
            </a:r>
            <a:r>
              <a:rPr lang="fr-FR" b="1" dirty="0" err="1"/>
              <a:t>prefer</a:t>
            </a:r>
            <a:r>
              <a:rPr lang="fr-FR" b="1" dirty="0"/>
              <a:t>, I can </a:t>
            </a:r>
            <a:r>
              <a:rPr lang="fr-FR" b="1" dirty="0" err="1"/>
              <a:t>explain</a:t>
            </a:r>
            <a:r>
              <a:rPr lang="fr-FR" b="1" dirty="0"/>
              <a:t> </a:t>
            </a:r>
            <a:r>
              <a:rPr lang="fr-FR" b="1" dirty="0" err="1"/>
              <a:t>this</a:t>
            </a:r>
            <a:r>
              <a:rPr lang="fr-FR" b="1" dirty="0"/>
              <a:t> one, </a:t>
            </a:r>
            <a:r>
              <a:rPr lang="fr-FR" b="1" dirty="0" err="1"/>
              <a:t>it’s</a:t>
            </a:r>
            <a:r>
              <a:rPr lang="fr-FR" b="1" dirty="0"/>
              <a:t> as </a:t>
            </a:r>
            <a:r>
              <a:rPr lang="fr-FR" b="1" dirty="0" err="1"/>
              <a:t>you</a:t>
            </a:r>
            <a:r>
              <a:rPr lang="fr-FR" b="1" dirty="0"/>
              <a:t> </a:t>
            </a:r>
            <a:r>
              <a:rPr lang="fr-FR" b="1" dirty="0" err="1"/>
              <a:t>want</a:t>
            </a:r>
            <a:r>
              <a:rPr lang="fr-FR"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For </a:t>
            </a:r>
            <a:r>
              <a:rPr lang="fr-FR" dirty="0" err="1"/>
              <a:t>example</a:t>
            </a:r>
            <a:r>
              <a:rPr lang="fr-FR" dirty="0"/>
              <a:t> </a:t>
            </a:r>
            <a:r>
              <a:rPr lang="fr-FR" dirty="0" err="1"/>
              <a:t>here</a:t>
            </a:r>
            <a:r>
              <a:rPr lang="fr-FR" dirty="0"/>
              <a:t> </a:t>
            </a:r>
            <a:r>
              <a:rPr lang="fr-FR" dirty="0" err="1"/>
              <a:t>it</a:t>
            </a:r>
            <a:r>
              <a:rPr lang="fr-FR" dirty="0"/>
              <a:t> </a:t>
            </a:r>
            <a:r>
              <a:rPr lang="fr-FR" dirty="0" err="1"/>
              <a:t>is</a:t>
            </a:r>
            <a:r>
              <a:rPr lang="fr-FR" dirty="0"/>
              <a:t> </a:t>
            </a:r>
            <a:r>
              <a:rPr lang="fr-FR" dirty="0" err="1"/>
              <a:t>explained</a:t>
            </a:r>
            <a:r>
              <a:rPr lang="fr-FR" dirty="0"/>
              <a:t> how to </a:t>
            </a:r>
            <a:r>
              <a:rPr lang="fr-FR" dirty="0" err="1"/>
              <a:t>contribute</a:t>
            </a:r>
            <a:r>
              <a:rPr lang="fr-FR" dirty="0"/>
              <a:t> to the </a:t>
            </a:r>
            <a:r>
              <a:rPr lang="fr-FR" dirty="0" err="1"/>
              <a:t>database</a:t>
            </a:r>
            <a:r>
              <a:rPr lang="fr-FR" dirty="0"/>
              <a:t> if </a:t>
            </a:r>
            <a:r>
              <a:rPr lang="fr-FR" dirty="0" err="1"/>
              <a:t>you</a:t>
            </a:r>
            <a:r>
              <a:rPr lang="fr-FR" dirty="0"/>
              <a:t> </a:t>
            </a:r>
            <a:r>
              <a:rPr lang="fr-FR" dirty="0" err="1"/>
              <a:t>want</a:t>
            </a:r>
            <a:r>
              <a:rPr lang="fr-FR" dirty="0"/>
              <a:t> to enter a </a:t>
            </a:r>
            <a:r>
              <a:rPr lang="fr-FR" dirty="0" err="1"/>
              <a:t>translocated</a:t>
            </a:r>
            <a:r>
              <a:rPr lang="fr-FR" dirty="0"/>
              <a:t> population: </a:t>
            </a:r>
            <a:r>
              <a:rPr lang="fr-FR" dirty="0" err="1"/>
              <a:t>you</a:t>
            </a:r>
            <a:r>
              <a:rPr lang="fr-FR" dirty="0"/>
              <a:t> first have to </a:t>
            </a:r>
            <a:r>
              <a:rPr lang="fr-FR" dirty="0" err="1"/>
              <a:t>verify</a:t>
            </a:r>
            <a:r>
              <a:rPr lang="fr-FR" dirty="0"/>
              <a:t> the GBIF </a:t>
            </a:r>
            <a:r>
              <a:rPr lang="fr-FR" dirty="0" err="1"/>
              <a:t>name</a:t>
            </a:r>
            <a:r>
              <a:rPr lang="fr-FR" dirty="0"/>
              <a:t> of </a:t>
            </a:r>
            <a:r>
              <a:rPr lang="fr-FR" dirty="0" err="1"/>
              <a:t>your</a:t>
            </a:r>
            <a:r>
              <a:rPr lang="fr-FR" dirty="0"/>
              <a:t> </a:t>
            </a:r>
            <a:r>
              <a:rPr lang="fr-FR" dirty="0" err="1"/>
              <a:t>species</a:t>
            </a:r>
            <a:r>
              <a:rPr lang="fr-FR" dirty="0"/>
              <a:t> (</a:t>
            </a:r>
            <a:r>
              <a:rPr lang="fr-FR" dirty="0" err="1"/>
              <a:t>because</a:t>
            </a:r>
            <a:r>
              <a:rPr lang="fr-FR" dirty="0"/>
              <a:t> </a:t>
            </a:r>
            <a:r>
              <a:rPr lang="fr-FR" dirty="0" err="1"/>
              <a:t>we</a:t>
            </a:r>
            <a:r>
              <a:rPr lang="fr-FR" dirty="0"/>
              <a:t> use GBIF </a:t>
            </a:r>
            <a:r>
              <a:rPr lang="fr-FR" dirty="0" err="1"/>
              <a:t>species</a:t>
            </a:r>
            <a:r>
              <a:rPr lang="fr-FR" dirty="0"/>
              <a:t> </a:t>
            </a:r>
            <a:r>
              <a:rPr lang="fr-FR" dirty="0" err="1"/>
              <a:t>names</a:t>
            </a:r>
            <a:r>
              <a:rPr lang="fr-FR" dirty="0"/>
              <a:t>), </a:t>
            </a:r>
            <a:r>
              <a:rPr lang="fr-FR" dirty="0" err="1"/>
              <a:t>then</a:t>
            </a:r>
            <a:r>
              <a:rPr lang="fr-FR" dirty="0"/>
              <a:t> </a:t>
            </a:r>
            <a:r>
              <a:rPr lang="fr-FR" dirty="0" err="1"/>
              <a:t>you</a:t>
            </a:r>
            <a:r>
              <a:rPr lang="fr-FR" dirty="0"/>
              <a:t> check if </a:t>
            </a:r>
            <a:r>
              <a:rPr lang="fr-FR" dirty="0" err="1"/>
              <a:t>your</a:t>
            </a:r>
            <a:r>
              <a:rPr lang="fr-FR" dirty="0"/>
              <a:t> pop </a:t>
            </a:r>
            <a:r>
              <a:rPr lang="fr-FR" dirty="0" err="1"/>
              <a:t>already</a:t>
            </a:r>
            <a:r>
              <a:rPr lang="fr-FR" dirty="0"/>
              <a:t> </a:t>
            </a:r>
            <a:r>
              <a:rPr lang="fr-FR" dirty="0" err="1"/>
              <a:t>exists</a:t>
            </a:r>
            <a:r>
              <a:rPr lang="fr-FR" dirty="0"/>
              <a:t> in the </a:t>
            </a:r>
            <a:r>
              <a:rPr lang="fr-FR" dirty="0" err="1"/>
              <a:t>database</a:t>
            </a:r>
            <a:r>
              <a:rPr lang="fr-FR" dirty="0"/>
              <a:t>. If </a:t>
            </a:r>
            <a:r>
              <a:rPr lang="fr-FR" dirty="0" err="1"/>
              <a:t>it</a:t>
            </a:r>
            <a:r>
              <a:rPr lang="fr-FR" dirty="0"/>
              <a:t> </a:t>
            </a:r>
            <a:r>
              <a:rPr lang="fr-FR" dirty="0" err="1"/>
              <a:t>is</a:t>
            </a:r>
            <a:r>
              <a:rPr lang="fr-FR" dirty="0"/>
              <a:t> yes, </a:t>
            </a:r>
            <a:r>
              <a:rPr lang="fr-FR" dirty="0" err="1"/>
              <a:t>you</a:t>
            </a:r>
            <a:r>
              <a:rPr lang="fr-FR" dirty="0"/>
              <a:t> can check the </a:t>
            </a:r>
            <a:r>
              <a:rPr lang="fr-FR" dirty="0" err="1"/>
              <a:t>available</a:t>
            </a:r>
            <a:r>
              <a:rPr lang="fr-FR" dirty="0"/>
              <a:t> data and </a:t>
            </a:r>
            <a:r>
              <a:rPr lang="fr-FR" dirty="0" err="1"/>
              <a:t>eventually</a:t>
            </a:r>
            <a:r>
              <a:rPr lang="fr-FR" dirty="0"/>
              <a:t> propose new data.</a:t>
            </a:r>
          </a:p>
          <a:p>
            <a:r>
              <a:rPr lang="fr-FR" dirty="0"/>
              <a:t>If </a:t>
            </a:r>
            <a:r>
              <a:rPr lang="fr-FR" dirty="0" err="1"/>
              <a:t>your</a:t>
            </a:r>
            <a:r>
              <a:rPr lang="fr-FR" dirty="0"/>
              <a:t> pop </a:t>
            </a:r>
            <a:r>
              <a:rPr lang="fr-FR" dirty="0" err="1"/>
              <a:t>is</a:t>
            </a:r>
            <a:r>
              <a:rPr lang="fr-FR" dirty="0"/>
              <a:t> not on the </a:t>
            </a:r>
            <a:r>
              <a:rPr lang="fr-FR" dirty="0" err="1"/>
              <a:t>database</a:t>
            </a:r>
            <a:r>
              <a:rPr lang="fr-FR" dirty="0"/>
              <a:t>, </a:t>
            </a:r>
            <a:r>
              <a:rPr lang="fr-FR" dirty="0" err="1"/>
              <a:t>you</a:t>
            </a:r>
            <a:r>
              <a:rPr lang="fr-FR" dirty="0"/>
              <a:t> can </a:t>
            </a:r>
            <a:r>
              <a:rPr lang="fr-FR" dirty="0" err="1"/>
              <a:t>create</a:t>
            </a:r>
            <a:r>
              <a:rPr lang="fr-FR" dirty="0"/>
              <a:t> </a:t>
            </a:r>
            <a:r>
              <a:rPr lang="fr-FR" dirty="0" err="1"/>
              <a:t>this</a:t>
            </a:r>
            <a:r>
              <a:rPr lang="fr-FR" dirty="0"/>
              <a:t> population, </a:t>
            </a:r>
            <a:r>
              <a:rPr lang="fr-FR" dirty="0" err="1"/>
              <a:t>eventually</a:t>
            </a:r>
            <a:r>
              <a:rPr lang="fr-FR" dirty="0"/>
              <a:t> </a:t>
            </a:r>
            <a:r>
              <a:rPr lang="fr-FR" dirty="0" err="1"/>
              <a:t>after</a:t>
            </a:r>
            <a:r>
              <a:rPr lang="fr-FR" dirty="0"/>
              <a:t> </a:t>
            </a:r>
            <a:r>
              <a:rPr lang="fr-FR" dirty="0" err="1"/>
              <a:t>creating</a:t>
            </a:r>
            <a:r>
              <a:rPr lang="fr-FR" dirty="0"/>
              <a:t> the </a:t>
            </a:r>
            <a:r>
              <a:rPr lang="fr-FR" dirty="0" err="1"/>
              <a:t>species</a:t>
            </a:r>
            <a:r>
              <a:rPr lang="fr-FR" dirty="0"/>
              <a:t> if </a:t>
            </a:r>
            <a:r>
              <a:rPr lang="fr-FR" dirty="0" err="1"/>
              <a:t>it</a:t>
            </a:r>
            <a:r>
              <a:rPr lang="fr-FR" dirty="0"/>
              <a:t> </a:t>
            </a:r>
            <a:r>
              <a:rPr lang="fr-FR" dirty="0" err="1"/>
              <a:t>is</a:t>
            </a:r>
            <a:r>
              <a:rPr lang="fr-FR" dirty="0"/>
              <a:t> the first population for </a:t>
            </a:r>
            <a:r>
              <a:rPr lang="fr-FR" dirty="0" err="1"/>
              <a:t>this</a:t>
            </a:r>
            <a:r>
              <a:rPr lang="fr-FR" dirty="0"/>
              <a:t> </a:t>
            </a:r>
            <a:r>
              <a:rPr lang="fr-FR" dirty="0" err="1"/>
              <a:t>particular</a:t>
            </a:r>
            <a:r>
              <a:rPr lang="fr-FR" dirty="0"/>
              <a:t> </a:t>
            </a:r>
            <a:r>
              <a:rPr lang="fr-FR" dirty="0" err="1"/>
              <a:t>species</a:t>
            </a:r>
            <a:r>
              <a:rPr lang="fr-FR"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29</a:t>
            </a:fld>
            <a:endParaRPr lang="fr-FR"/>
          </a:p>
        </p:txBody>
      </p:sp>
    </p:spTree>
    <p:extLst>
      <p:ext uri="{BB962C8B-B14F-4D97-AF65-F5344CB8AC3E}">
        <p14:creationId xmlns:p14="http://schemas.microsoft.com/office/powerpoint/2010/main" val="22197578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r>
              <a:rPr lang="fr-FR" dirty="0"/>
              <a:t>In </a:t>
            </a:r>
            <a:r>
              <a:rPr lang="fr-FR" dirty="0" err="1"/>
              <a:t>fact</a:t>
            </a:r>
            <a:r>
              <a:rPr lang="fr-FR" dirty="0"/>
              <a:t>, </a:t>
            </a:r>
            <a:r>
              <a:rPr lang="fr-FR" dirty="0" err="1"/>
              <a:t>there</a:t>
            </a:r>
            <a:r>
              <a:rPr lang="fr-FR" dirty="0"/>
              <a:t> are 2 </a:t>
            </a:r>
            <a:r>
              <a:rPr lang="fr-FR" dirty="0" err="1"/>
              <a:t>possibilites</a:t>
            </a:r>
            <a:r>
              <a:rPr lang="fr-FR" dirty="0"/>
              <a:t> to </a:t>
            </a:r>
            <a:r>
              <a:rPr lang="fr-FR" dirty="0" err="1"/>
              <a:t>contribute</a:t>
            </a:r>
            <a:r>
              <a:rPr lang="fr-FR" dirty="0"/>
              <a:t>:</a:t>
            </a:r>
          </a:p>
          <a:p>
            <a:r>
              <a:rPr lang="fr-FR" dirty="0"/>
              <a:t>- </a:t>
            </a:r>
            <a:r>
              <a:rPr lang="fr-FR" dirty="0" err="1"/>
              <a:t>either</a:t>
            </a:r>
            <a:r>
              <a:rPr lang="fr-FR" dirty="0"/>
              <a:t> </a:t>
            </a:r>
            <a:r>
              <a:rPr lang="fr-FR" dirty="0" err="1"/>
              <a:t>you</a:t>
            </a:r>
            <a:r>
              <a:rPr lang="fr-FR" dirty="0"/>
              <a:t> use the web </a:t>
            </a:r>
            <a:r>
              <a:rPr lang="fr-FR" dirty="0" err="1"/>
              <a:t>form</a:t>
            </a:r>
            <a:r>
              <a:rPr lang="fr-FR" dirty="0"/>
              <a:t> and enter </a:t>
            </a:r>
            <a:r>
              <a:rPr lang="fr-FR" dirty="0" err="1"/>
              <a:t>your</a:t>
            </a:r>
            <a:r>
              <a:rPr lang="fr-FR" dirty="0"/>
              <a:t> data in the </a:t>
            </a:r>
            <a:r>
              <a:rPr lang="fr-FR" dirty="0" err="1"/>
              <a:t>fields</a:t>
            </a:r>
            <a:r>
              <a:rPr lang="fr-FR" dirty="0"/>
              <a:t> online</a:t>
            </a:r>
          </a:p>
          <a:p>
            <a:r>
              <a:rPr lang="fr-FR" dirty="0"/>
              <a:t>- </a:t>
            </a:r>
            <a:r>
              <a:rPr lang="fr-FR" dirty="0" err="1"/>
              <a:t>either</a:t>
            </a:r>
            <a:r>
              <a:rPr lang="fr-FR" dirty="0"/>
              <a:t> </a:t>
            </a:r>
            <a:r>
              <a:rPr lang="fr-FR" dirty="0" err="1"/>
              <a:t>you</a:t>
            </a:r>
            <a:r>
              <a:rPr lang="fr-FR" dirty="0"/>
              <a:t> download Excel </a:t>
            </a:r>
            <a:r>
              <a:rPr lang="fr-FR" dirty="0" err="1"/>
              <a:t>template</a:t>
            </a:r>
            <a:r>
              <a:rPr lang="fr-FR" dirty="0"/>
              <a:t> files, </a:t>
            </a:r>
            <a:r>
              <a:rPr lang="fr-FR" dirty="0" err="1"/>
              <a:t>you</a:t>
            </a:r>
            <a:r>
              <a:rPr lang="fr-FR" dirty="0"/>
              <a:t> </a:t>
            </a:r>
            <a:r>
              <a:rPr lang="fr-FR" dirty="0" err="1"/>
              <a:t>fill</a:t>
            </a:r>
            <a:r>
              <a:rPr lang="fr-FR" dirty="0"/>
              <a:t> </a:t>
            </a:r>
            <a:r>
              <a:rPr lang="fr-FR" dirty="0" err="1"/>
              <a:t>them</a:t>
            </a:r>
            <a:r>
              <a:rPr lang="fr-FR" dirty="0"/>
              <a:t> and </a:t>
            </a:r>
            <a:r>
              <a:rPr lang="fr-FR" dirty="0" err="1"/>
              <a:t>then</a:t>
            </a:r>
            <a:r>
              <a:rPr lang="fr-FR" dirty="0"/>
              <a:t> </a:t>
            </a:r>
            <a:r>
              <a:rPr lang="fr-FR" dirty="0" err="1"/>
              <a:t>upload</a:t>
            </a:r>
            <a:r>
              <a:rPr lang="fr-FR" dirty="0"/>
              <a:t> the </a:t>
            </a:r>
            <a:r>
              <a:rPr lang="fr-FR" dirty="0" err="1"/>
              <a:t>completed</a:t>
            </a:r>
            <a:r>
              <a:rPr lang="fr-FR" dirty="0"/>
              <a:t> files on the </a:t>
            </a:r>
            <a:r>
              <a:rPr lang="fr-FR" dirty="0" err="1"/>
              <a:t>website</a:t>
            </a:r>
            <a:r>
              <a:rPr lang="fr-FR" dirty="0"/>
              <a:t>. </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30</a:t>
            </a:fld>
            <a:endParaRPr lang="fr-FR"/>
          </a:p>
        </p:txBody>
      </p:sp>
    </p:spTree>
    <p:extLst>
      <p:ext uri="{BB962C8B-B14F-4D97-AF65-F5344CB8AC3E}">
        <p14:creationId xmlns:p14="http://schemas.microsoft.com/office/powerpoint/2010/main" val="6853663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This </a:t>
            </a:r>
            <a:r>
              <a:rPr lang="fr-FR" dirty="0" err="1"/>
              <a:t>is</a:t>
            </a:r>
            <a:r>
              <a:rPr lang="fr-FR" dirty="0"/>
              <a:t> an </a:t>
            </a:r>
            <a:r>
              <a:rPr lang="fr-FR" dirty="0" err="1"/>
              <a:t>example</a:t>
            </a:r>
            <a:r>
              <a:rPr lang="fr-FR" dirty="0"/>
              <a:t> </a:t>
            </a:r>
            <a:r>
              <a:rPr lang="fr-FR" dirty="0" err="1"/>
              <a:t>using</a:t>
            </a:r>
            <a:r>
              <a:rPr lang="fr-FR" dirty="0"/>
              <a:t> the web </a:t>
            </a:r>
            <a:r>
              <a:rPr lang="fr-FR" dirty="0" err="1"/>
              <a:t>form</a:t>
            </a:r>
            <a:r>
              <a:rPr lang="fr-FR" dirty="0"/>
              <a:t>. </a:t>
            </a:r>
            <a:r>
              <a:rPr lang="fr-FR" dirty="0" err="1"/>
              <a:t>Here</a:t>
            </a:r>
            <a:r>
              <a:rPr lang="fr-FR" dirty="0"/>
              <a:t> </a:t>
            </a:r>
            <a:r>
              <a:rPr lang="fr-FR" dirty="0" err="1"/>
              <a:t>you</a:t>
            </a:r>
            <a:r>
              <a:rPr lang="fr-FR" dirty="0"/>
              <a:t> enter the translocation driver (conservation or mitigation-</a:t>
            </a:r>
            <a:r>
              <a:rPr lang="fr-FR" dirty="0" err="1"/>
              <a:t>driven</a:t>
            </a:r>
            <a:r>
              <a:rPr lang="fr-FR" dirty="0"/>
              <a:t>). There </a:t>
            </a:r>
            <a:r>
              <a:rPr lang="fr-FR" dirty="0" err="1"/>
              <a:t>is</a:t>
            </a:r>
            <a:r>
              <a:rPr lang="fr-FR" dirty="0"/>
              <a:t> a brief définition of the </a:t>
            </a:r>
            <a:r>
              <a:rPr lang="fr-FR" dirty="0" err="1"/>
              <a:t>field</a:t>
            </a:r>
            <a:r>
              <a:rPr lang="fr-FR" dirty="0"/>
              <a:t> in the </a:t>
            </a:r>
            <a:r>
              <a:rPr lang="fr-FR" b="1" dirty="0" err="1"/>
              <a:t>tool</a:t>
            </a:r>
            <a:r>
              <a:rPr lang="fr-FR" b="1" dirty="0"/>
              <a:t> tip</a:t>
            </a:r>
            <a:r>
              <a:rPr lang="fr-FR" dirty="0"/>
              <a:t> to help </a:t>
            </a:r>
            <a:r>
              <a:rPr lang="fr-FR" dirty="0" err="1"/>
              <a:t>you</a:t>
            </a:r>
            <a:r>
              <a:rPr lang="fr-FR" dirty="0"/>
              <a:t>. And </a:t>
            </a:r>
            <a:r>
              <a:rPr lang="fr-FR" dirty="0" err="1"/>
              <a:t>you</a:t>
            </a:r>
            <a:r>
              <a:rPr lang="fr-FR" dirty="0"/>
              <a:t> can check</a:t>
            </a:r>
            <a:r>
              <a:rPr lang="fr-FR" b="1" dirty="0"/>
              <a:t> the </a:t>
            </a:r>
            <a:r>
              <a:rPr lang="fr-FR" b="1" dirty="0" err="1"/>
              <a:t>definition</a:t>
            </a:r>
            <a:r>
              <a:rPr lang="fr-FR" b="1" dirty="0"/>
              <a:t> pages</a:t>
            </a:r>
            <a:r>
              <a:rPr lang="fr-FR" dirty="0"/>
              <a:t> for </a:t>
            </a:r>
            <a:r>
              <a:rPr lang="fr-FR" dirty="0" err="1"/>
              <a:t>complete</a:t>
            </a:r>
            <a:r>
              <a:rPr lang="fr-FR" dirty="0"/>
              <a:t> </a:t>
            </a:r>
            <a:r>
              <a:rPr lang="fr-FR" dirty="0" err="1"/>
              <a:t>definitions</a:t>
            </a:r>
            <a:r>
              <a:rPr lang="fr-FR" dirty="0"/>
              <a:t> if </a:t>
            </a:r>
            <a:r>
              <a:rPr lang="fr-FR" dirty="0" err="1"/>
              <a:t>anything</a:t>
            </a:r>
            <a:r>
              <a:rPr lang="fr-FR" dirty="0"/>
              <a:t> </a:t>
            </a:r>
            <a:r>
              <a:rPr lang="fr-FR" dirty="0" err="1"/>
              <a:t>is</a:t>
            </a:r>
            <a:r>
              <a:rPr lang="fr-FR" dirty="0"/>
              <a:t> </a:t>
            </a:r>
            <a:r>
              <a:rPr lang="fr-FR" dirty="0" err="1"/>
              <a:t>unclear</a:t>
            </a:r>
            <a:r>
              <a:rPr lang="fr-FR"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31</a:t>
            </a:fld>
            <a:endParaRPr lang="fr-FR"/>
          </a:p>
        </p:txBody>
      </p:sp>
    </p:spTree>
    <p:extLst>
      <p:ext uri="{BB962C8B-B14F-4D97-AF65-F5344CB8AC3E}">
        <p14:creationId xmlns:p14="http://schemas.microsoft.com/office/powerpoint/2010/main" val="3309202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en-GB" sz="1200" kern="1200" dirty="0">
                <a:solidFill>
                  <a:schemeClr val="tx1"/>
                </a:solidFill>
                <a:effectLst/>
                <a:latin typeface="+mn-lt"/>
                <a:ea typeface="+mn-ea"/>
                <a:cs typeface="+mn-cs"/>
              </a:rPr>
              <a:t>If you want to enter data using Excel files, t</a:t>
            </a:r>
            <a:r>
              <a:rPr lang="fr-FR" dirty="0" err="1"/>
              <a:t>here</a:t>
            </a:r>
            <a:r>
              <a:rPr lang="fr-FR" dirty="0"/>
              <a:t> are five </a:t>
            </a:r>
            <a:r>
              <a:rPr lang="fr-FR" dirty="0" err="1"/>
              <a:t>different</a:t>
            </a:r>
            <a:r>
              <a:rPr lang="fr-FR" dirty="0"/>
              <a:t> Excel </a:t>
            </a:r>
            <a:r>
              <a:rPr lang="fr-FR" dirty="0" err="1"/>
              <a:t>templates</a:t>
            </a:r>
            <a:r>
              <a:rPr lang="fr-FR" dirty="0"/>
              <a:t>: the first one </a:t>
            </a:r>
            <a:r>
              <a:rPr lang="fr-FR" dirty="0" err="1"/>
              <a:t>is</a:t>
            </a:r>
            <a:r>
              <a:rPr lang="fr-FR" dirty="0"/>
              <a:t> for basic data, the </a:t>
            </a:r>
            <a:r>
              <a:rPr lang="fr-FR" dirty="0" err="1"/>
              <a:t>other</a:t>
            </a:r>
            <a:r>
              <a:rPr lang="fr-FR" dirty="0"/>
              <a:t> four are for quantitative data. RST table </a:t>
            </a:r>
            <a:r>
              <a:rPr lang="fr-FR" dirty="0" err="1"/>
              <a:t>is</a:t>
            </a:r>
            <a:r>
              <a:rPr lang="fr-FR" dirty="0"/>
              <a:t> for the </a:t>
            </a:r>
            <a:r>
              <a:rPr lang="fr-FR" dirty="0" err="1"/>
              <a:t>numbers</a:t>
            </a:r>
            <a:r>
              <a:rPr lang="fr-FR" dirty="0"/>
              <a:t> of </a:t>
            </a:r>
            <a:r>
              <a:rPr lang="fr-FR" dirty="0" err="1"/>
              <a:t>translocated</a:t>
            </a:r>
            <a:r>
              <a:rPr lang="fr-FR" dirty="0"/>
              <a:t> </a:t>
            </a:r>
            <a:r>
              <a:rPr lang="fr-FR" dirty="0" err="1"/>
              <a:t>individuals</a:t>
            </a:r>
            <a:r>
              <a:rPr lang="fr-FR" dirty="0"/>
              <a:t> (</a:t>
            </a:r>
            <a:r>
              <a:rPr lang="fr-FR" dirty="0" err="1"/>
              <a:t>released</a:t>
            </a:r>
            <a:r>
              <a:rPr lang="fr-FR" dirty="0"/>
              <a:t>, </a:t>
            </a:r>
            <a:r>
              <a:rPr lang="fr-FR" dirty="0" err="1"/>
              <a:t>sown</a:t>
            </a:r>
            <a:r>
              <a:rPr lang="fr-FR" dirty="0"/>
              <a:t> or </a:t>
            </a:r>
            <a:r>
              <a:rPr lang="fr-FR" dirty="0" err="1"/>
              <a:t>transplanted</a:t>
            </a:r>
            <a:r>
              <a:rPr lang="fr-FR" dirty="0"/>
              <a:t>). Table of pop </a:t>
            </a:r>
            <a:r>
              <a:rPr lang="fr-FR" dirty="0" err="1"/>
              <a:t>dynamics</a:t>
            </a:r>
            <a:r>
              <a:rPr lang="fr-FR" dirty="0"/>
              <a:t> </a:t>
            </a:r>
            <a:r>
              <a:rPr lang="fr-FR" dirty="0" err="1"/>
              <a:t>is</a:t>
            </a:r>
            <a:r>
              <a:rPr lang="fr-FR" dirty="0"/>
              <a:t> for the post translocation population sizes. The table of </a:t>
            </a:r>
            <a:r>
              <a:rPr lang="fr-FR" dirty="0" err="1"/>
              <a:t>demographic</a:t>
            </a:r>
            <a:r>
              <a:rPr lang="fr-FR" dirty="0"/>
              <a:t> </a:t>
            </a:r>
            <a:r>
              <a:rPr lang="fr-FR" dirty="0" err="1"/>
              <a:t>progress</a:t>
            </a:r>
            <a:r>
              <a:rPr lang="fr-FR" dirty="0"/>
              <a:t> and the </a:t>
            </a:r>
            <a:r>
              <a:rPr lang="fr-FR" dirty="0" err="1"/>
              <a:t>viability</a:t>
            </a:r>
            <a:r>
              <a:rPr lang="fr-FR" dirty="0"/>
              <a:t> table are </a:t>
            </a:r>
            <a:r>
              <a:rPr lang="en-US" dirty="0"/>
              <a:t>for more sophisticated estimators which François, JB or Juliette will develop in WP4.</a:t>
            </a:r>
          </a:p>
          <a:p>
            <a:r>
              <a:rPr lang="en-US" dirty="0"/>
              <a:t>These Excel models are useful if you have a large amount of data on a population or series of populations, for which it may be easier to fill in these Excel tables than to enter the data directly online. However, for non-demographic data, only a few fields can be entered in the Basic Data Excel model; most fields must be completed online.</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32</a:t>
            </a:fld>
            <a:endParaRPr lang="fr-FR"/>
          </a:p>
        </p:txBody>
      </p:sp>
    </p:spTree>
    <p:extLst>
      <p:ext uri="{BB962C8B-B14F-4D97-AF65-F5344CB8AC3E}">
        <p14:creationId xmlns:p14="http://schemas.microsoft.com/office/powerpoint/2010/main" val="2781043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For </a:t>
            </a:r>
            <a:r>
              <a:rPr lang="fr-FR" dirty="0" err="1"/>
              <a:t>example</a:t>
            </a:r>
            <a:r>
              <a:rPr lang="fr-FR" dirty="0"/>
              <a:t>, in the RST </a:t>
            </a:r>
            <a:r>
              <a:rPr lang="fr-FR" dirty="0" err="1"/>
              <a:t>template</a:t>
            </a:r>
            <a:r>
              <a:rPr lang="fr-FR" dirty="0"/>
              <a:t>, </a:t>
            </a:r>
            <a:r>
              <a:rPr lang="fr-FR" dirty="0" err="1"/>
              <a:t>you</a:t>
            </a:r>
            <a:r>
              <a:rPr lang="fr-FR" dirty="0"/>
              <a:t> have the </a:t>
            </a:r>
            <a:r>
              <a:rPr lang="fr-FR" dirty="0" err="1"/>
              <a:t>name</a:t>
            </a:r>
            <a:r>
              <a:rPr lang="fr-FR" dirty="0"/>
              <a:t> of the </a:t>
            </a:r>
            <a:r>
              <a:rPr lang="fr-FR" dirty="0" err="1"/>
              <a:t>fields</a:t>
            </a:r>
            <a:r>
              <a:rPr lang="fr-FR" dirty="0"/>
              <a:t>, a short description, </a:t>
            </a:r>
            <a:r>
              <a:rPr lang="en-US" dirty="0"/>
              <a:t>there are two columns serving as examples.</a:t>
            </a:r>
            <a:r>
              <a:rPr lang="fr-FR" dirty="0"/>
              <a:t>  And </a:t>
            </a:r>
            <a:r>
              <a:rPr lang="fr-FR" dirty="0" err="1"/>
              <a:t>then</a:t>
            </a:r>
            <a:r>
              <a:rPr lang="fr-FR" dirty="0"/>
              <a:t> </a:t>
            </a:r>
            <a:r>
              <a:rPr lang="fr-FR" dirty="0" err="1"/>
              <a:t>you</a:t>
            </a:r>
            <a:r>
              <a:rPr lang="fr-FR" dirty="0"/>
              <a:t> can </a:t>
            </a:r>
            <a:r>
              <a:rPr lang="fr-FR" dirty="0" err="1"/>
              <a:t>fill</a:t>
            </a:r>
            <a:r>
              <a:rPr lang="fr-FR" dirty="0"/>
              <a:t> as </a:t>
            </a:r>
            <a:r>
              <a:rPr lang="fr-FR" dirty="0" err="1"/>
              <a:t>many</a:t>
            </a:r>
            <a:r>
              <a:rPr lang="fr-FR" dirty="0"/>
              <a:t> </a:t>
            </a:r>
            <a:r>
              <a:rPr lang="fr-FR" dirty="0" err="1"/>
              <a:t>columns</a:t>
            </a:r>
            <a:r>
              <a:rPr lang="fr-FR" dirty="0"/>
              <a:t> as </a:t>
            </a:r>
            <a:r>
              <a:rPr lang="fr-FR" dirty="0" err="1"/>
              <a:t>you</a:t>
            </a:r>
            <a:r>
              <a:rPr lang="fr-FR" dirty="0"/>
              <a:t> </a:t>
            </a:r>
            <a:r>
              <a:rPr lang="fr-FR" dirty="0" err="1"/>
              <a:t>need</a:t>
            </a:r>
            <a:r>
              <a:rPr lang="fr-FR" dirty="0"/>
              <a:t> </a:t>
            </a:r>
            <a:r>
              <a:rPr lang="fr-FR" dirty="0" err="1"/>
              <a:t>with</a:t>
            </a:r>
            <a:r>
              <a:rPr lang="fr-FR" dirty="0"/>
              <a:t> </a:t>
            </a:r>
            <a:r>
              <a:rPr lang="fr-FR" dirty="0" err="1"/>
              <a:t>your</a:t>
            </a:r>
            <a:r>
              <a:rPr lang="fr-FR" dirty="0"/>
              <a:t> data, </a:t>
            </a:r>
            <a:r>
              <a:rPr lang="fr-FR" dirty="0" err="1"/>
              <a:t>indicating</a:t>
            </a:r>
            <a:r>
              <a:rPr lang="fr-FR" dirty="0"/>
              <a:t> the </a:t>
            </a:r>
            <a:r>
              <a:rPr lang="fr-FR" dirty="0" err="1"/>
              <a:t>Tranloc</a:t>
            </a:r>
            <a:r>
              <a:rPr lang="fr-FR" dirty="0"/>
              <a:t> population code of the populations. </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33</a:t>
            </a:fld>
            <a:endParaRPr lang="fr-FR"/>
          </a:p>
        </p:txBody>
      </p:sp>
    </p:spTree>
    <p:extLst>
      <p:ext uri="{BB962C8B-B14F-4D97-AF65-F5344CB8AC3E}">
        <p14:creationId xmlns:p14="http://schemas.microsoft.com/office/powerpoint/2010/main" val="13251065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What happens to the data provided by contributors?</a:t>
            </a:r>
            <a:endParaRPr lang="fr-FR" sz="1200" b="0" dirty="0"/>
          </a:p>
          <a:p>
            <a:r>
              <a:rPr lang="fr-FR" i="1" dirty="0"/>
              <a:t>[You can </a:t>
            </a:r>
            <a:r>
              <a:rPr lang="fr-FR" i="1" dirty="0" err="1"/>
              <a:t>just</a:t>
            </a:r>
            <a:r>
              <a:rPr lang="fr-FR" i="1" dirty="0"/>
              <a:t> </a:t>
            </a:r>
            <a:r>
              <a:rPr lang="fr-FR" i="1" dirty="0" err="1"/>
              <a:t>read</a:t>
            </a:r>
            <a:r>
              <a:rPr lang="fr-FR" i="1" dirty="0"/>
              <a:t> the </a:t>
            </a:r>
            <a:r>
              <a:rPr lang="fr-FR" i="1" dirty="0" err="1"/>
              <a:t>text</a:t>
            </a:r>
            <a:r>
              <a:rPr lang="fr-FR" i="1" dirty="0"/>
              <a:t> on the slide]</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34</a:t>
            </a:fld>
            <a:endParaRPr lang="fr-FR"/>
          </a:p>
        </p:txBody>
      </p:sp>
    </p:spTree>
    <p:extLst>
      <p:ext uri="{BB962C8B-B14F-4D97-AF65-F5344CB8AC3E}">
        <p14:creationId xmlns:p14="http://schemas.microsoft.com/office/powerpoint/2010/main" val="430689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r>
              <a:rPr lang="fr-FR" dirty="0" err="1"/>
              <a:t>Instead</a:t>
            </a:r>
            <a:r>
              <a:rPr lang="fr-FR" dirty="0"/>
              <a:t> of </a:t>
            </a:r>
            <a:r>
              <a:rPr lang="fr-FR" dirty="0" err="1"/>
              <a:t>entering</a:t>
            </a:r>
            <a:r>
              <a:rPr lang="fr-FR" dirty="0"/>
              <a:t> data, </a:t>
            </a:r>
            <a:r>
              <a:rPr lang="fr-FR" dirty="0" err="1"/>
              <a:t>you</a:t>
            </a:r>
            <a:r>
              <a:rPr lang="fr-FR" dirty="0"/>
              <a:t> can </a:t>
            </a:r>
            <a:r>
              <a:rPr lang="fr-FR" dirty="0" err="1"/>
              <a:t>just</a:t>
            </a:r>
            <a:r>
              <a:rPr lang="fr-FR" dirty="0"/>
              <a:t> </a:t>
            </a:r>
            <a:r>
              <a:rPr lang="fr-FR" dirty="0" err="1"/>
              <a:t>wish</a:t>
            </a:r>
            <a:r>
              <a:rPr lang="fr-FR" dirty="0"/>
              <a:t> </a:t>
            </a:r>
            <a:r>
              <a:rPr lang="fr-FR" dirty="0" err="1"/>
              <a:t>query</a:t>
            </a:r>
            <a:r>
              <a:rPr lang="fr-FR" dirty="0"/>
              <a:t> the </a:t>
            </a:r>
            <a:r>
              <a:rPr lang="fr-FR" dirty="0" err="1"/>
              <a:t>database</a:t>
            </a:r>
            <a:r>
              <a:rPr lang="fr-FR" dirty="0"/>
              <a:t>.</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35</a:t>
            </a:fld>
            <a:endParaRPr lang="fr-FR"/>
          </a:p>
        </p:txBody>
      </p:sp>
    </p:spTree>
    <p:extLst>
      <p:ext uri="{BB962C8B-B14F-4D97-AF65-F5344CB8AC3E}">
        <p14:creationId xmlns:p14="http://schemas.microsoft.com/office/powerpoint/2010/main" val="2968336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You can </a:t>
            </a:r>
            <a:r>
              <a:rPr lang="fr-FR" dirty="0" err="1"/>
              <a:t>apply</a:t>
            </a:r>
            <a:r>
              <a:rPr lang="fr-FR" dirty="0"/>
              <a:t> </a:t>
            </a:r>
            <a:r>
              <a:rPr lang="fr-FR" dirty="0" err="1"/>
              <a:t>filters</a:t>
            </a:r>
            <a:r>
              <a:rPr lang="fr-FR" dirty="0"/>
              <a:t> to </a:t>
            </a:r>
            <a:r>
              <a:rPr lang="fr-FR" dirty="0" err="1"/>
              <a:t>species</a:t>
            </a:r>
            <a:r>
              <a:rPr lang="fr-FR" dirty="0"/>
              <a:t>, locations and time </a:t>
            </a:r>
            <a:r>
              <a:rPr lang="fr-FR" dirty="0" err="1"/>
              <a:t>periods</a:t>
            </a:r>
            <a:r>
              <a:rPr lang="fr-FR" dirty="0"/>
              <a:t>.</a:t>
            </a:r>
          </a:p>
          <a:p>
            <a:r>
              <a:rPr lang="fr-FR" dirty="0"/>
              <a:t>For </a:t>
            </a:r>
            <a:r>
              <a:rPr lang="fr-FR" dirty="0" err="1"/>
              <a:t>example</a:t>
            </a:r>
            <a:r>
              <a:rPr lang="fr-FR" dirty="0"/>
              <a:t> </a:t>
            </a:r>
            <a:r>
              <a:rPr lang="fr-FR" dirty="0" err="1"/>
              <a:t>here</a:t>
            </a:r>
            <a:r>
              <a:rPr lang="fr-FR" dirty="0"/>
              <a:t> </a:t>
            </a:r>
            <a:r>
              <a:rPr lang="fr-FR" dirty="0" err="1"/>
              <a:t>we</a:t>
            </a:r>
            <a:r>
              <a:rPr lang="fr-FR" dirty="0"/>
              <a:t> </a:t>
            </a:r>
            <a:r>
              <a:rPr lang="fr-FR" dirty="0" err="1"/>
              <a:t>selected</a:t>
            </a:r>
            <a:r>
              <a:rPr lang="fr-FR" dirty="0"/>
              <a:t> plant taxa in Corsica.</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36</a:t>
            </a:fld>
            <a:endParaRPr lang="fr-FR"/>
          </a:p>
        </p:txBody>
      </p:sp>
    </p:spTree>
    <p:extLst>
      <p:ext uri="{BB962C8B-B14F-4D97-AF65-F5344CB8AC3E}">
        <p14:creationId xmlns:p14="http://schemas.microsoft.com/office/powerpoint/2010/main" val="3435789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err="1"/>
              <a:t>Then</a:t>
            </a:r>
            <a:r>
              <a:rPr lang="fr-FR" dirty="0"/>
              <a:t> </a:t>
            </a:r>
            <a:r>
              <a:rPr lang="fr-FR" dirty="0" err="1"/>
              <a:t>you</a:t>
            </a:r>
            <a:r>
              <a:rPr lang="fr-FR" dirty="0"/>
              <a:t> select the data </a:t>
            </a:r>
            <a:r>
              <a:rPr lang="fr-FR" dirty="0" err="1"/>
              <a:t>fields</a:t>
            </a:r>
            <a:r>
              <a:rPr lang="fr-FR" dirty="0"/>
              <a:t> </a:t>
            </a:r>
            <a:r>
              <a:rPr lang="fr-FR" dirty="0" err="1"/>
              <a:t>that</a:t>
            </a:r>
            <a:r>
              <a:rPr lang="fr-FR" dirty="0"/>
              <a:t> </a:t>
            </a:r>
            <a:r>
              <a:rPr lang="fr-FR" dirty="0" err="1"/>
              <a:t>interest</a:t>
            </a:r>
            <a:r>
              <a:rPr lang="fr-FR" dirty="0"/>
              <a:t> </a:t>
            </a:r>
            <a:r>
              <a:rPr lang="fr-FR" dirty="0" err="1"/>
              <a:t>you</a:t>
            </a:r>
            <a:r>
              <a:rPr lang="fr-FR" dirty="0"/>
              <a:t>. For </a:t>
            </a:r>
            <a:r>
              <a:rPr lang="fr-FR" dirty="0" err="1"/>
              <a:t>example</a:t>
            </a:r>
            <a:r>
              <a:rPr lang="fr-FR" dirty="0"/>
              <a:t> </a:t>
            </a:r>
            <a:r>
              <a:rPr lang="fr-FR" dirty="0" err="1"/>
              <a:t>here</a:t>
            </a:r>
            <a:r>
              <a:rPr lang="fr-FR" dirty="0"/>
              <a:t> </a:t>
            </a:r>
            <a:r>
              <a:rPr lang="fr-FR" dirty="0" err="1"/>
              <a:t>we</a:t>
            </a:r>
            <a:r>
              <a:rPr lang="fr-FR" dirty="0"/>
              <a:t> </a:t>
            </a:r>
            <a:r>
              <a:rPr lang="fr-FR" dirty="0" err="1"/>
              <a:t>selct</a:t>
            </a:r>
            <a:r>
              <a:rPr lang="fr-FR" dirty="0"/>
              <a:t> all data </a:t>
            </a:r>
            <a:r>
              <a:rPr lang="fr-FR" dirty="0" err="1"/>
              <a:t>fields</a:t>
            </a:r>
            <a:r>
              <a:rPr lang="fr-FR" dirty="0"/>
              <a:t> </a:t>
            </a:r>
            <a:r>
              <a:rPr lang="fr-FR" dirty="0" err="1"/>
              <a:t>related</a:t>
            </a:r>
            <a:r>
              <a:rPr lang="fr-FR" dirty="0"/>
              <a:t> to basic information.</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37</a:t>
            </a:fld>
            <a:endParaRPr lang="fr-FR"/>
          </a:p>
        </p:txBody>
      </p:sp>
    </p:spTree>
    <p:extLst>
      <p:ext uri="{BB962C8B-B14F-4D97-AF65-F5344CB8AC3E}">
        <p14:creationId xmlns:p14="http://schemas.microsoft.com/office/powerpoint/2010/main" val="35421337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fr-FR" dirty="0"/>
              <a:t>You </a:t>
            </a:r>
            <a:r>
              <a:rPr lang="fr-FR" dirty="0" err="1"/>
              <a:t>send</a:t>
            </a:r>
            <a:r>
              <a:rPr lang="fr-FR" dirty="0"/>
              <a:t> the </a:t>
            </a:r>
            <a:r>
              <a:rPr lang="fr-FR" dirty="0" err="1"/>
              <a:t>request</a:t>
            </a:r>
            <a:r>
              <a:rPr lang="fr-FR" dirty="0"/>
              <a:t> and </a:t>
            </a:r>
            <a:r>
              <a:rPr lang="en-US" dirty="0"/>
              <a:t>the results you obtain are presented in a table, with all populations corresponding to your filters.</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38</a:t>
            </a:fld>
            <a:endParaRPr lang="fr-FR"/>
          </a:p>
        </p:txBody>
      </p:sp>
    </p:spTree>
    <p:extLst>
      <p:ext uri="{BB962C8B-B14F-4D97-AF65-F5344CB8AC3E}">
        <p14:creationId xmlns:p14="http://schemas.microsoft.com/office/powerpoint/2010/main" val="30863061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i="1" dirty="0">
                <a:solidFill>
                  <a:srgbClr val="FF0000"/>
                </a:solidFill>
              </a:rPr>
              <a:t>This can </a:t>
            </a:r>
            <a:r>
              <a:rPr lang="fr-FR" b="1" i="1" dirty="0" err="1">
                <a:solidFill>
                  <a:srgbClr val="FF0000"/>
                </a:solidFill>
              </a:rPr>
              <a:t>be</a:t>
            </a:r>
            <a:r>
              <a:rPr lang="fr-FR" b="1" i="1" dirty="0">
                <a:solidFill>
                  <a:srgbClr val="FF0000"/>
                </a:solidFill>
              </a:rPr>
              <a:t> </a:t>
            </a:r>
            <a:r>
              <a:rPr lang="fr-FR" b="1" i="1" dirty="0" err="1">
                <a:solidFill>
                  <a:srgbClr val="FF0000"/>
                </a:solidFill>
              </a:rPr>
              <a:t>shown</a:t>
            </a:r>
            <a:r>
              <a:rPr lang="fr-FR" b="1" i="1" dirty="0">
                <a:solidFill>
                  <a:srgbClr val="FF0000"/>
                </a:solidFill>
              </a:rPr>
              <a:t> online, if possible.</a:t>
            </a:r>
          </a:p>
          <a:p>
            <a:r>
              <a:rPr lang="en-US" dirty="0"/>
              <a:t>You also have a map that allows you to </a:t>
            </a:r>
            <a:r>
              <a:rPr lang="en-US" dirty="0" err="1"/>
              <a:t>visualise</a:t>
            </a:r>
            <a:r>
              <a:rPr lang="en-US" dirty="0"/>
              <a:t> the location of the populations you have selected.</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39</a:t>
            </a:fld>
            <a:endParaRPr lang="fr-FR"/>
          </a:p>
        </p:txBody>
      </p:sp>
    </p:spTree>
    <p:extLst>
      <p:ext uri="{BB962C8B-B14F-4D97-AF65-F5344CB8AC3E}">
        <p14:creationId xmlns:p14="http://schemas.microsoft.com/office/powerpoint/2010/main" val="11647970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Linda:</a:t>
            </a:r>
          </a:p>
          <a:p>
            <a:r>
              <a:rPr lang="en-US" dirty="0"/>
              <a:t>However, there are some limitations to users.</a:t>
            </a:r>
          </a:p>
          <a:p>
            <a:r>
              <a:rPr lang="en-US" dirty="0"/>
              <a:t>First, the tables of results are downloadable. But users can only download the data for populations they have contributed to. In the database, we keep a history of all contributions and validations by administrators. This history is visible on the </a:t>
            </a:r>
            <a:r>
              <a:rPr lang="en-US" dirty="0" err="1"/>
              <a:t>Transloc</a:t>
            </a:r>
            <a:r>
              <a:rPr lang="en-US" dirty="0"/>
              <a:t> website. Users who would like other records can send a request via a contact form. Maps are downloadable without restrictions.</a:t>
            </a:r>
          </a:p>
          <a:p>
            <a:r>
              <a:rPr lang="en-US" dirty="0"/>
              <a:t>Second, contributors are given the option to keep several types of data confidential. This includes the precise locations (GPS points) of populations, whether they are translocated populations or natural populations of origin of the biological material, which is part of the data that can be entered. There is also the number of translocated individuals. and the post-translocation population sizes. Users therefore cannot access this data.</a:t>
            </a:r>
          </a:p>
          <a:p>
            <a:r>
              <a:rPr lang="en-US" dirty="0"/>
              <a:t>We hope to limit the amount of confidential data as much as possible. However, in some countries, legislation requires that the precise location of populations of some species be kept confidential.</a:t>
            </a: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40</a:t>
            </a:fld>
            <a:endParaRPr lang="fr-FR"/>
          </a:p>
        </p:txBody>
      </p:sp>
    </p:spTree>
    <p:extLst>
      <p:ext uri="{BB962C8B-B14F-4D97-AF65-F5344CB8AC3E}">
        <p14:creationId xmlns:p14="http://schemas.microsoft.com/office/powerpoint/2010/main" val="271472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41</a:t>
            </a:fld>
            <a:endParaRPr lang="fr-FR"/>
          </a:p>
        </p:txBody>
      </p:sp>
    </p:spTree>
    <p:extLst>
      <p:ext uri="{BB962C8B-B14F-4D97-AF65-F5344CB8AC3E}">
        <p14:creationId xmlns:p14="http://schemas.microsoft.com/office/powerpoint/2010/main" val="29787609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r>
              <a:rPr lang="en-US" dirty="0"/>
              <a:t>We hope that managers will take advantage of this tool and contribute to it by submitting their data. We will be holding a webinar in November specifically for managers.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Generate new ideas for analysis and research work</a:t>
            </a:r>
          </a:p>
          <a:p>
            <a:r>
              <a:rPr lang="en-US" dirty="0"/>
              <a:t>Promote the database to environmental authorities, at least in France, so that experts who issue opinions can refer to it for comparison purposes.</a:t>
            </a:r>
          </a:p>
          <a:p>
            <a:r>
              <a:rPr lang="en-US" dirty="0"/>
              <a:t>Establishing links with other European and international databases, which is a topic that will probably be part of the discussions we will have in a while.</a:t>
            </a:r>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42</a:t>
            </a:fld>
            <a:endParaRPr lang="fr-FR"/>
          </a:p>
        </p:txBody>
      </p:sp>
    </p:spTree>
    <p:extLst>
      <p:ext uri="{BB962C8B-B14F-4D97-AF65-F5344CB8AC3E}">
        <p14:creationId xmlns:p14="http://schemas.microsoft.com/office/powerpoint/2010/main" val="3816775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 Bruno:</a:t>
            </a:r>
          </a:p>
          <a:p>
            <a:endParaRPr lang="fr-FR" dirty="0"/>
          </a:p>
        </p:txBody>
      </p:sp>
      <p:sp>
        <p:nvSpPr>
          <p:cNvPr id="4" name="Espace réservé du numéro de diapositive 3"/>
          <p:cNvSpPr>
            <a:spLocks noGrp="1"/>
          </p:cNvSpPr>
          <p:nvPr>
            <p:ph type="sldNum" sz="quarter" idx="5"/>
          </p:nvPr>
        </p:nvSpPr>
        <p:spPr/>
        <p:txBody>
          <a:bodyPr/>
          <a:lstStyle/>
          <a:p>
            <a:fld id="{7649301E-2F7A-4A2C-AE9A-220D326BD9F0}" type="slidenum">
              <a:rPr lang="fr-FR" smtClean="0"/>
              <a:t>43</a:t>
            </a:fld>
            <a:endParaRPr lang="fr-FR"/>
          </a:p>
        </p:txBody>
      </p:sp>
    </p:spTree>
    <p:extLst>
      <p:ext uri="{BB962C8B-B14F-4D97-AF65-F5344CB8AC3E}">
        <p14:creationId xmlns:p14="http://schemas.microsoft.com/office/powerpoint/2010/main" val="264682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46778B-EC6C-427D-9F00-5AFBC10EE4A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C42128F-265E-4422-9796-B4ABC4C100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714962C-1A23-4231-BEBC-2CD4CCE646D1}"/>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71AE1024-CFEB-46DD-AFE9-16F3CDE70A3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B164A7-9065-47E9-87A2-3DD39B6270D7}"/>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854315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BC305A-81BE-4FF0-BC46-5DA85927858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4CA2311-B08E-4209-8DD6-72535E4B4DF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C594A2-E0FA-4A76-980E-0B78823375E5}"/>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27F4D491-7826-4AC9-AE97-1E9FD1CD392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8A3EACB-DDDA-4823-A06E-BB7706BCC6E9}"/>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2075088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E28EF3-D9F7-4435-94FE-851353F9C58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45FAD63-9918-4231-B68C-05C32C27CF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4F2CDC0-AEBF-413D-A17B-F8DD5FAF4B66}"/>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6EFCFF72-9AFA-4E7B-B543-DD5982D6939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ECD8F20-D8D4-4B2D-85D1-997E755B2B05}"/>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1220479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37C36D-F8C5-4694-9639-5C84F433D5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4857FFD-7971-4610-9B2E-E314E95B4C8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3E3DBF8-EAD4-406F-AFFB-C944888F1B2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C21CC3B-268E-44F6-A551-8CD318DBAF99}"/>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6" name="Espace réservé du pied de page 5">
            <a:extLst>
              <a:ext uri="{FF2B5EF4-FFF2-40B4-BE49-F238E27FC236}">
                <a16:creationId xmlns:a16="http://schemas.microsoft.com/office/drawing/2014/main" id="{90B3D2B3-ED36-42BF-BA31-9EC1CE04BB4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B563434-E47D-4741-9448-6D475B7D6382}"/>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343706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9CE3FC-E2B1-4A89-9342-40CB963D5C8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48CB929-ECF1-442B-8E3A-C86A581ACF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F6D535D-2E34-4B16-BB54-80B5A07C5E4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762513D-05D3-4A88-A58C-472F256CA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78C7DE5-616C-499A-87EB-A3F8D9157A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66479EB-B2DF-466A-BDD8-AEFCE0B2A158}"/>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8" name="Espace réservé du pied de page 7">
            <a:extLst>
              <a:ext uri="{FF2B5EF4-FFF2-40B4-BE49-F238E27FC236}">
                <a16:creationId xmlns:a16="http://schemas.microsoft.com/office/drawing/2014/main" id="{335E8FE6-EB3C-4634-901E-13F8C9F14DF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29BEBCE-65B6-4854-BCE7-831BC1A55E32}"/>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2021242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4C89BC-0498-46E8-AAE2-8EC63E126B4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19EDCD5-9355-4480-A96B-E520863BD836}"/>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4" name="Espace réservé du pied de page 3">
            <a:extLst>
              <a:ext uri="{FF2B5EF4-FFF2-40B4-BE49-F238E27FC236}">
                <a16:creationId xmlns:a16="http://schemas.microsoft.com/office/drawing/2014/main" id="{FDAAABB6-918E-487D-9C53-B9E111BF28B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88F7E70-BDCB-4B95-BD11-3B8D6BDCC311}"/>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3081335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F3674D1-909F-497B-86F7-59AE567D9FE9}"/>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3" name="Espace réservé du pied de page 2">
            <a:extLst>
              <a:ext uri="{FF2B5EF4-FFF2-40B4-BE49-F238E27FC236}">
                <a16:creationId xmlns:a16="http://schemas.microsoft.com/office/drawing/2014/main" id="{6CDB10EE-BD6C-4C93-810C-B082BDA88E3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45B25F1-76FD-4BE3-A35B-EF3221942BA0}"/>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873306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94DA86-5DE3-4C3A-B5B8-1434EECB348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1E1A404-B6FB-46A2-A434-BFD937FAEF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C468FB2-3BBF-42C4-8A9A-D651D016A7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5533C79-1D13-4805-9778-6827A48222E1}"/>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6" name="Espace réservé du pied de page 5">
            <a:extLst>
              <a:ext uri="{FF2B5EF4-FFF2-40B4-BE49-F238E27FC236}">
                <a16:creationId xmlns:a16="http://schemas.microsoft.com/office/drawing/2014/main" id="{379FF84D-D56A-44FF-A997-F6E5170BB88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6A5D4A6-E427-453C-A1D2-D02C0CE02588}"/>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114948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BEC0E-BB69-409F-BD33-E9AD85D4832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0DE3BD4-AA9D-464E-8E57-9CE3536681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4F1C60D-FE0D-4BB2-B107-749D04D2DB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AB8EA-E2D8-4480-8BEF-4E6ECC85D388}"/>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6" name="Espace réservé du pied de page 5">
            <a:extLst>
              <a:ext uri="{FF2B5EF4-FFF2-40B4-BE49-F238E27FC236}">
                <a16:creationId xmlns:a16="http://schemas.microsoft.com/office/drawing/2014/main" id="{A4FAC8C5-AB2C-48C1-B3A1-970EDF4BD21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BB5BDA9-B7D8-448C-84C7-D14F20924C30}"/>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526596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F3B652-016D-4CD1-904A-573E3551FC9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30BDD11-EA09-4775-9127-5F134E44101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0C51BA8-2E51-4DDB-AE70-F0F4FE596E07}"/>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FCF1CED1-12D8-4D62-819E-5DDE5D24C2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62E3DEB-3E65-47C1-AD8C-67F933A23CA9}"/>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3649395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8AD2599-8F77-4977-ACA1-6210EB964E5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F048156-EA38-4E2F-B028-066CFB792FB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690E97A-DCE4-4A31-B803-C1EB68F4997E}"/>
              </a:ext>
            </a:extLst>
          </p:cNvPr>
          <p:cNvSpPr>
            <a:spLocks noGrp="1"/>
          </p:cNvSpPr>
          <p:nvPr>
            <p:ph type="dt" sz="half" idx="10"/>
          </p:nvPr>
        </p:nvSpPr>
        <p:spPr/>
        <p:txBody>
          <a:body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F69C681E-55EA-4A7A-BC3A-4114F6AE53E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764371-FDE1-4DE0-BB15-DEB50D39A363}"/>
              </a:ext>
            </a:extLst>
          </p:cNvPr>
          <p:cNvSpPr>
            <a:spLocks noGrp="1"/>
          </p:cNvSpPr>
          <p:nvPr>
            <p:ph type="sldNum" sz="quarter" idx="12"/>
          </p:nvPr>
        </p:nvSpPr>
        <p:spPr/>
        <p:txBody>
          <a:bodyPr/>
          <a:lstStyle/>
          <a:p>
            <a:fld id="{72E2FB19-4344-459F-A8C4-EB4C0E2B5BBF}" type="slidenum">
              <a:rPr lang="fr-FR" smtClean="0"/>
              <a:t>‹N°›</a:t>
            </a:fld>
            <a:endParaRPr lang="fr-FR"/>
          </a:p>
        </p:txBody>
      </p:sp>
    </p:spTree>
    <p:extLst>
      <p:ext uri="{BB962C8B-B14F-4D97-AF65-F5344CB8AC3E}">
        <p14:creationId xmlns:p14="http://schemas.microsoft.com/office/powerpoint/2010/main" val="1458005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36FE5B0-E780-484B-B81F-798582B65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7D808A8-21F2-4DBC-8E35-2A8E7B26D2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DC35C4F-1DE3-4014-AD4B-621A65AF2A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C8B062-90C1-4977-920B-09A48BDAF76B}" type="datetimeFigureOut">
              <a:rPr lang="fr-FR" smtClean="0"/>
              <a:t>10/09/2025</a:t>
            </a:fld>
            <a:endParaRPr lang="fr-FR"/>
          </a:p>
        </p:txBody>
      </p:sp>
      <p:sp>
        <p:nvSpPr>
          <p:cNvPr id="5" name="Espace réservé du pied de page 4">
            <a:extLst>
              <a:ext uri="{FF2B5EF4-FFF2-40B4-BE49-F238E27FC236}">
                <a16:creationId xmlns:a16="http://schemas.microsoft.com/office/drawing/2014/main" id="{82184242-1314-4D4D-9C33-6EB030B7F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2BB80CE-FB91-4E83-96A5-A7A5AEC87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E2FB19-4344-459F-A8C4-EB4C0E2B5BBF}" type="slidenum">
              <a:rPr lang="fr-FR" smtClean="0"/>
              <a:t>‹N°›</a:t>
            </a:fld>
            <a:endParaRPr lang="fr-FR"/>
          </a:p>
        </p:txBody>
      </p:sp>
    </p:spTree>
    <p:extLst>
      <p:ext uri="{BB962C8B-B14F-4D97-AF65-F5344CB8AC3E}">
        <p14:creationId xmlns:p14="http://schemas.microsoft.com/office/powerpoint/2010/main" val="1221937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jp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19.jpeg"/><Relationship Id="rId5" Type="http://schemas.openxmlformats.org/officeDocument/2006/relationships/image" Target="../media/image16.png"/><Relationship Id="rId15" Type="http://schemas.openxmlformats.org/officeDocument/2006/relationships/image" Target="../media/image23.png"/><Relationship Id="rId10" Type="http://schemas.microsoft.com/office/2007/relationships/hdphoto" Target="../media/hdphoto3.wdp"/><Relationship Id="rId4" Type="http://schemas.openxmlformats.org/officeDocument/2006/relationships/image" Target="../media/image15.png"/><Relationship Id="rId9" Type="http://schemas.openxmlformats.org/officeDocument/2006/relationships/image" Target="../media/image18.png"/><Relationship Id="rId1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9.jpeg"/><Relationship Id="rId3" Type="http://schemas.openxmlformats.org/officeDocument/2006/relationships/image" Target="../media/image43.png"/><Relationship Id="rId7" Type="http://schemas.openxmlformats.org/officeDocument/2006/relationships/image" Target="../media/image16.png"/><Relationship Id="rId12" Type="http://schemas.microsoft.com/office/2007/relationships/hdphoto" Target="../media/hdphoto3.wdp"/><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18.png"/><Relationship Id="rId5" Type="http://schemas.openxmlformats.org/officeDocument/2006/relationships/image" Target="../media/image20.png"/><Relationship Id="rId15" Type="http://schemas.openxmlformats.org/officeDocument/2006/relationships/image" Target="../media/image23.png"/><Relationship Id="rId10" Type="http://schemas.microsoft.com/office/2007/relationships/hdphoto" Target="../media/hdphoto2.wdp"/><Relationship Id="rId4" Type="http://schemas.openxmlformats.org/officeDocument/2006/relationships/image" Target="../media/image44.jpeg"/><Relationship Id="rId9" Type="http://schemas.openxmlformats.org/officeDocument/2006/relationships/image" Target="../media/image17.png"/><Relationship Id="rId1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A99C133-D7E6-43A6-B185-C90990FECE86}"/>
              </a:ext>
            </a:extLst>
          </p:cNvPr>
          <p:cNvSpPr txBox="1"/>
          <p:nvPr/>
        </p:nvSpPr>
        <p:spPr>
          <a:xfrm>
            <a:off x="1589614" y="1228627"/>
            <a:ext cx="8683724" cy="1323439"/>
          </a:xfrm>
          <a:prstGeom prst="rect">
            <a:avLst/>
          </a:prstGeom>
          <a:noFill/>
        </p:spPr>
        <p:txBody>
          <a:bodyPr wrap="none" rtlCol="0">
            <a:spAutoFit/>
          </a:bodyPr>
          <a:lstStyle/>
          <a:p>
            <a:pPr algn="ctr"/>
            <a:r>
              <a:rPr lang="fr-FR" sz="4000" dirty="0">
                <a:latin typeface="Calibri" panose="020F0502020204030204" pitchFamily="34" charset="0"/>
                <a:ea typeface="Calibri" panose="020F0502020204030204" pitchFamily="34" charset="0"/>
                <a:cs typeface="Calibri" panose="020F0502020204030204" pitchFamily="34" charset="0"/>
              </a:rPr>
              <a:t>The					</a:t>
            </a:r>
            <a:r>
              <a:rPr lang="fr-FR" sz="4000" dirty="0" err="1">
                <a:latin typeface="Calibri" panose="020F0502020204030204" pitchFamily="34" charset="0"/>
                <a:ea typeface="Calibri" panose="020F0502020204030204" pitchFamily="34" charset="0"/>
                <a:cs typeface="Calibri" panose="020F0502020204030204" pitchFamily="34" charset="0"/>
              </a:rPr>
              <a:t>database</a:t>
            </a:r>
            <a:endParaRPr lang="fr-FR" sz="4000" dirty="0">
              <a:latin typeface="Calibri" panose="020F0502020204030204" pitchFamily="34" charset="0"/>
              <a:ea typeface="Calibri" panose="020F0502020204030204" pitchFamily="34" charset="0"/>
              <a:cs typeface="Calibri" panose="020F0502020204030204" pitchFamily="34" charset="0"/>
            </a:endParaRPr>
          </a:p>
          <a:p>
            <a:pPr algn="ctr"/>
            <a:r>
              <a:rPr lang="fr-FR" sz="4000" dirty="0">
                <a:latin typeface="Calibri" panose="020F0502020204030204" pitchFamily="34" charset="0"/>
                <a:ea typeface="Calibri" panose="020F0502020204030204" pitchFamily="34" charset="0"/>
                <a:cs typeface="Calibri" panose="020F0502020204030204" pitchFamily="34" charset="0"/>
              </a:rPr>
              <a:t>and </a:t>
            </a:r>
            <a:r>
              <a:rPr lang="fr-FR" sz="4000" dirty="0" err="1">
                <a:latin typeface="Calibri" panose="020F0502020204030204" pitchFamily="34" charset="0"/>
                <a:ea typeface="Calibri" panose="020F0502020204030204" pitchFamily="34" charset="0"/>
                <a:cs typeface="Calibri" panose="020F0502020204030204" pitchFamily="34" charset="0"/>
              </a:rPr>
              <a:t>other</a:t>
            </a:r>
            <a:r>
              <a:rPr lang="fr-FR" sz="4000" dirty="0">
                <a:latin typeface="Calibri" panose="020F0502020204030204" pitchFamily="34" charset="0"/>
                <a:ea typeface="Calibri" panose="020F0502020204030204" pitchFamily="34" charset="0"/>
                <a:cs typeface="Calibri" panose="020F0502020204030204" pitchFamily="34" charset="0"/>
              </a:rPr>
              <a:t> translocation </a:t>
            </a:r>
            <a:r>
              <a:rPr lang="fr-FR" sz="4000" dirty="0" err="1">
                <a:latin typeface="Calibri" panose="020F0502020204030204" pitchFamily="34" charset="0"/>
                <a:ea typeface="Calibri" panose="020F0502020204030204" pitchFamily="34" charset="0"/>
                <a:cs typeface="Calibri" panose="020F0502020204030204" pitchFamily="34" charset="0"/>
              </a:rPr>
              <a:t>databases</a:t>
            </a:r>
            <a:r>
              <a:rPr lang="fr-FR" sz="4000" dirty="0">
                <a:latin typeface="Calibri" panose="020F0502020204030204" pitchFamily="34" charset="0"/>
                <a:ea typeface="Calibri" panose="020F0502020204030204" pitchFamily="34" charset="0"/>
                <a:cs typeface="Calibri" panose="020F0502020204030204" pitchFamily="34" charset="0"/>
              </a:rPr>
              <a:t> (WP2)</a:t>
            </a:r>
          </a:p>
        </p:txBody>
      </p:sp>
      <p:sp>
        <p:nvSpPr>
          <p:cNvPr id="6" name="Google Shape;97;p13">
            <a:extLst>
              <a:ext uri="{FF2B5EF4-FFF2-40B4-BE49-F238E27FC236}">
                <a16:creationId xmlns:a16="http://schemas.microsoft.com/office/drawing/2014/main" id="{439C2121-FA8A-44F4-B43B-0F87DF5061AA}"/>
              </a:ext>
            </a:extLst>
          </p:cNvPr>
          <p:cNvSpPr/>
          <p:nvPr/>
        </p:nvSpPr>
        <p:spPr>
          <a:xfrm>
            <a:off x="3666700" y="849457"/>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2">
              <a:alphaModFix/>
            </a:blip>
            <a:stretch>
              <a:fillRect t="-51413" b="-66256"/>
            </a:stretch>
          </a:blipFill>
          <a:ln>
            <a:noFill/>
          </a:ln>
        </p:spPr>
      </p:sp>
      <p:sp>
        <p:nvSpPr>
          <p:cNvPr id="7" name="ZoneTexte 6">
            <a:extLst>
              <a:ext uri="{FF2B5EF4-FFF2-40B4-BE49-F238E27FC236}">
                <a16:creationId xmlns:a16="http://schemas.microsoft.com/office/drawing/2014/main" id="{05E81A5E-F977-4C34-BB4D-3B00991FEFAC}"/>
              </a:ext>
            </a:extLst>
          </p:cNvPr>
          <p:cNvSpPr txBox="1"/>
          <p:nvPr/>
        </p:nvSpPr>
        <p:spPr>
          <a:xfrm>
            <a:off x="1834384" y="3017589"/>
            <a:ext cx="8523231" cy="461665"/>
          </a:xfrm>
          <a:prstGeom prst="rect">
            <a:avLst/>
          </a:prstGeom>
          <a:noFill/>
        </p:spPr>
        <p:txBody>
          <a:bodyPr wrap="none" rtlCol="0">
            <a:spAutoFit/>
          </a:bodyPr>
          <a:lstStyle/>
          <a:p>
            <a:r>
              <a:rPr lang="en-US" sz="2400" dirty="0"/>
              <a:t>Session of the Translocation Workshop, Paris, September 11</a:t>
            </a:r>
            <a:r>
              <a:rPr lang="en-US" sz="2400" baseline="30000" dirty="0"/>
              <a:t>th</a:t>
            </a:r>
            <a:r>
              <a:rPr lang="en-US" sz="2400" dirty="0"/>
              <a:t>, 2025</a:t>
            </a:r>
            <a:endParaRPr lang="fr-FR" sz="2400" dirty="0"/>
          </a:p>
        </p:txBody>
      </p:sp>
      <p:sp>
        <p:nvSpPr>
          <p:cNvPr id="8" name="ZoneTexte 7">
            <a:extLst>
              <a:ext uri="{FF2B5EF4-FFF2-40B4-BE49-F238E27FC236}">
                <a16:creationId xmlns:a16="http://schemas.microsoft.com/office/drawing/2014/main" id="{A95FB6AC-8270-4134-A2A9-814D2608807E}"/>
              </a:ext>
            </a:extLst>
          </p:cNvPr>
          <p:cNvSpPr txBox="1"/>
          <p:nvPr/>
        </p:nvSpPr>
        <p:spPr>
          <a:xfrm>
            <a:off x="430327" y="3793323"/>
            <a:ext cx="11002297" cy="1323439"/>
          </a:xfrm>
          <a:prstGeom prst="rect">
            <a:avLst/>
          </a:prstGeom>
          <a:noFill/>
        </p:spPr>
        <p:txBody>
          <a:bodyPr wrap="square" rtlCol="0">
            <a:spAutoFit/>
          </a:bodyPr>
          <a:lstStyle/>
          <a:p>
            <a:r>
              <a:rPr lang="en-US" sz="2000" dirty="0"/>
              <a:t>Workshop for academics in the framework of the project entitled:</a:t>
            </a:r>
          </a:p>
          <a:p>
            <a:r>
              <a:rPr lang="en-US" sz="2000" b="1" dirty="0"/>
              <a:t>Translocations of flora and fauna for conservation and restoration: ecological, evolutionary, and socio-economic impacts, at multiple scales</a:t>
            </a:r>
          </a:p>
          <a:p>
            <a:r>
              <a:rPr lang="en-US" sz="2000" dirty="0"/>
              <a:t>selected by the </a:t>
            </a:r>
            <a:r>
              <a:rPr lang="en-US" sz="2000" dirty="0" err="1"/>
              <a:t>BiodivRestore</a:t>
            </a:r>
            <a:r>
              <a:rPr lang="en-US" sz="2000" dirty="0"/>
              <a:t> call from </a:t>
            </a:r>
            <a:r>
              <a:rPr lang="en-US" sz="2000" dirty="0" err="1"/>
              <a:t>Biodiversa</a:t>
            </a:r>
            <a:r>
              <a:rPr lang="en-US" sz="2000" dirty="0"/>
              <a:t>+ and Water JPI </a:t>
            </a:r>
          </a:p>
        </p:txBody>
      </p:sp>
      <p:pic>
        <p:nvPicPr>
          <p:cNvPr id="10" name="Graphique 9">
            <a:extLst>
              <a:ext uri="{FF2B5EF4-FFF2-40B4-BE49-F238E27FC236}">
                <a16:creationId xmlns:a16="http://schemas.microsoft.com/office/drawing/2014/main" id="{D1999878-D452-4DFE-B9A4-B77A3CBFCA0E}"/>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0327" y="5836909"/>
            <a:ext cx="2724150" cy="695325"/>
          </a:xfrm>
          <a:prstGeom prst="rect">
            <a:avLst/>
          </a:prstGeom>
        </p:spPr>
      </p:pic>
      <p:pic>
        <p:nvPicPr>
          <p:cNvPr id="12" name="Image 11">
            <a:extLst>
              <a:ext uri="{FF2B5EF4-FFF2-40B4-BE49-F238E27FC236}">
                <a16:creationId xmlns:a16="http://schemas.microsoft.com/office/drawing/2014/main" id="{029BF45B-0E1B-460C-85D1-E7D9030702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45416" y="5759024"/>
            <a:ext cx="1587862" cy="851094"/>
          </a:xfrm>
          <a:prstGeom prst="rect">
            <a:avLst/>
          </a:prstGeom>
        </p:spPr>
      </p:pic>
    </p:spTree>
    <p:extLst>
      <p:ext uri="{BB962C8B-B14F-4D97-AF65-F5344CB8AC3E}">
        <p14:creationId xmlns:p14="http://schemas.microsoft.com/office/powerpoint/2010/main" val="326790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245416" y="1205543"/>
            <a:ext cx="11547969" cy="1323439"/>
          </a:xfrm>
          <a:prstGeom prst="rect">
            <a:avLst/>
          </a:prstGeom>
          <a:noFill/>
        </p:spPr>
        <p:txBody>
          <a:bodyPr wrap="none" rtlCol="0">
            <a:spAutoFit/>
          </a:bodyPr>
          <a:lstStyle/>
          <a:p>
            <a:pPr algn="ctr"/>
            <a:r>
              <a:rPr lang="fr-FR" sz="4000" dirty="0">
                <a:latin typeface="Calibri" panose="020F0502020204030204" pitchFamily="34" charset="0"/>
                <a:ea typeface="Calibri" panose="020F0502020204030204" pitchFamily="34" charset="0"/>
                <a:cs typeface="Calibri" panose="020F0502020204030204" pitchFamily="34" charset="0"/>
              </a:rPr>
              <a:t>The					</a:t>
            </a:r>
            <a:r>
              <a:rPr lang="fr-FR" sz="4000" dirty="0" err="1">
                <a:latin typeface="Calibri" panose="020F0502020204030204" pitchFamily="34" charset="0"/>
                <a:ea typeface="Calibri" panose="020F0502020204030204" pitchFamily="34" charset="0"/>
                <a:cs typeface="Calibri" panose="020F0502020204030204" pitchFamily="34" charset="0"/>
              </a:rPr>
              <a:t>database</a:t>
            </a:r>
            <a:r>
              <a:rPr lang="en-US" sz="4000" dirty="0">
                <a:latin typeface="Calibri" panose="020F0502020204030204" pitchFamily="34" charset="0"/>
                <a:ea typeface="Calibri" panose="020F0502020204030204" pitchFamily="34" charset="0"/>
                <a:cs typeface="Calibri" panose="020F0502020204030204" pitchFamily="34" charset="0"/>
              </a:rPr>
              <a:t>:</a:t>
            </a:r>
          </a:p>
          <a:p>
            <a:pPr algn="ctr"/>
            <a:r>
              <a:rPr lang="en-US" sz="4000" dirty="0">
                <a:latin typeface="Calibri" panose="020F0502020204030204" pitchFamily="34" charset="0"/>
                <a:ea typeface="Calibri" panose="020F0502020204030204" pitchFamily="34" charset="0"/>
                <a:cs typeface="Calibri" panose="020F0502020204030204" pitchFamily="34" charset="0"/>
              </a:rPr>
              <a:t> purpose, scope, content, functioning and perspectives</a:t>
            </a:r>
            <a:endParaRPr lang="fr-FR"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666700" y="849457"/>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7C94417C-AF8A-4468-BC85-E43961A1A4F8}"/>
              </a:ext>
            </a:extLst>
          </p:cNvPr>
          <p:cNvSpPr txBox="1"/>
          <p:nvPr/>
        </p:nvSpPr>
        <p:spPr>
          <a:xfrm>
            <a:off x="341412" y="2856636"/>
            <a:ext cx="11509176" cy="461665"/>
          </a:xfrm>
          <a:prstGeom prst="rect">
            <a:avLst/>
          </a:prstGeom>
          <a:noFill/>
        </p:spPr>
        <p:txBody>
          <a:bodyPr wrap="none" rtlCol="0">
            <a:spAutoFit/>
          </a:bodyPr>
          <a:lstStyle/>
          <a:p>
            <a:r>
              <a:rPr lang="en-US" sz="2400" dirty="0"/>
              <a:t>Bruno Colas, Isabelle </a:t>
            </a:r>
            <a:r>
              <a:rPr lang="en-US" sz="2400" dirty="0" err="1"/>
              <a:t>Baly</a:t>
            </a:r>
            <a:r>
              <a:rPr lang="en-US" sz="2400" dirty="0"/>
              <a:t>, Linda Angulo Lopez, </a:t>
            </a:r>
            <a:r>
              <a:rPr lang="en-US" sz="2400" dirty="0" err="1"/>
              <a:t>Zixuan</a:t>
            </a:r>
            <a:r>
              <a:rPr lang="en-US" sz="2400" dirty="0"/>
              <a:t> Xu, Carline </a:t>
            </a:r>
            <a:r>
              <a:rPr lang="en-US" sz="2400" dirty="0" err="1"/>
              <a:t>Pitz</a:t>
            </a:r>
            <a:r>
              <a:rPr lang="en-US" sz="2400" dirty="0"/>
              <a:t> and François </a:t>
            </a:r>
            <a:r>
              <a:rPr lang="en-US" sz="2400" dirty="0" err="1"/>
              <a:t>Sarrazin</a:t>
            </a:r>
            <a:endParaRPr lang="fr-FR" sz="2400" dirty="0"/>
          </a:p>
        </p:txBody>
      </p:sp>
      <p:pic>
        <p:nvPicPr>
          <p:cNvPr id="7" name="Image 6">
            <a:extLst>
              <a:ext uri="{FF2B5EF4-FFF2-40B4-BE49-F238E27FC236}">
                <a16:creationId xmlns:a16="http://schemas.microsoft.com/office/drawing/2014/main" id="{8E4234A0-75B7-4FE3-B7FA-C4C4FED0A6A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53717" y="3979380"/>
            <a:ext cx="1804021" cy="1353016"/>
          </a:xfrm>
          <a:prstGeom prst="rect">
            <a:avLst/>
          </a:prstGeom>
        </p:spPr>
      </p:pic>
      <p:pic>
        <p:nvPicPr>
          <p:cNvPr id="11" name="Image 10">
            <a:extLst>
              <a:ext uri="{FF2B5EF4-FFF2-40B4-BE49-F238E27FC236}">
                <a16:creationId xmlns:a16="http://schemas.microsoft.com/office/drawing/2014/main" id="{FB06D1C9-4085-4D63-B422-333D8387D7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4984" y="4113199"/>
            <a:ext cx="3381989" cy="1086039"/>
          </a:xfrm>
          <a:prstGeom prst="rect">
            <a:avLst/>
          </a:prstGeom>
        </p:spPr>
      </p:pic>
      <p:pic>
        <p:nvPicPr>
          <p:cNvPr id="15" name="Image 14">
            <a:extLst>
              <a:ext uri="{FF2B5EF4-FFF2-40B4-BE49-F238E27FC236}">
                <a16:creationId xmlns:a16="http://schemas.microsoft.com/office/drawing/2014/main" id="{FDBCD6B8-AEAE-41B1-9D78-658A996309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77991" y="5324952"/>
            <a:ext cx="2198219" cy="1508741"/>
          </a:xfrm>
          <a:prstGeom prst="rect">
            <a:avLst/>
          </a:prstGeom>
        </p:spPr>
      </p:pic>
      <p:pic>
        <p:nvPicPr>
          <p:cNvPr id="17" name="Image 16">
            <a:extLst>
              <a:ext uri="{FF2B5EF4-FFF2-40B4-BE49-F238E27FC236}">
                <a16:creationId xmlns:a16="http://schemas.microsoft.com/office/drawing/2014/main" id="{39F22270-F96E-486B-9705-09DFBA9E8AA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737442" y="3999056"/>
            <a:ext cx="1751551" cy="1313664"/>
          </a:xfrm>
          <a:prstGeom prst="rect">
            <a:avLst/>
          </a:prstGeom>
        </p:spPr>
      </p:pic>
      <p:pic>
        <p:nvPicPr>
          <p:cNvPr id="19" name="Image 18">
            <a:extLst>
              <a:ext uri="{FF2B5EF4-FFF2-40B4-BE49-F238E27FC236}">
                <a16:creationId xmlns:a16="http://schemas.microsoft.com/office/drawing/2014/main" id="{C352ACE8-EC14-4AEE-9C34-97B1526AF97B}"/>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221459" y="5451023"/>
            <a:ext cx="1675468" cy="1256601"/>
          </a:xfrm>
          <a:prstGeom prst="rect">
            <a:avLst/>
          </a:prstGeom>
        </p:spPr>
      </p:pic>
      <p:pic>
        <p:nvPicPr>
          <p:cNvPr id="21" name="Image 20">
            <a:extLst>
              <a:ext uri="{FF2B5EF4-FFF2-40B4-BE49-F238E27FC236}">
                <a16:creationId xmlns:a16="http://schemas.microsoft.com/office/drawing/2014/main" id="{34C61E4F-3BCB-465E-8299-747DFE3AFE9E}"/>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2268858" y="5639801"/>
            <a:ext cx="1017384" cy="914586"/>
          </a:xfrm>
          <a:prstGeom prst="rect">
            <a:avLst/>
          </a:prstGeom>
        </p:spPr>
      </p:pic>
      <p:pic>
        <p:nvPicPr>
          <p:cNvPr id="23" name="Image 22">
            <a:extLst>
              <a:ext uri="{FF2B5EF4-FFF2-40B4-BE49-F238E27FC236}">
                <a16:creationId xmlns:a16="http://schemas.microsoft.com/office/drawing/2014/main" id="{84F93207-95FF-4280-BF84-7C13CB2E83BA}"/>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3638356" y="5451023"/>
            <a:ext cx="1675468" cy="1256601"/>
          </a:xfrm>
          <a:prstGeom prst="rect">
            <a:avLst/>
          </a:prstGeom>
        </p:spPr>
      </p:pic>
      <p:pic>
        <p:nvPicPr>
          <p:cNvPr id="27" name="Image 26">
            <a:extLst>
              <a:ext uri="{FF2B5EF4-FFF2-40B4-BE49-F238E27FC236}">
                <a16:creationId xmlns:a16="http://schemas.microsoft.com/office/drawing/2014/main" id="{CE6778C0-1F86-4A86-9F30-EC4A849C585F}"/>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5798521" y="5537895"/>
            <a:ext cx="994773" cy="1118398"/>
          </a:xfrm>
          <a:prstGeom prst="rect">
            <a:avLst/>
          </a:prstGeom>
        </p:spPr>
      </p:pic>
      <p:pic>
        <p:nvPicPr>
          <p:cNvPr id="29" name="Image 28">
            <a:extLst>
              <a:ext uri="{FF2B5EF4-FFF2-40B4-BE49-F238E27FC236}">
                <a16:creationId xmlns:a16="http://schemas.microsoft.com/office/drawing/2014/main" id="{BAFA908B-8755-4412-9376-53543FEC101F}"/>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9975812" y="5385942"/>
            <a:ext cx="1762242" cy="1321682"/>
          </a:xfrm>
          <a:prstGeom prst="rect">
            <a:avLst/>
          </a:prstGeom>
        </p:spPr>
      </p:pic>
      <p:pic>
        <p:nvPicPr>
          <p:cNvPr id="31" name="Image 30">
            <a:extLst>
              <a:ext uri="{FF2B5EF4-FFF2-40B4-BE49-F238E27FC236}">
                <a16:creationId xmlns:a16="http://schemas.microsoft.com/office/drawing/2014/main" id="{3DB3E5D6-276B-40FE-B1EB-44D8B3802F4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447774" y="4101992"/>
            <a:ext cx="1675468" cy="1107793"/>
          </a:xfrm>
          <a:prstGeom prst="rect">
            <a:avLst/>
          </a:prstGeom>
        </p:spPr>
      </p:pic>
    </p:spTree>
    <p:extLst>
      <p:ext uri="{BB962C8B-B14F-4D97-AF65-F5344CB8AC3E}">
        <p14:creationId xmlns:p14="http://schemas.microsoft.com/office/powerpoint/2010/main" val="4082424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4593823" y="3201538"/>
            <a:ext cx="3004349"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Purpose</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13247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1462745"/>
            <a:ext cx="11002297" cy="646331"/>
          </a:xfrm>
          <a:prstGeom prst="rect">
            <a:avLst/>
          </a:prstGeom>
          <a:noFill/>
        </p:spPr>
        <p:txBody>
          <a:bodyPr wrap="square" rtlCol="0">
            <a:spAutoFit/>
          </a:bodyPr>
          <a:lstStyle/>
          <a:p>
            <a:pPr>
              <a:spcBef>
                <a:spcPts val="1800"/>
              </a:spcBef>
            </a:pPr>
            <a:r>
              <a:rPr lang="en-US" sz="3600" b="1" dirty="0"/>
              <a:t>Context</a:t>
            </a:r>
          </a:p>
        </p:txBody>
      </p:sp>
      <p:sp>
        <p:nvSpPr>
          <p:cNvPr id="5" name="ZoneTexte 4">
            <a:extLst>
              <a:ext uri="{FF2B5EF4-FFF2-40B4-BE49-F238E27FC236}">
                <a16:creationId xmlns:a16="http://schemas.microsoft.com/office/drawing/2014/main" id="{5CDB9C6C-60A5-4F81-BC05-55F0CBC41E20}"/>
              </a:ext>
            </a:extLst>
          </p:cNvPr>
          <p:cNvSpPr txBox="1"/>
          <p:nvPr/>
        </p:nvSpPr>
        <p:spPr>
          <a:xfrm>
            <a:off x="444614" y="2365106"/>
            <a:ext cx="11002297" cy="3170099"/>
          </a:xfrm>
          <a:prstGeom prst="rect">
            <a:avLst/>
          </a:prstGeom>
          <a:noFill/>
        </p:spPr>
        <p:txBody>
          <a:bodyPr wrap="square" rtlCol="0">
            <a:spAutoFit/>
          </a:bodyPr>
          <a:lstStyle/>
          <a:p>
            <a:pPr>
              <a:spcBef>
                <a:spcPts val="1800"/>
              </a:spcBef>
            </a:pPr>
            <a:r>
              <a:rPr lang="en-US" sz="2800" dirty="0"/>
              <a:t>Translocation projects 		---		</a:t>
            </a:r>
            <a:r>
              <a:rPr lang="en-US" sz="2800" i="1" dirty="0"/>
              <a:t>increasing</a:t>
            </a:r>
          </a:p>
          <a:p>
            <a:pPr>
              <a:spcBef>
                <a:spcPts val="1800"/>
              </a:spcBef>
            </a:pPr>
            <a:r>
              <a:rPr lang="en-US" sz="2800" dirty="0"/>
              <a:t>Efforts to implement translocations 	---	</a:t>
            </a:r>
            <a:r>
              <a:rPr lang="en-US" sz="2800" i="1" dirty="0"/>
              <a:t>heterogeneous</a:t>
            </a:r>
          </a:p>
          <a:p>
            <a:pPr>
              <a:spcBef>
                <a:spcPts val="1800"/>
              </a:spcBef>
            </a:pPr>
            <a:r>
              <a:rPr lang="en-US" sz="2800" dirty="0"/>
              <a:t>Monitoring				---		</a:t>
            </a:r>
            <a:r>
              <a:rPr lang="en-US" sz="2800" i="1" dirty="0"/>
              <a:t>heterogeneous</a:t>
            </a:r>
          </a:p>
          <a:p>
            <a:pPr>
              <a:spcBef>
                <a:spcPts val="1800"/>
              </a:spcBef>
            </a:pPr>
            <a:r>
              <a:rPr lang="en-US" sz="2800" dirty="0"/>
              <a:t>Vocabulary 				---		</a:t>
            </a:r>
            <a:r>
              <a:rPr lang="en-US" sz="2800" i="1" dirty="0"/>
              <a:t>source of misunderstanding</a:t>
            </a:r>
          </a:p>
          <a:p>
            <a:pPr>
              <a:spcBef>
                <a:spcPts val="1800"/>
              </a:spcBef>
            </a:pPr>
            <a:r>
              <a:rPr lang="en-US" sz="2800" dirty="0"/>
              <a:t>Data					---		</a:t>
            </a:r>
            <a:r>
              <a:rPr lang="en-US" sz="2800" i="1" dirty="0"/>
              <a:t>scattered (grey literature)</a:t>
            </a:r>
          </a:p>
        </p:txBody>
      </p:sp>
      <p:sp>
        <p:nvSpPr>
          <p:cNvPr id="6" name="ZoneTexte 5">
            <a:extLst>
              <a:ext uri="{FF2B5EF4-FFF2-40B4-BE49-F238E27FC236}">
                <a16:creationId xmlns:a16="http://schemas.microsoft.com/office/drawing/2014/main" id="{7D6A6610-CC2E-4371-B187-D55E16A1F100}"/>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Purpose</a:t>
            </a:r>
          </a:p>
        </p:txBody>
      </p:sp>
      <p:cxnSp>
        <p:nvCxnSpPr>
          <p:cNvPr id="7" name="Connecteur droit 6">
            <a:extLst>
              <a:ext uri="{FF2B5EF4-FFF2-40B4-BE49-F238E27FC236}">
                <a16:creationId xmlns:a16="http://schemas.microsoft.com/office/drawing/2014/main" id="{0F2CA759-1BFA-456C-A658-AF7BC3EB2034}"/>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58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1462745"/>
            <a:ext cx="11002297" cy="646331"/>
          </a:xfrm>
          <a:prstGeom prst="rect">
            <a:avLst/>
          </a:prstGeom>
          <a:noFill/>
        </p:spPr>
        <p:txBody>
          <a:bodyPr wrap="square" rtlCol="0">
            <a:spAutoFit/>
          </a:bodyPr>
          <a:lstStyle/>
          <a:p>
            <a:pPr>
              <a:spcBef>
                <a:spcPts val="1800"/>
              </a:spcBef>
            </a:pPr>
            <a:r>
              <a:rPr lang="en-US" sz="3600" b="1" dirty="0"/>
              <a:t>Objectives (short-term)</a:t>
            </a:r>
          </a:p>
        </p:txBody>
      </p:sp>
      <p:sp>
        <p:nvSpPr>
          <p:cNvPr id="5" name="ZoneTexte 4">
            <a:extLst>
              <a:ext uri="{FF2B5EF4-FFF2-40B4-BE49-F238E27FC236}">
                <a16:creationId xmlns:a16="http://schemas.microsoft.com/office/drawing/2014/main" id="{5CDB9C6C-60A5-4F81-BC05-55F0CBC41E20}"/>
              </a:ext>
            </a:extLst>
          </p:cNvPr>
          <p:cNvSpPr txBox="1"/>
          <p:nvPr/>
        </p:nvSpPr>
        <p:spPr>
          <a:xfrm>
            <a:off x="444614" y="2365105"/>
            <a:ext cx="11002297" cy="3370153"/>
          </a:xfrm>
          <a:prstGeom prst="rect">
            <a:avLst/>
          </a:prstGeom>
          <a:noFill/>
        </p:spPr>
        <p:txBody>
          <a:bodyPr wrap="square" rtlCol="0">
            <a:spAutoFit/>
          </a:bodyPr>
          <a:lstStyle/>
          <a:p>
            <a:pPr>
              <a:spcBef>
                <a:spcPts val="1800"/>
              </a:spcBef>
            </a:pPr>
            <a:r>
              <a:rPr lang="en-US" sz="2800" dirty="0"/>
              <a:t>Collect data and documentation on translocations and make the data more widely available</a:t>
            </a:r>
          </a:p>
          <a:p>
            <a:pPr>
              <a:spcBef>
                <a:spcPts val="1800"/>
              </a:spcBef>
            </a:pPr>
            <a:r>
              <a:rPr lang="en-US" sz="2800" dirty="0"/>
              <a:t>Standardize the language used and the translocation data</a:t>
            </a:r>
          </a:p>
          <a:p>
            <a:pPr>
              <a:spcBef>
                <a:spcPts val="1800"/>
              </a:spcBef>
            </a:pPr>
            <a:r>
              <a:rPr lang="en-US" sz="2800" dirty="0"/>
              <a:t>Inform those involved in translocations about past translocations and the data available on them</a:t>
            </a:r>
          </a:p>
          <a:p>
            <a:pPr>
              <a:spcBef>
                <a:spcPts val="1800"/>
              </a:spcBef>
            </a:pPr>
            <a:r>
              <a:rPr lang="en-US" sz="2800" dirty="0"/>
              <a:t>Enable translocation stakeholders to enter their own data</a:t>
            </a:r>
          </a:p>
        </p:txBody>
      </p:sp>
      <p:sp>
        <p:nvSpPr>
          <p:cNvPr id="6" name="ZoneTexte 5">
            <a:extLst>
              <a:ext uri="{FF2B5EF4-FFF2-40B4-BE49-F238E27FC236}">
                <a16:creationId xmlns:a16="http://schemas.microsoft.com/office/drawing/2014/main" id="{C2A87344-B044-4C0A-964E-E5DEFAF0F0A0}"/>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Purpose</a:t>
            </a:r>
          </a:p>
        </p:txBody>
      </p:sp>
      <p:cxnSp>
        <p:nvCxnSpPr>
          <p:cNvPr id="7" name="Connecteur droit 6">
            <a:extLst>
              <a:ext uri="{FF2B5EF4-FFF2-40B4-BE49-F238E27FC236}">
                <a16:creationId xmlns:a16="http://schemas.microsoft.com/office/drawing/2014/main" id="{83BAAD95-C970-472A-ACB8-829C32ABDFEF}"/>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609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1462745"/>
            <a:ext cx="11002297" cy="646331"/>
          </a:xfrm>
          <a:prstGeom prst="rect">
            <a:avLst/>
          </a:prstGeom>
          <a:noFill/>
        </p:spPr>
        <p:txBody>
          <a:bodyPr wrap="square" rtlCol="0">
            <a:spAutoFit/>
          </a:bodyPr>
          <a:lstStyle/>
          <a:p>
            <a:pPr>
              <a:spcBef>
                <a:spcPts val="1800"/>
              </a:spcBef>
            </a:pPr>
            <a:r>
              <a:rPr lang="en-US" sz="3600" b="1" dirty="0"/>
              <a:t>Objectives (long-term)</a:t>
            </a:r>
          </a:p>
        </p:txBody>
      </p:sp>
      <p:sp>
        <p:nvSpPr>
          <p:cNvPr id="5" name="ZoneTexte 4">
            <a:extLst>
              <a:ext uri="{FF2B5EF4-FFF2-40B4-BE49-F238E27FC236}">
                <a16:creationId xmlns:a16="http://schemas.microsoft.com/office/drawing/2014/main" id="{5CDB9C6C-60A5-4F81-BC05-55F0CBC41E20}"/>
              </a:ext>
            </a:extLst>
          </p:cNvPr>
          <p:cNvSpPr txBox="1"/>
          <p:nvPr/>
        </p:nvSpPr>
        <p:spPr>
          <a:xfrm>
            <a:off x="444614" y="2365105"/>
            <a:ext cx="11002297" cy="2708434"/>
          </a:xfrm>
          <a:prstGeom prst="rect">
            <a:avLst/>
          </a:prstGeom>
          <a:noFill/>
        </p:spPr>
        <p:txBody>
          <a:bodyPr wrap="square" rtlCol="0">
            <a:spAutoFit/>
          </a:bodyPr>
          <a:lstStyle/>
          <a:p>
            <a:pPr>
              <a:spcBef>
                <a:spcPts val="1800"/>
              </a:spcBef>
            </a:pPr>
            <a:r>
              <a:rPr lang="en-US" sz="2800" dirty="0">
                <a:sym typeface="Wingdings" panose="05000000000000000000" pitchFamily="2" charset="2"/>
              </a:rPr>
              <a:t></a:t>
            </a:r>
            <a:r>
              <a:rPr lang="en-US" sz="2800" dirty="0"/>
              <a:t> Promote exchanges between translocation stakeholders: managers, decision-makers, experts, researchers</a:t>
            </a:r>
          </a:p>
          <a:p>
            <a:pPr>
              <a:spcBef>
                <a:spcPts val="1800"/>
              </a:spcBef>
            </a:pPr>
            <a:r>
              <a:rPr lang="en-US" sz="2800" dirty="0">
                <a:sym typeface="Wingdings" panose="05000000000000000000" pitchFamily="2" charset="2"/>
              </a:rPr>
              <a:t></a:t>
            </a:r>
            <a:r>
              <a:rPr lang="en-US" sz="2800" dirty="0"/>
              <a:t> Facilitate research on translocations</a:t>
            </a:r>
          </a:p>
          <a:p>
            <a:pPr>
              <a:spcBef>
                <a:spcPts val="1800"/>
              </a:spcBef>
            </a:pPr>
            <a:r>
              <a:rPr lang="en-US" sz="2800" dirty="0">
                <a:sym typeface="Wingdings" panose="05000000000000000000" pitchFamily="2" charset="2"/>
              </a:rPr>
              <a:t></a:t>
            </a:r>
            <a:r>
              <a:rPr lang="en-US" sz="2800" dirty="0"/>
              <a:t> Improve future translocations and inform decisions on whether or not to translocate</a:t>
            </a:r>
          </a:p>
        </p:txBody>
      </p:sp>
      <p:sp>
        <p:nvSpPr>
          <p:cNvPr id="6" name="ZoneTexte 5">
            <a:extLst>
              <a:ext uri="{FF2B5EF4-FFF2-40B4-BE49-F238E27FC236}">
                <a16:creationId xmlns:a16="http://schemas.microsoft.com/office/drawing/2014/main" id="{1DF16160-36A5-4A45-A959-F85FD296B0EF}"/>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Purpose</a:t>
            </a:r>
          </a:p>
        </p:txBody>
      </p:sp>
      <p:cxnSp>
        <p:nvCxnSpPr>
          <p:cNvPr id="7" name="Connecteur droit 6">
            <a:extLst>
              <a:ext uri="{FF2B5EF4-FFF2-40B4-BE49-F238E27FC236}">
                <a16:creationId xmlns:a16="http://schemas.microsoft.com/office/drawing/2014/main" id="{A5863A33-E554-4969-9A32-20260522AB28}"/>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603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4978063" y="3201538"/>
            <a:ext cx="2235868"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Scope</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3456011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pic>
        <p:nvPicPr>
          <p:cNvPr id="17" name="Image 16">
            <a:extLst>
              <a:ext uri="{FF2B5EF4-FFF2-40B4-BE49-F238E27FC236}">
                <a16:creationId xmlns:a16="http://schemas.microsoft.com/office/drawing/2014/main" id="{A1F5876E-9AC8-448C-A726-DECC5DAB715F}"/>
              </a:ext>
            </a:extLst>
          </p:cNvPr>
          <p:cNvPicPr>
            <a:picLocks noChangeAspect="1"/>
          </p:cNvPicPr>
          <p:nvPr/>
        </p:nvPicPr>
        <p:blipFill>
          <a:blip r:embed="rId4"/>
          <a:stretch>
            <a:fillRect/>
          </a:stretch>
        </p:blipFill>
        <p:spPr>
          <a:xfrm>
            <a:off x="5083857" y="1552162"/>
            <a:ext cx="6813293" cy="5143500"/>
          </a:xfrm>
          <a:prstGeom prst="rect">
            <a:avLst/>
          </a:prstGeom>
        </p:spPr>
      </p:pic>
      <p:sp>
        <p:nvSpPr>
          <p:cNvPr id="18" name="ZoneTexte 17">
            <a:extLst>
              <a:ext uri="{FF2B5EF4-FFF2-40B4-BE49-F238E27FC236}">
                <a16:creationId xmlns:a16="http://schemas.microsoft.com/office/drawing/2014/main" id="{FAD28C5D-5399-4D54-9E6D-9CDAFA8094A3}"/>
              </a:ext>
            </a:extLst>
          </p:cNvPr>
          <p:cNvSpPr txBox="1"/>
          <p:nvPr/>
        </p:nvSpPr>
        <p:spPr>
          <a:xfrm>
            <a:off x="6988785" y="897632"/>
            <a:ext cx="3003436" cy="523220"/>
          </a:xfrm>
          <a:prstGeom prst="rect">
            <a:avLst/>
          </a:prstGeom>
          <a:noFill/>
        </p:spPr>
        <p:txBody>
          <a:bodyPr wrap="square" rtlCol="0">
            <a:spAutoFit/>
          </a:bodyPr>
          <a:lstStyle/>
          <a:p>
            <a:pPr>
              <a:spcBef>
                <a:spcPts val="1800"/>
              </a:spcBef>
            </a:pPr>
            <a:r>
              <a:rPr lang="en-US" sz="2800" dirty="0"/>
              <a:t>Western Palearctic</a:t>
            </a:r>
          </a:p>
        </p:txBody>
      </p:sp>
      <p:pic>
        <p:nvPicPr>
          <p:cNvPr id="19" name="Picture 2" descr="Scarab beetle insect icon flat style symbol Vector Image">
            <a:extLst>
              <a:ext uri="{FF2B5EF4-FFF2-40B4-BE49-F238E27FC236}">
                <a16:creationId xmlns:a16="http://schemas.microsoft.com/office/drawing/2014/main" id="{AB46C705-18F2-4F0A-A01C-076FB4A338F7}"/>
              </a:ext>
            </a:extLst>
          </p:cNvPr>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17315" b="76389" l="23690" r="85585">
                        <a14:foregroundMark x1="54234" y1="20648" x2="54234" y2="20648"/>
                        <a14:foregroundMark x1="54335" y1="18241" x2="54335" y2="18241"/>
                        <a14:foregroundMark x1="44657" y1="17778" x2="44657" y2="17778"/>
                        <a14:foregroundMark x1="53931" y1="17315" x2="53931" y2="17315"/>
                      </a14:backgroundRemoval>
                    </a14:imgEffect>
                  </a14:imgLayer>
                </a14:imgProps>
              </a:ext>
              <a:ext uri="{28A0092B-C50C-407E-A947-70E740481C1C}">
                <a14:useLocalDpi xmlns:a14="http://schemas.microsoft.com/office/drawing/2010/main" val="0"/>
              </a:ext>
            </a:extLst>
          </a:blip>
          <a:srcRect l="15973" t="14046" r="6297" b="16508"/>
          <a:stretch/>
        </p:blipFill>
        <p:spPr bwMode="auto">
          <a:xfrm>
            <a:off x="3645694" y="1867612"/>
            <a:ext cx="1171974" cy="11399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
            <a:extLst>
              <a:ext uri="{FF2B5EF4-FFF2-40B4-BE49-F238E27FC236}">
                <a16:creationId xmlns:a16="http://schemas.microsoft.com/office/drawing/2014/main" id="{B2192CB0-54BA-4CED-8E81-9306F09A820F}"/>
              </a:ext>
            </a:extLst>
          </p:cNvPr>
          <p:cNvPicPr>
            <a:picLocks noChangeAspect="1"/>
          </p:cNvPicPr>
          <p:nvPr/>
        </p:nvPicPr>
        <p:blipFill rotWithShape="1">
          <a:blip r:embed="rId7">
            <a:extLst>
              <a:ext uri="{BEBA8EAE-BF5A-486C-A8C5-ECC9F3942E4B}">
                <a14:imgProps xmlns:a14="http://schemas.microsoft.com/office/drawing/2010/main">
                  <a14:imgLayer r:embed="rId8">
                    <a14:imgEffect>
                      <a14:backgroundRemoval t="8889" b="85741" l="9920" r="93487">
                        <a14:foregroundMark x1="93587" y1="67685" x2="93587" y2="67685"/>
                        <a14:foregroundMark x1="60321" y1="81944" x2="60321" y2="81944"/>
                        <a14:foregroundMark x1="47295" y1="82685" x2="47295" y2="82685"/>
                        <a14:foregroundMark x1="86774" y1="85741" x2="86774" y2="85741"/>
                      </a14:backgroundRemoval>
                    </a14:imgEffect>
                  </a14:imgLayer>
                </a14:imgProps>
              </a:ext>
            </a:extLst>
          </a:blip>
          <a:srcRect b="9841"/>
          <a:stretch/>
        </p:blipFill>
        <p:spPr>
          <a:xfrm>
            <a:off x="1579934" y="1757073"/>
            <a:ext cx="1546511" cy="1508880"/>
          </a:xfrm>
          <a:prstGeom prst="rect">
            <a:avLst/>
          </a:prstGeom>
        </p:spPr>
      </p:pic>
      <p:pic>
        <p:nvPicPr>
          <p:cNvPr id="21" name="Picture 6" descr="Vetor de vector realistic illustration of a lynx isolated on white  background do Stock | Adobe Stock">
            <a:extLst>
              <a:ext uri="{FF2B5EF4-FFF2-40B4-BE49-F238E27FC236}">
                <a16:creationId xmlns:a16="http://schemas.microsoft.com/office/drawing/2014/main" id="{59EF9B42-B7AD-40B7-A767-1AE9BE11E63F}"/>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9883" b="90117" l="4800" r="93900">
                        <a14:foregroundMark x1="8700" y1="27308" x2="8700" y2="27308"/>
                        <a14:foregroundMark x1="4800" y1="28218" x2="4800" y2="28218"/>
                        <a14:foregroundMark x1="13900" y1="11704" x2="13900" y2="11704"/>
                        <a14:foregroundMark x1="90500" y1="86086" x2="90500" y2="86086"/>
                        <a14:foregroundMark x1="93900" y1="72432" x2="93900" y2="72432"/>
                        <a14:foregroundMark x1="87300" y1="90117" x2="87300" y2="90117"/>
                      </a14:backgroundRemoval>
                    </a14:imgEffect>
                  </a14:imgLayer>
                </a14:imgProps>
              </a:ext>
              <a:ext uri="{28A0092B-C50C-407E-A947-70E740481C1C}">
                <a14:useLocalDpi xmlns:a14="http://schemas.microsoft.com/office/drawing/2010/main" val="0"/>
              </a:ext>
            </a:extLst>
          </a:blip>
          <a:srcRect/>
          <a:stretch>
            <a:fillRect/>
          </a:stretch>
        </p:blipFill>
        <p:spPr bwMode="auto">
          <a:xfrm>
            <a:off x="294850" y="4863780"/>
            <a:ext cx="1638645" cy="1260050"/>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 22">
            <a:extLst>
              <a:ext uri="{FF2B5EF4-FFF2-40B4-BE49-F238E27FC236}">
                <a16:creationId xmlns:a16="http://schemas.microsoft.com/office/drawing/2014/main" id="{E5BE86A4-A3A0-419B-B290-272583C0636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97319" y="3476742"/>
            <a:ext cx="1618705" cy="1599976"/>
          </a:xfrm>
          <a:prstGeom prst="rect">
            <a:avLst/>
          </a:prstGeom>
        </p:spPr>
      </p:pic>
      <p:pic>
        <p:nvPicPr>
          <p:cNvPr id="25" name="Image 24">
            <a:extLst>
              <a:ext uri="{FF2B5EF4-FFF2-40B4-BE49-F238E27FC236}">
                <a16:creationId xmlns:a16="http://schemas.microsoft.com/office/drawing/2014/main" id="{D1997961-37B2-4055-907F-5490D8816726}"/>
              </a:ext>
            </a:extLst>
          </p:cNvPr>
          <p:cNvPicPr>
            <a:picLocks noChangeAspect="1"/>
          </p:cNvPicPr>
          <p:nvPr/>
        </p:nvPicPr>
        <p:blipFill>
          <a:blip r:embed="rId12"/>
          <a:stretch>
            <a:fillRect/>
          </a:stretch>
        </p:blipFill>
        <p:spPr>
          <a:xfrm>
            <a:off x="2124597" y="3563320"/>
            <a:ext cx="1912923" cy="1121185"/>
          </a:xfrm>
          <a:prstGeom prst="rect">
            <a:avLst/>
          </a:prstGeom>
        </p:spPr>
      </p:pic>
      <p:pic>
        <p:nvPicPr>
          <p:cNvPr id="27" name="Image 26">
            <a:extLst>
              <a:ext uri="{FF2B5EF4-FFF2-40B4-BE49-F238E27FC236}">
                <a16:creationId xmlns:a16="http://schemas.microsoft.com/office/drawing/2014/main" id="{5696D93D-0A53-4B26-9698-21793DE9521C}"/>
              </a:ext>
            </a:extLst>
          </p:cNvPr>
          <p:cNvPicPr>
            <a:picLocks noChangeAspect="1"/>
          </p:cNvPicPr>
          <p:nvPr/>
        </p:nvPicPr>
        <p:blipFill>
          <a:blip r:embed="rId13"/>
          <a:stretch>
            <a:fillRect/>
          </a:stretch>
        </p:blipFill>
        <p:spPr>
          <a:xfrm>
            <a:off x="171915" y="1308677"/>
            <a:ext cx="1331179" cy="2100305"/>
          </a:xfrm>
          <a:prstGeom prst="rect">
            <a:avLst/>
          </a:prstGeom>
        </p:spPr>
      </p:pic>
      <p:pic>
        <p:nvPicPr>
          <p:cNvPr id="29" name="Image 28">
            <a:extLst>
              <a:ext uri="{FF2B5EF4-FFF2-40B4-BE49-F238E27FC236}">
                <a16:creationId xmlns:a16="http://schemas.microsoft.com/office/drawing/2014/main" id="{7580EFBD-AEAD-49B4-9C7C-A8CE8670F0B8}"/>
              </a:ext>
            </a:extLst>
          </p:cNvPr>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2239972" y="4808392"/>
            <a:ext cx="1534840" cy="1458098"/>
          </a:xfrm>
          <a:prstGeom prst="rect">
            <a:avLst/>
          </a:prstGeom>
        </p:spPr>
      </p:pic>
      <p:sp>
        <p:nvSpPr>
          <p:cNvPr id="30" name="ZoneTexte 29">
            <a:extLst>
              <a:ext uri="{FF2B5EF4-FFF2-40B4-BE49-F238E27FC236}">
                <a16:creationId xmlns:a16="http://schemas.microsoft.com/office/drawing/2014/main" id="{E474A38B-E779-489E-A88F-F3FDC69340ED}"/>
              </a:ext>
            </a:extLst>
          </p:cNvPr>
          <p:cNvSpPr txBox="1"/>
          <p:nvPr/>
        </p:nvSpPr>
        <p:spPr>
          <a:xfrm>
            <a:off x="1148211" y="1159242"/>
            <a:ext cx="3458210" cy="523220"/>
          </a:xfrm>
          <a:prstGeom prst="rect">
            <a:avLst/>
          </a:prstGeom>
          <a:noFill/>
        </p:spPr>
        <p:txBody>
          <a:bodyPr wrap="square" rtlCol="0">
            <a:spAutoFit/>
          </a:bodyPr>
          <a:lstStyle/>
          <a:p>
            <a:pPr>
              <a:spcBef>
                <a:spcPts val="1800"/>
              </a:spcBef>
            </a:pPr>
            <a:r>
              <a:rPr lang="en-US" sz="2800" dirty="0"/>
              <a:t>Plants, animals, fungi</a:t>
            </a:r>
          </a:p>
        </p:txBody>
      </p:sp>
      <p:sp>
        <p:nvSpPr>
          <p:cNvPr id="14" name="ZoneTexte 13">
            <a:extLst>
              <a:ext uri="{FF2B5EF4-FFF2-40B4-BE49-F238E27FC236}">
                <a16:creationId xmlns:a16="http://schemas.microsoft.com/office/drawing/2014/main" id="{5B0E9BBA-4C1D-4D26-9BCD-2BB0DFC5FA63}"/>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Scope</a:t>
            </a:r>
          </a:p>
        </p:txBody>
      </p:sp>
      <p:cxnSp>
        <p:nvCxnSpPr>
          <p:cNvPr id="15" name="Connecteur droit 14">
            <a:extLst>
              <a:ext uri="{FF2B5EF4-FFF2-40B4-BE49-F238E27FC236}">
                <a16:creationId xmlns:a16="http://schemas.microsoft.com/office/drawing/2014/main" id="{54F04693-3633-4F14-B6EF-8018D792BC37}"/>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F56A5086-A628-4262-988C-5F78ACD6E89A}"/>
              </a:ext>
            </a:extLst>
          </p:cNvPr>
          <p:cNvPicPr>
            <a:picLocks noChangeAspect="1"/>
          </p:cNvPicPr>
          <p:nvPr/>
        </p:nvPicPr>
        <p:blipFill>
          <a:blip r:embed="rId15"/>
          <a:stretch>
            <a:fillRect/>
          </a:stretch>
        </p:blipFill>
        <p:spPr>
          <a:xfrm>
            <a:off x="3350113" y="3131440"/>
            <a:ext cx="1534839" cy="2100305"/>
          </a:xfrm>
          <a:prstGeom prst="rect">
            <a:avLst/>
          </a:prstGeom>
        </p:spPr>
      </p:pic>
    </p:spTree>
    <p:extLst>
      <p:ext uri="{BB962C8B-B14F-4D97-AF65-F5344CB8AC3E}">
        <p14:creationId xmlns:p14="http://schemas.microsoft.com/office/powerpoint/2010/main" val="2246946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7" name="ZoneTexte 6">
            <a:extLst>
              <a:ext uri="{FF2B5EF4-FFF2-40B4-BE49-F238E27FC236}">
                <a16:creationId xmlns:a16="http://schemas.microsoft.com/office/drawing/2014/main" id="{66730DE9-34A2-4DE8-B1B8-2536B224F065}"/>
              </a:ext>
            </a:extLst>
          </p:cNvPr>
          <p:cNvSpPr txBox="1"/>
          <p:nvPr/>
        </p:nvSpPr>
        <p:spPr>
          <a:xfrm>
            <a:off x="670253" y="1606122"/>
            <a:ext cx="2442950" cy="461665"/>
          </a:xfrm>
          <a:prstGeom prst="rect">
            <a:avLst/>
          </a:prstGeom>
          <a:noFill/>
        </p:spPr>
        <p:txBody>
          <a:bodyPr wrap="square" rtlCol="0">
            <a:spAutoFit/>
          </a:bodyPr>
          <a:lstStyle/>
          <a:p>
            <a:pPr algn="ctr">
              <a:spcBef>
                <a:spcPts val="1200"/>
              </a:spcBef>
            </a:pPr>
            <a:r>
              <a:rPr lang="en-US" sz="2400" b="1" dirty="0"/>
              <a:t>Initial motivation</a:t>
            </a:r>
          </a:p>
        </p:txBody>
      </p:sp>
      <p:sp>
        <p:nvSpPr>
          <p:cNvPr id="9" name="ZoneTexte 8">
            <a:extLst>
              <a:ext uri="{FF2B5EF4-FFF2-40B4-BE49-F238E27FC236}">
                <a16:creationId xmlns:a16="http://schemas.microsoft.com/office/drawing/2014/main" id="{57A38372-A5C3-424C-AC94-9E1851DACFB9}"/>
              </a:ext>
            </a:extLst>
          </p:cNvPr>
          <p:cNvSpPr txBox="1"/>
          <p:nvPr/>
        </p:nvSpPr>
        <p:spPr>
          <a:xfrm>
            <a:off x="551719" y="2417299"/>
            <a:ext cx="2442950" cy="830997"/>
          </a:xfrm>
          <a:prstGeom prst="rect">
            <a:avLst/>
          </a:prstGeom>
          <a:noFill/>
          <a:ln>
            <a:solidFill>
              <a:schemeClr val="tx1"/>
            </a:solidFill>
          </a:ln>
        </p:spPr>
        <p:txBody>
          <a:bodyPr wrap="square" rtlCol="0">
            <a:spAutoFit/>
          </a:bodyPr>
          <a:lstStyle/>
          <a:p>
            <a:pPr algn="ctr">
              <a:spcBef>
                <a:spcPts val="1200"/>
              </a:spcBef>
            </a:pPr>
            <a:r>
              <a:rPr lang="en-US" sz="2400" dirty="0"/>
              <a:t>Conservation motivation</a:t>
            </a:r>
          </a:p>
        </p:txBody>
      </p:sp>
      <p:sp>
        <p:nvSpPr>
          <p:cNvPr id="13" name="ZoneTexte 12">
            <a:extLst>
              <a:ext uri="{FF2B5EF4-FFF2-40B4-BE49-F238E27FC236}">
                <a16:creationId xmlns:a16="http://schemas.microsoft.com/office/drawing/2014/main" id="{6560DB61-19C7-4B6E-BE6B-9BB663371795}"/>
              </a:ext>
            </a:extLst>
          </p:cNvPr>
          <p:cNvSpPr txBox="1"/>
          <p:nvPr/>
        </p:nvSpPr>
        <p:spPr>
          <a:xfrm>
            <a:off x="8095524" y="1606121"/>
            <a:ext cx="2442950" cy="461665"/>
          </a:xfrm>
          <a:prstGeom prst="rect">
            <a:avLst/>
          </a:prstGeom>
          <a:noFill/>
        </p:spPr>
        <p:txBody>
          <a:bodyPr wrap="square" rtlCol="0">
            <a:spAutoFit/>
          </a:bodyPr>
          <a:lstStyle/>
          <a:p>
            <a:pPr algn="ctr">
              <a:spcBef>
                <a:spcPts val="1200"/>
              </a:spcBef>
            </a:pPr>
            <a:r>
              <a:rPr lang="en-US" sz="2400" b="1" dirty="0"/>
              <a:t>Final goals</a:t>
            </a:r>
          </a:p>
        </p:txBody>
      </p:sp>
      <p:sp>
        <p:nvSpPr>
          <p:cNvPr id="14" name="ZoneTexte 13">
            <a:extLst>
              <a:ext uri="{FF2B5EF4-FFF2-40B4-BE49-F238E27FC236}">
                <a16:creationId xmlns:a16="http://schemas.microsoft.com/office/drawing/2014/main" id="{C6F4962E-7D12-41BA-8FC2-A4675D93E4E2}"/>
              </a:ext>
            </a:extLst>
          </p:cNvPr>
          <p:cNvSpPr txBox="1"/>
          <p:nvPr/>
        </p:nvSpPr>
        <p:spPr>
          <a:xfrm>
            <a:off x="7719636" y="2666926"/>
            <a:ext cx="4370764" cy="1938992"/>
          </a:xfrm>
          <a:prstGeom prst="rect">
            <a:avLst/>
          </a:prstGeom>
          <a:noFill/>
          <a:ln>
            <a:solidFill>
              <a:schemeClr val="tx1"/>
            </a:solidFill>
          </a:ln>
        </p:spPr>
        <p:txBody>
          <a:bodyPr wrap="square" rtlCol="0">
            <a:spAutoFit/>
          </a:bodyPr>
          <a:lstStyle/>
          <a:p>
            <a:pPr>
              <a:spcBef>
                <a:spcPts val="1200"/>
              </a:spcBef>
            </a:pPr>
            <a:r>
              <a:rPr lang="en-US" sz="2000" dirty="0"/>
              <a:t>Conservation status of the focal species (local to global scale)</a:t>
            </a:r>
          </a:p>
          <a:p>
            <a:pPr>
              <a:spcBef>
                <a:spcPts val="1200"/>
              </a:spcBef>
            </a:pPr>
            <a:r>
              <a:rPr lang="en-US" sz="2000" dirty="0"/>
              <a:t>Restoration of a community or ecosystem</a:t>
            </a:r>
          </a:p>
          <a:p>
            <a:pPr>
              <a:spcBef>
                <a:spcPts val="1200"/>
              </a:spcBef>
            </a:pPr>
            <a:r>
              <a:rPr lang="en-US" sz="2000" dirty="0"/>
              <a:t>Provision of an ecosystem service</a:t>
            </a:r>
          </a:p>
        </p:txBody>
      </p:sp>
      <p:sp>
        <p:nvSpPr>
          <p:cNvPr id="10" name="ZoneTexte 9">
            <a:extLst>
              <a:ext uri="{FF2B5EF4-FFF2-40B4-BE49-F238E27FC236}">
                <a16:creationId xmlns:a16="http://schemas.microsoft.com/office/drawing/2014/main" id="{407FD8F0-9AEC-4952-98CC-E2F32FD9562F}"/>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Scope</a:t>
            </a:r>
          </a:p>
        </p:txBody>
      </p:sp>
      <p:cxnSp>
        <p:nvCxnSpPr>
          <p:cNvPr id="12" name="Connecteur droit 11">
            <a:extLst>
              <a:ext uri="{FF2B5EF4-FFF2-40B4-BE49-F238E27FC236}">
                <a16:creationId xmlns:a16="http://schemas.microsoft.com/office/drawing/2014/main" id="{09FEBD92-8951-48CE-A66B-78E6771E3994}"/>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33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7" name="ZoneTexte 6">
            <a:extLst>
              <a:ext uri="{FF2B5EF4-FFF2-40B4-BE49-F238E27FC236}">
                <a16:creationId xmlns:a16="http://schemas.microsoft.com/office/drawing/2014/main" id="{66730DE9-34A2-4DE8-B1B8-2536B224F065}"/>
              </a:ext>
            </a:extLst>
          </p:cNvPr>
          <p:cNvSpPr txBox="1"/>
          <p:nvPr/>
        </p:nvSpPr>
        <p:spPr>
          <a:xfrm>
            <a:off x="670253" y="1606122"/>
            <a:ext cx="2442950" cy="461665"/>
          </a:xfrm>
          <a:prstGeom prst="rect">
            <a:avLst/>
          </a:prstGeom>
          <a:noFill/>
        </p:spPr>
        <p:txBody>
          <a:bodyPr wrap="square" rtlCol="0">
            <a:spAutoFit/>
          </a:bodyPr>
          <a:lstStyle/>
          <a:p>
            <a:pPr algn="ctr">
              <a:spcBef>
                <a:spcPts val="1200"/>
              </a:spcBef>
            </a:pPr>
            <a:r>
              <a:rPr lang="en-US" sz="2400" b="1" dirty="0"/>
              <a:t>Initial motivation</a:t>
            </a:r>
          </a:p>
        </p:txBody>
      </p:sp>
      <p:sp>
        <p:nvSpPr>
          <p:cNvPr id="8" name="ZoneTexte 7">
            <a:extLst>
              <a:ext uri="{FF2B5EF4-FFF2-40B4-BE49-F238E27FC236}">
                <a16:creationId xmlns:a16="http://schemas.microsoft.com/office/drawing/2014/main" id="{9C5BCCAF-8CBC-47DB-B4B2-7BA0B2622D00}"/>
              </a:ext>
            </a:extLst>
          </p:cNvPr>
          <p:cNvSpPr txBox="1"/>
          <p:nvPr/>
        </p:nvSpPr>
        <p:spPr>
          <a:xfrm>
            <a:off x="551719" y="3963371"/>
            <a:ext cx="2442950" cy="1477328"/>
          </a:xfrm>
          <a:prstGeom prst="rect">
            <a:avLst/>
          </a:prstGeom>
          <a:noFill/>
          <a:ln>
            <a:solidFill>
              <a:schemeClr val="tx1"/>
            </a:solidFill>
          </a:ln>
        </p:spPr>
        <p:txBody>
          <a:bodyPr wrap="square" rtlCol="0">
            <a:spAutoFit/>
          </a:bodyPr>
          <a:lstStyle/>
          <a:p>
            <a:pPr algn="ctr">
              <a:spcBef>
                <a:spcPts val="1200"/>
              </a:spcBef>
            </a:pPr>
            <a:r>
              <a:rPr lang="en-US" sz="2400" dirty="0"/>
              <a:t>Response to a regulatory obligation</a:t>
            </a:r>
          </a:p>
          <a:p>
            <a:pPr algn="ctr"/>
            <a:r>
              <a:rPr lang="en-US" dirty="0"/>
              <a:t>(mitigation hierarchy)</a:t>
            </a:r>
          </a:p>
        </p:txBody>
      </p:sp>
      <p:sp>
        <p:nvSpPr>
          <p:cNvPr id="9" name="ZoneTexte 8">
            <a:extLst>
              <a:ext uri="{FF2B5EF4-FFF2-40B4-BE49-F238E27FC236}">
                <a16:creationId xmlns:a16="http://schemas.microsoft.com/office/drawing/2014/main" id="{57A38372-A5C3-424C-AC94-9E1851DACFB9}"/>
              </a:ext>
            </a:extLst>
          </p:cNvPr>
          <p:cNvSpPr txBox="1"/>
          <p:nvPr/>
        </p:nvSpPr>
        <p:spPr>
          <a:xfrm>
            <a:off x="551719" y="2417299"/>
            <a:ext cx="2442950" cy="830997"/>
          </a:xfrm>
          <a:prstGeom prst="rect">
            <a:avLst/>
          </a:prstGeom>
          <a:noFill/>
          <a:ln>
            <a:solidFill>
              <a:schemeClr val="tx1"/>
            </a:solidFill>
          </a:ln>
        </p:spPr>
        <p:txBody>
          <a:bodyPr wrap="square" rtlCol="0">
            <a:spAutoFit/>
          </a:bodyPr>
          <a:lstStyle/>
          <a:p>
            <a:pPr algn="ctr">
              <a:spcBef>
                <a:spcPts val="1200"/>
              </a:spcBef>
            </a:pPr>
            <a:r>
              <a:rPr lang="en-US" sz="2400" dirty="0"/>
              <a:t>Conservation motivation</a:t>
            </a:r>
          </a:p>
        </p:txBody>
      </p:sp>
      <p:sp>
        <p:nvSpPr>
          <p:cNvPr id="13" name="ZoneTexte 12">
            <a:extLst>
              <a:ext uri="{FF2B5EF4-FFF2-40B4-BE49-F238E27FC236}">
                <a16:creationId xmlns:a16="http://schemas.microsoft.com/office/drawing/2014/main" id="{6560DB61-19C7-4B6E-BE6B-9BB663371795}"/>
              </a:ext>
            </a:extLst>
          </p:cNvPr>
          <p:cNvSpPr txBox="1"/>
          <p:nvPr/>
        </p:nvSpPr>
        <p:spPr>
          <a:xfrm>
            <a:off x="8095524" y="1606121"/>
            <a:ext cx="2442950" cy="461665"/>
          </a:xfrm>
          <a:prstGeom prst="rect">
            <a:avLst/>
          </a:prstGeom>
          <a:noFill/>
        </p:spPr>
        <p:txBody>
          <a:bodyPr wrap="square" rtlCol="0">
            <a:spAutoFit/>
          </a:bodyPr>
          <a:lstStyle/>
          <a:p>
            <a:pPr algn="ctr">
              <a:spcBef>
                <a:spcPts val="1200"/>
              </a:spcBef>
            </a:pPr>
            <a:r>
              <a:rPr lang="en-US" sz="2400" b="1" dirty="0"/>
              <a:t>Final goals</a:t>
            </a:r>
          </a:p>
        </p:txBody>
      </p:sp>
      <p:sp>
        <p:nvSpPr>
          <p:cNvPr id="14" name="ZoneTexte 13">
            <a:extLst>
              <a:ext uri="{FF2B5EF4-FFF2-40B4-BE49-F238E27FC236}">
                <a16:creationId xmlns:a16="http://schemas.microsoft.com/office/drawing/2014/main" id="{C6F4962E-7D12-41BA-8FC2-A4675D93E4E2}"/>
              </a:ext>
            </a:extLst>
          </p:cNvPr>
          <p:cNvSpPr txBox="1"/>
          <p:nvPr/>
        </p:nvSpPr>
        <p:spPr>
          <a:xfrm>
            <a:off x="7719636" y="2666926"/>
            <a:ext cx="4370764" cy="1938992"/>
          </a:xfrm>
          <a:prstGeom prst="rect">
            <a:avLst/>
          </a:prstGeom>
          <a:noFill/>
          <a:ln>
            <a:solidFill>
              <a:schemeClr val="tx1"/>
            </a:solidFill>
          </a:ln>
        </p:spPr>
        <p:txBody>
          <a:bodyPr wrap="square" rtlCol="0">
            <a:spAutoFit/>
          </a:bodyPr>
          <a:lstStyle/>
          <a:p>
            <a:pPr>
              <a:spcBef>
                <a:spcPts val="1200"/>
              </a:spcBef>
            </a:pPr>
            <a:r>
              <a:rPr lang="en-US" sz="2000" dirty="0"/>
              <a:t>Conservation status of the species (local to global scale)</a:t>
            </a:r>
          </a:p>
          <a:p>
            <a:pPr>
              <a:spcBef>
                <a:spcPts val="1200"/>
              </a:spcBef>
            </a:pPr>
            <a:r>
              <a:rPr lang="en-US" sz="2000" dirty="0"/>
              <a:t>Restoration of a community or ecosystem</a:t>
            </a:r>
          </a:p>
          <a:p>
            <a:pPr>
              <a:spcBef>
                <a:spcPts val="1200"/>
              </a:spcBef>
            </a:pPr>
            <a:r>
              <a:rPr lang="en-US" sz="2000" dirty="0"/>
              <a:t>Provision of an ecosystem service</a:t>
            </a:r>
          </a:p>
        </p:txBody>
      </p:sp>
      <p:cxnSp>
        <p:nvCxnSpPr>
          <p:cNvPr id="15" name="Connecteur droit avec flèche 14">
            <a:extLst>
              <a:ext uri="{FF2B5EF4-FFF2-40B4-BE49-F238E27FC236}">
                <a16:creationId xmlns:a16="http://schemas.microsoft.com/office/drawing/2014/main" id="{1EAE3B2C-BDBD-433F-94EF-78399BF2E882}"/>
              </a:ext>
            </a:extLst>
          </p:cNvPr>
          <p:cNvCxnSpPr>
            <a:cxnSpLocks/>
            <a:endCxn id="14" idx="1"/>
          </p:cNvCxnSpPr>
          <p:nvPr/>
        </p:nvCxnSpPr>
        <p:spPr>
          <a:xfrm>
            <a:off x="6914255" y="3636422"/>
            <a:ext cx="8053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9BF6ED0-E6CA-40B0-B50E-6D39E9D79A6B}"/>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Scope</a:t>
            </a:r>
          </a:p>
        </p:txBody>
      </p:sp>
      <p:cxnSp>
        <p:nvCxnSpPr>
          <p:cNvPr id="16" name="Connecteur droit 15">
            <a:extLst>
              <a:ext uri="{FF2B5EF4-FFF2-40B4-BE49-F238E27FC236}">
                <a16:creationId xmlns:a16="http://schemas.microsoft.com/office/drawing/2014/main" id="{BF66D842-7461-4FD0-BCC9-C7E5F0EB5EBB}"/>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805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6" name="ZoneTexte 5">
            <a:extLst>
              <a:ext uri="{FF2B5EF4-FFF2-40B4-BE49-F238E27FC236}">
                <a16:creationId xmlns:a16="http://schemas.microsoft.com/office/drawing/2014/main" id="{991305EE-C04D-4626-8659-5F35D0BE7198}"/>
              </a:ext>
            </a:extLst>
          </p:cNvPr>
          <p:cNvSpPr txBox="1"/>
          <p:nvPr/>
        </p:nvSpPr>
        <p:spPr>
          <a:xfrm>
            <a:off x="4584026" y="2851592"/>
            <a:ext cx="2330229" cy="1569660"/>
          </a:xfrm>
          <a:prstGeom prst="rect">
            <a:avLst/>
          </a:prstGeom>
          <a:noFill/>
          <a:ln w="28575">
            <a:solidFill>
              <a:srgbClr val="0070C0"/>
            </a:solidFill>
          </a:ln>
        </p:spPr>
        <p:txBody>
          <a:bodyPr wrap="square" rtlCol="0">
            <a:spAutoFit/>
          </a:bodyPr>
          <a:lstStyle/>
          <a:p>
            <a:pPr algn="ctr">
              <a:spcBef>
                <a:spcPts val="1200"/>
              </a:spcBef>
            </a:pPr>
            <a:r>
              <a:rPr lang="en-US" sz="3200" dirty="0">
                <a:solidFill>
                  <a:srgbClr val="0070C0"/>
                </a:solidFill>
              </a:rPr>
              <a:t>Population viability objective</a:t>
            </a:r>
          </a:p>
        </p:txBody>
      </p:sp>
      <p:sp>
        <p:nvSpPr>
          <p:cNvPr id="7" name="ZoneTexte 6">
            <a:extLst>
              <a:ext uri="{FF2B5EF4-FFF2-40B4-BE49-F238E27FC236}">
                <a16:creationId xmlns:a16="http://schemas.microsoft.com/office/drawing/2014/main" id="{66730DE9-34A2-4DE8-B1B8-2536B224F065}"/>
              </a:ext>
            </a:extLst>
          </p:cNvPr>
          <p:cNvSpPr txBox="1"/>
          <p:nvPr/>
        </p:nvSpPr>
        <p:spPr>
          <a:xfrm>
            <a:off x="670253" y="1606122"/>
            <a:ext cx="2442950" cy="461665"/>
          </a:xfrm>
          <a:prstGeom prst="rect">
            <a:avLst/>
          </a:prstGeom>
          <a:noFill/>
        </p:spPr>
        <p:txBody>
          <a:bodyPr wrap="square" rtlCol="0">
            <a:spAutoFit/>
          </a:bodyPr>
          <a:lstStyle/>
          <a:p>
            <a:pPr algn="ctr">
              <a:spcBef>
                <a:spcPts val="1200"/>
              </a:spcBef>
            </a:pPr>
            <a:r>
              <a:rPr lang="en-US" sz="2400" b="1" dirty="0"/>
              <a:t>Initial motivation</a:t>
            </a:r>
          </a:p>
        </p:txBody>
      </p:sp>
      <p:sp>
        <p:nvSpPr>
          <p:cNvPr id="8" name="ZoneTexte 7">
            <a:extLst>
              <a:ext uri="{FF2B5EF4-FFF2-40B4-BE49-F238E27FC236}">
                <a16:creationId xmlns:a16="http://schemas.microsoft.com/office/drawing/2014/main" id="{9C5BCCAF-8CBC-47DB-B4B2-7BA0B2622D00}"/>
              </a:ext>
            </a:extLst>
          </p:cNvPr>
          <p:cNvSpPr txBox="1"/>
          <p:nvPr/>
        </p:nvSpPr>
        <p:spPr>
          <a:xfrm>
            <a:off x="551719" y="3963371"/>
            <a:ext cx="2442950" cy="1477328"/>
          </a:xfrm>
          <a:prstGeom prst="rect">
            <a:avLst/>
          </a:prstGeom>
          <a:noFill/>
          <a:ln>
            <a:solidFill>
              <a:schemeClr val="tx1"/>
            </a:solidFill>
          </a:ln>
        </p:spPr>
        <p:txBody>
          <a:bodyPr wrap="square" rtlCol="0">
            <a:spAutoFit/>
          </a:bodyPr>
          <a:lstStyle/>
          <a:p>
            <a:pPr algn="ctr">
              <a:spcBef>
                <a:spcPts val="1200"/>
              </a:spcBef>
            </a:pPr>
            <a:r>
              <a:rPr lang="en-US" sz="2400" dirty="0"/>
              <a:t>Response to a regulatory obligation</a:t>
            </a:r>
          </a:p>
          <a:p>
            <a:pPr algn="ctr"/>
            <a:r>
              <a:rPr lang="en-US" dirty="0"/>
              <a:t>(mitigation hierarchy)</a:t>
            </a:r>
          </a:p>
        </p:txBody>
      </p:sp>
      <p:sp>
        <p:nvSpPr>
          <p:cNvPr id="9" name="ZoneTexte 8">
            <a:extLst>
              <a:ext uri="{FF2B5EF4-FFF2-40B4-BE49-F238E27FC236}">
                <a16:creationId xmlns:a16="http://schemas.microsoft.com/office/drawing/2014/main" id="{57A38372-A5C3-424C-AC94-9E1851DACFB9}"/>
              </a:ext>
            </a:extLst>
          </p:cNvPr>
          <p:cNvSpPr txBox="1"/>
          <p:nvPr/>
        </p:nvSpPr>
        <p:spPr>
          <a:xfrm>
            <a:off x="551719" y="2417299"/>
            <a:ext cx="2442950" cy="830997"/>
          </a:xfrm>
          <a:prstGeom prst="rect">
            <a:avLst/>
          </a:prstGeom>
          <a:noFill/>
          <a:ln>
            <a:solidFill>
              <a:schemeClr val="tx1"/>
            </a:solidFill>
          </a:ln>
        </p:spPr>
        <p:txBody>
          <a:bodyPr wrap="square" rtlCol="0">
            <a:spAutoFit/>
          </a:bodyPr>
          <a:lstStyle/>
          <a:p>
            <a:pPr algn="ctr">
              <a:spcBef>
                <a:spcPts val="1200"/>
              </a:spcBef>
            </a:pPr>
            <a:r>
              <a:rPr lang="en-US" sz="2400" dirty="0"/>
              <a:t>Conservation motivation</a:t>
            </a:r>
          </a:p>
        </p:txBody>
      </p:sp>
      <p:sp>
        <p:nvSpPr>
          <p:cNvPr id="10" name="Flèche droite 11">
            <a:extLst>
              <a:ext uri="{FF2B5EF4-FFF2-40B4-BE49-F238E27FC236}">
                <a16:creationId xmlns:a16="http://schemas.microsoft.com/office/drawing/2014/main" id="{FDFEEA28-A188-4C0E-8BCD-63DDC0AFB074}"/>
              </a:ext>
            </a:extLst>
          </p:cNvPr>
          <p:cNvSpPr/>
          <p:nvPr/>
        </p:nvSpPr>
        <p:spPr>
          <a:xfrm rot="20864619">
            <a:off x="3048045" y="4119552"/>
            <a:ext cx="1482602" cy="104162"/>
          </a:xfrm>
          <a:prstGeom prst="rightArrow">
            <a:avLst>
              <a:gd name="adj1" fmla="val 50000"/>
              <a:gd name="adj2" fmla="val 15932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droite 12">
            <a:extLst>
              <a:ext uri="{FF2B5EF4-FFF2-40B4-BE49-F238E27FC236}">
                <a16:creationId xmlns:a16="http://schemas.microsoft.com/office/drawing/2014/main" id="{32161C25-86D1-49D8-8B48-849184C0BDE7}"/>
              </a:ext>
            </a:extLst>
          </p:cNvPr>
          <p:cNvSpPr/>
          <p:nvPr/>
        </p:nvSpPr>
        <p:spPr>
          <a:xfrm rot="900000">
            <a:off x="3048044" y="3073808"/>
            <a:ext cx="1482602" cy="104162"/>
          </a:xfrm>
          <a:prstGeom prst="rightArrow">
            <a:avLst>
              <a:gd name="adj1" fmla="val 50000"/>
              <a:gd name="adj2" fmla="val 15932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6560DB61-19C7-4B6E-BE6B-9BB663371795}"/>
              </a:ext>
            </a:extLst>
          </p:cNvPr>
          <p:cNvSpPr txBox="1"/>
          <p:nvPr/>
        </p:nvSpPr>
        <p:spPr>
          <a:xfrm>
            <a:off x="8095524" y="1606121"/>
            <a:ext cx="2442950" cy="461665"/>
          </a:xfrm>
          <a:prstGeom prst="rect">
            <a:avLst/>
          </a:prstGeom>
          <a:noFill/>
        </p:spPr>
        <p:txBody>
          <a:bodyPr wrap="square" rtlCol="0">
            <a:spAutoFit/>
          </a:bodyPr>
          <a:lstStyle/>
          <a:p>
            <a:pPr algn="ctr">
              <a:spcBef>
                <a:spcPts val="1200"/>
              </a:spcBef>
            </a:pPr>
            <a:r>
              <a:rPr lang="en-US" sz="2400" b="1" dirty="0"/>
              <a:t>Final goals</a:t>
            </a:r>
          </a:p>
        </p:txBody>
      </p:sp>
      <p:sp>
        <p:nvSpPr>
          <p:cNvPr id="14" name="ZoneTexte 13">
            <a:extLst>
              <a:ext uri="{FF2B5EF4-FFF2-40B4-BE49-F238E27FC236}">
                <a16:creationId xmlns:a16="http://schemas.microsoft.com/office/drawing/2014/main" id="{C6F4962E-7D12-41BA-8FC2-A4675D93E4E2}"/>
              </a:ext>
            </a:extLst>
          </p:cNvPr>
          <p:cNvSpPr txBox="1"/>
          <p:nvPr/>
        </p:nvSpPr>
        <p:spPr>
          <a:xfrm>
            <a:off x="7719636" y="2666926"/>
            <a:ext cx="4370764" cy="1938992"/>
          </a:xfrm>
          <a:prstGeom prst="rect">
            <a:avLst/>
          </a:prstGeom>
          <a:noFill/>
          <a:ln>
            <a:solidFill>
              <a:schemeClr val="tx1"/>
            </a:solidFill>
          </a:ln>
        </p:spPr>
        <p:txBody>
          <a:bodyPr wrap="square" rtlCol="0">
            <a:spAutoFit/>
          </a:bodyPr>
          <a:lstStyle/>
          <a:p>
            <a:pPr>
              <a:spcBef>
                <a:spcPts val="1200"/>
              </a:spcBef>
            </a:pPr>
            <a:r>
              <a:rPr lang="en-US" sz="2000" dirty="0"/>
              <a:t>Conservation status of the species (local to global scale)</a:t>
            </a:r>
          </a:p>
          <a:p>
            <a:pPr>
              <a:spcBef>
                <a:spcPts val="1200"/>
              </a:spcBef>
            </a:pPr>
            <a:r>
              <a:rPr lang="en-US" sz="2000" dirty="0"/>
              <a:t>Restoration of a community or ecosystem</a:t>
            </a:r>
          </a:p>
          <a:p>
            <a:pPr>
              <a:spcBef>
                <a:spcPts val="1200"/>
              </a:spcBef>
            </a:pPr>
            <a:r>
              <a:rPr lang="en-US" sz="2000" dirty="0"/>
              <a:t>Provision of an ecosystem service</a:t>
            </a:r>
          </a:p>
        </p:txBody>
      </p:sp>
      <p:cxnSp>
        <p:nvCxnSpPr>
          <p:cNvPr id="15" name="Connecteur droit avec flèche 14">
            <a:extLst>
              <a:ext uri="{FF2B5EF4-FFF2-40B4-BE49-F238E27FC236}">
                <a16:creationId xmlns:a16="http://schemas.microsoft.com/office/drawing/2014/main" id="{1EAE3B2C-BDBD-433F-94EF-78399BF2E882}"/>
              </a:ext>
            </a:extLst>
          </p:cNvPr>
          <p:cNvCxnSpPr>
            <a:cxnSpLocks/>
            <a:stCxn id="6" idx="3"/>
            <a:endCxn id="14" idx="1"/>
          </p:cNvCxnSpPr>
          <p:nvPr/>
        </p:nvCxnSpPr>
        <p:spPr>
          <a:xfrm>
            <a:off x="6914255" y="3636422"/>
            <a:ext cx="8053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9BF6ED0-E6CA-40B0-B50E-6D39E9D79A6B}"/>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Scope</a:t>
            </a:r>
          </a:p>
        </p:txBody>
      </p:sp>
      <p:cxnSp>
        <p:nvCxnSpPr>
          <p:cNvPr id="16" name="Connecteur droit 15">
            <a:extLst>
              <a:ext uri="{FF2B5EF4-FFF2-40B4-BE49-F238E27FC236}">
                <a16:creationId xmlns:a16="http://schemas.microsoft.com/office/drawing/2014/main" id="{BF66D842-7461-4FD0-BCC9-C7E5F0EB5EBB}"/>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624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6" name="ZoneTexte 5">
            <a:extLst>
              <a:ext uri="{FF2B5EF4-FFF2-40B4-BE49-F238E27FC236}">
                <a16:creationId xmlns:a16="http://schemas.microsoft.com/office/drawing/2014/main" id="{361DBF9E-4B2C-41F7-8C91-98306AC958EB}"/>
              </a:ext>
            </a:extLst>
          </p:cNvPr>
          <p:cNvSpPr txBox="1"/>
          <p:nvPr/>
        </p:nvSpPr>
        <p:spPr>
          <a:xfrm>
            <a:off x="444614" y="1743923"/>
            <a:ext cx="11002297" cy="3370153"/>
          </a:xfrm>
          <a:prstGeom prst="rect">
            <a:avLst/>
          </a:prstGeom>
          <a:noFill/>
        </p:spPr>
        <p:txBody>
          <a:bodyPr wrap="square" rtlCol="0">
            <a:spAutoFit/>
          </a:bodyPr>
          <a:lstStyle/>
          <a:p>
            <a:pPr>
              <a:spcBef>
                <a:spcPts val="1800"/>
              </a:spcBef>
            </a:pPr>
            <a:r>
              <a:rPr lang="en-US" sz="2800" dirty="0" err="1">
                <a:sym typeface="Wingdings" panose="05000000000000000000" pitchFamily="2" charset="2"/>
              </a:rPr>
              <a:t>Transloc</a:t>
            </a:r>
            <a:r>
              <a:rPr lang="en-US" sz="2800" dirty="0">
                <a:sym typeface="Wingdings" panose="05000000000000000000" pitchFamily="2" charset="2"/>
              </a:rPr>
              <a:t> includes translocations with a </a:t>
            </a:r>
            <a:r>
              <a:rPr lang="en-US" sz="2800" b="1" dirty="0">
                <a:sym typeface="Wingdings" panose="05000000000000000000" pitchFamily="2" charset="2"/>
              </a:rPr>
              <a:t>population viability objective</a:t>
            </a:r>
          </a:p>
          <a:p>
            <a:pPr>
              <a:spcBef>
                <a:spcPts val="1800"/>
              </a:spcBef>
            </a:pPr>
            <a:endParaRPr lang="en-US" sz="2800" b="1" dirty="0"/>
          </a:p>
          <a:p>
            <a:pPr>
              <a:spcBef>
                <a:spcPts val="1800"/>
              </a:spcBef>
            </a:pPr>
            <a:r>
              <a:rPr lang="en-US" sz="2800" dirty="0">
                <a:sym typeface="Wingdings" panose="05000000000000000000" pitchFamily="2" charset="2"/>
              </a:rPr>
              <a:t></a:t>
            </a:r>
            <a:r>
              <a:rPr lang="en-US" sz="2800" dirty="0"/>
              <a:t> </a:t>
            </a:r>
            <a:r>
              <a:rPr lang="en-US" sz="2800" b="1" dirty="0"/>
              <a:t>Conservation-driven</a:t>
            </a:r>
            <a:r>
              <a:rPr lang="en-US" sz="2800" dirty="0"/>
              <a:t> and certain </a:t>
            </a:r>
            <a:r>
              <a:rPr lang="en-US" sz="2800" b="1" dirty="0"/>
              <a:t>mitigation-driven translocations</a:t>
            </a:r>
            <a:r>
              <a:rPr lang="en-US" sz="2800" dirty="0"/>
              <a:t> are included</a:t>
            </a:r>
          </a:p>
          <a:p>
            <a:pPr>
              <a:spcBef>
                <a:spcPts val="1800"/>
              </a:spcBef>
            </a:pPr>
            <a:r>
              <a:rPr lang="en-US" sz="2800" dirty="0">
                <a:sym typeface="Wingdings" panose="05000000000000000000" pitchFamily="2" charset="2"/>
              </a:rPr>
              <a:t></a:t>
            </a:r>
            <a:r>
              <a:rPr lang="en-US" sz="2800" dirty="0"/>
              <a:t> </a:t>
            </a:r>
            <a:r>
              <a:rPr lang="en-US" sz="2800" b="1" dirty="0"/>
              <a:t>Species-</a:t>
            </a:r>
            <a:r>
              <a:rPr lang="en-US" sz="2800" b="1" dirty="0" err="1"/>
              <a:t>centred</a:t>
            </a:r>
            <a:r>
              <a:rPr lang="en-US" sz="2800" dirty="0"/>
              <a:t> and certain </a:t>
            </a:r>
            <a:r>
              <a:rPr lang="en-US" sz="2800" b="1" dirty="0"/>
              <a:t>community-</a:t>
            </a:r>
            <a:r>
              <a:rPr lang="en-US" sz="2800" b="1" dirty="0" err="1"/>
              <a:t>centred</a:t>
            </a:r>
            <a:r>
              <a:rPr lang="en-US" sz="2800" b="1" dirty="0"/>
              <a:t> translocations</a:t>
            </a:r>
            <a:r>
              <a:rPr lang="en-US" sz="2800" dirty="0"/>
              <a:t> are included</a:t>
            </a:r>
          </a:p>
        </p:txBody>
      </p:sp>
      <p:sp>
        <p:nvSpPr>
          <p:cNvPr id="4" name="ZoneTexte 3">
            <a:extLst>
              <a:ext uri="{FF2B5EF4-FFF2-40B4-BE49-F238E27FC236}">
                <a16:creationId xmlns:a16="http://schemas.microsoft.com/office/drawing/2014/main" id="{29B2F714-7184-4F91-9D40-CF46D24ED153}"/>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Scope</a:t>
            </a:r>
          </a:p>
        </p:txBody>
      </p:sp>
      <p:cxnSp>
        <p:nvCxnSpPr>
          <p:cNvPr id="5" name="Connecteur droit 4">
            <a:extLst>
              <a:ext uri="{FF2B5EF4-FFF2-40B4-BE49-F238E27FC236}">
                <a16:creationId xmlns:a16="http://schemas.microsoft.com/office/drawing/2014/main" id="{C93C5ACD-ADCE-48A6-9362-74CC619ABD77}"/>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243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4628640" y="3201538"/>
            <a:ext cx="2934714"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Content</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2092265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2281673"/>
            <a:ext cx="11002297" cy="3801041"/>
          </a:xfrm>
          <a:prstGeom prst="rect">
            <a:avLst/>
          </a:prstGeom>
          <a:noFill/>
        </p:spPr>
        <p:txBody>
          <a:bodyPr wrap="square" rtlCol="0">
            <a:spAutoFit/>
          </a:bodyPr>
          <a:lstStyle/>
          <a:p>
            <a:pPr>
              <a:spcBef>
                <a:spcPts val="1800"/>
              </a:spcBef>
            </a:pPr>
            <a:r>
              <a:rPr lang="en-US" sz="2800" b="1" dirty="0"/>
              <a:t>The Population table is the core of the database</a:t>
            </a:r>
          </a:p>
          <a:p>
            <a:pPr>
              <a:spcBef>
                <a:spcPts val="1800"/>
              </a:spcBef>
            </a:pPr>
            <a:r>
              <a:rPr lang="en-US" sz="2800" b="1" dirty="0"/>
              <a:t>One entry</a:t>
            </a:r>
            <a:r>
              <a:rPr lang="en-US" sz="2800" dirty="0"/>
              <a:t> in the population part of the database = </a:t>
            </a:r>
            <a:r>
              <a:rPr lang="en-US" sz="2800" b="1" dirty="0"/>
              <a:t>one translocated population</a:t>
            </a:r>
            <a:r>
              <a:rPr lang="en-US" sz="2800" dirty="0"/>
              <a:t> corresponding to a </a:t>
            </a:r>
            <a:r>
              <a:rPr lang="en-US" sz="2800" b="1" dirty="0"/>
              <a:t>unique population code.</a:t>
            </a:r>
          </a:p>
          <a:p>
            <a:pPr>
              <a:spcBef>
                <a:spcPts val="1800"/>
              </a:spcBef>
            </a:pPr>
            <a:r>
              <a:rPr lang="en-US" sz="2800" dirty="0"/>
              <a:t> A translocated population corresponds to a species in a host (=recipient) site. </a:t>
            </a:r>
          </a:p>
          <a:p>
            <a:pPr>
              <a:spcBef>
                <a:spcPts val="1800"/>
              </a:spcBef>
            </a:pPr>
            <a:r>
              <a:rPr lang="en-US" sz="2800" dirty="0"/>
              <a:t>To create an entry, the following is required: </a:t>
            </a:r>
            <a:r>
              <a:rPr lang="en-US" sz="2800" b="1" dirty="0"/>
              <a:t>a species name, a country name, a year </a:t>
            </a:r>
            <a:r>
              <a:rPr lang="en-US" sz="2800" dirty="0"/>
              <a:t>(or range of years)</a:t>
            </a:r>
          </a:p>
        </p:txBody>
      </p:sp>
      <p:sp>
        <p:nvSpPr>
          <p:cNvPr id="5" name="ZoneTexte 4">
            <a:extLst>
              <a:ext uri="{FF2B5EF4-FFF2-40B4-BE49-F238E27FC236}">
                <a16:creationId xmlns:a16="http://schemas.microsoft.com/office/drawing/2014/main" id="{5CD5FDF2-226E-406F-A181-5B21C648DED6}"/>
              </a:ext>
            </a:extLst>
          </p:cNvPr>
          <p:cNvSpPr txBox="1"/>
          <p:nvPr/>
        </p:nvSpPr>
        <p:spPr>
          <a:xfrm>
            <a:off x="444614" y="1206716"/>
            <a:ext cx="11002297" cy="646331"/>
          </a:xfrm>
          <a:prstGeom prst="rect">
            <a:avLst/>
          </a:prstGeom>
          <a:noFill/>
        </p:spPr>
        <p:txBody>
          <a:bodyPr wrap="square" rtlCol="0">
            <a:spAutoFit/>
          </a:bodyPr>
          <a:lstStyle/>
          <a:p>
            <a:pPr>
              <a:spcBef>
                <a:spcPts val="1800"/>
              </a:spcBef>
            </a:pPr>
            <a:r>
              <a:rPr lang="en-US" sz="3600" b="1" dirty="0"/>
              <a:t>Structure - The </a:t>
            </a:r>
            <a:r>
              <a:rPr lang="en-US" sz="3600" b="1" dirty="0" err="1"/>
              <a:t>Transloc</a:t>
            </a:r>
            <a:r>
              <a:rPr lang="en-US" sz="3600" b="1" dirty="0"/>
              <a:t> database is population-based</a:t>
            </a:r>
            <a:endParaRPr lang="en-US" sz="3600" dirty="0"/>
          </a:p>
        </p:txBody>
      </p:sp>
      <p:sp>
        <p:nvSpPr>
          <p:cNvPr id="6" name="ZoneTexte 5">
            <a:extLst>
              <a:ext uri="{FF2B5EF4-FFF2-40B4-BE49-F238E27FC236}">
                <a16:creationId xmlns:a16="http://schemas.microsoft.com/office/drawing/2014/main" id="{8CA19D66-CB68-42B4-B106-9234F49DD9CB}"/>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7" name="Connecteur droit 6">
            <a:extLst>
              <a:ext uri="{FF2B5EF4-FFF2-40B4-BE49-F238E27FC236}">
                <a16:creationId xmlns:a16="http://schemas.microsoft.com/office/drawing/2014/main" id="{BD92A189-D725-4DE5-804F-1C9CD2FF582C}"/>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343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2028304"/>
            <a:ext cx="11002297" cy="4154984"/>
          </a:xfrm>
          <a:prstGeom prst="rect">
            <a:avLst/>
          </a:prstGeom>
          <a:noFill/>
        </p:spPr>
        <p:txBody>
          <a:bodyPr wrap="square" rtlCol="0">
            <a:spAutoFit/>
          </a:bodyPr>
          <a:lstStyle/>
          <a:p>
            <a:pPr>
              <a:spcBef>
                <a:spcPts val="1200"/>
              </a:spcBef>
            </a:pPr>
            <a:r>
              <a:rPr lang="en-US" sz="2800" b="1" dirty="0"/>
              <a:t>Consequences :</a:t>
            </a:r>
          </a:p>
          <a:p>
            <a:pPr>
              <a:spcBef>
                <a:spcPts val="1200"/>
              </a:spcBef>
            </a:pPr>
            <a:r>
              <a:rPr lang="en-US" sz="2800" dirty="0">
                <a:sym typeface="Wingdings" panose="05000000000000000000" pitchFamily="2" charset="2"/>
              </a:rPr>
              <a:t></a:t>
            </a:r>
            <a:r>
              <a:rPr lang="en-US" sz="2800" dirty="0"/>
              <a:t> a species can have multiple entries in the population table</a:t>
            </a:r>
          </a:p>
          <a:p>
            <a:pPr>
              <a:spcBef>
                <a:spcPts val="1200"/>
              </a:spcBef>
            </a:pPr>
            <a:r>
              <a:rPr lang="en-US" sz="2800" dirty="0">
                <a:sym typeface="Wingdings" panose="05000000000000000000" pitchFamily="2" charset="2"/>
              </a:rPr>
              <a:t></a:t>
            </a:r>
            <a:r>
              <a:rPr lang="en-US" sz="2800" dirty="0"/>
              <a:t> several entries can correspond to the same host site if several species have been translocated to this site</a:t>
            </a:r>
          </a:p>
          <a:p>
            <a:pPr>
              <a:spcBef>
                <a:spcPts val="1200"/>
              </a:spcBef>
            </a:pPr>
            <a:r>
              <a:rPr lang="en-US" sz="2800" dirty="0">
                <a:sym typeface="Wingdings" panose="05000000000000000000" pitchFamily="2" charset="2"/>
              </a:rPr>
              <a:t></a:t>
            </a:r>
            <a:r>
              <a:rPr lang="en-US" sz="2800" dirty="0"/>
              <a:t> an entry may correspond to multiple release, sowing or transplantation events (RST) of a given species in a given site over multiple years</a:t>
            </a:r>
          </a:p>
          <a:p>
            <a:pPr>
              <a:spcBef>
                <a:spcPts val="1200"/>
              </a:spcBef>
            </a:pPr>
            <a:r>
              <a:rPr lang="en-US" sz="2800" b="1" dirty="0">
                <a:sym typeface="Wingdings" panose="05000000000000000000" pitchFamily="2" charset="2"/>
              </a:rPr>
              <a:t></a:t>
            </a:r>
            <a:r>
              <a:rPr lang="en-US" sz="2800" b="1" dirty="0"/>
              <a:t> a project or program can appear in several entries if it concerns several species or several host sites</a:t>
            </a:r>
          </a:p>
        </p:txBody>
      </p:sp>
      <p:sp>
        <p:nvSpPr>
          <p:cNvPr id="6" name="ZoneTexte 5">
            <a:extLst>
              <a:ext uri="{FF2B5EF4-FFF2-40B4-BE49-F238E27FC236}">
                <a16:creationId xmlns:a16="http://schemas.microsoft.com/office/drawing/2014/main" id="{9358DEB0-DE4E-4F98-8725-E33597831A10}"/>
              </a:ext>
            </a:extLst>
          </p:cNvPr>
          <p:cNvSpPr txBox="1"/>
          <p:nvPr/>
        </p:nvSpPr>
        <p:spPr>
          <a:xfrm>
            <a:off x="444614" y="1206716"/>
            <a:ext cx="11002297" cy="646331"/>
          </a:xfrm>
          <a:prstGeom prst="rect">
            <a:avLst/>
          </a:prstGeom>
          <a:noFill/>
        </p:spPr>
        <p:txBody>
          <a:bodyPr wrap="square" rtlCol="0">
            <a:spAutoFit/>
          </a:bodyPr>
          <a:lstStyle/>
          <a:p>
            <a:pPr>
              <a:spcBef>
                <a:spcPts val="1800"/>
              </a:spcBef>
            </a:pPr>
            <a:r>
              <a:rPr lang="en-US" sz="3600" b="1" dirty="0"/>
              <a:t>Structure - The </a:t>
            </a:r>
            <a:r>
              <a:rPr lang="en-US" sz="3600" b="1" dirty="0" err="1"/>
              <a:t>Transloc</a:t>
            </a:r>
            <a:r>
              <a:rPr lang="en-US" sz="3600" b="1" dirty="0"/>
              <a:t> database is population-based</a:t>
            </a:r>
            <a:endParaRPr lang="en-US" sz="3600" dirty="0"/>
          </a:p>
        </p:txBody>
      </p:sp>
      <p:sp>
        <p:nvSpPr>
          <p:cNvPr id="5" name="ZoneTexte 4">
            <a:extLst>
              <a:ext uri="{FF2B5EF4-FFF2-40B4-BE49-F238E27FC236}">
                <a16:creationId xmlns:a16="http://schemas.microsoft.com/office/drawing/2014/main" id="{597BFC87-1F9D-43EE-A41D-30193FC93096}"/>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7" name="Connecteur droit 6">
            <a:extLst>
              <a:ext uri="{FF2B5EF4-FFF2-40B4-BE49-F238E27FC236}">
                <a16:creationId xmlns:a16="http://schemas.microsoft.com/office/drawing/2014/main" id="{90005A15-D24A-41A6-81B4-29C035D452AB}"/>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783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2028616"/>
            <a:ext cx="11002297" cy="3447098"/>
          </a:xfrm>
          <a:prstGeom prst="rect">
            <a:avLst/>
          </a:prstGeom>
          <a:noFill/>
        </p:spPr>
        <p:txBody>
          <a:bodyPr wrap="square" rtlCol="0">
            <a:spAutoFit/>
          </a:bodyPr>
          <a:lstStyle/>
          <a:p>
            <a:pPr>
              <a:spcBef>
                <a:spcPts val="1200"/>
              </a:spcBef>
            </a:pPr>
            <a:r>
              <a:rPr lang="en-US" sz="2800" dirty="0"/>
              <a:t>- Table of species</a:t>
            </a:r>
          </a:p>
          <a:p>
            <a:pPr>
              <a:spcBef>
                <a:spcPts val="1200"/>
              </a:spcBef>
            </a:pPr>
            <a:r>
              <a:rPr lang="en-US" sz="2800" dirty="0"/>
              <a:t>- Table of localities</a:t>
            </a:r>
          </a:p>
          <a:p>
            <a:pPr>
              <a:spcBef>
                <a:spcPts val="1200"/>
              </a:spcBef>
            </a:pPr>
            <a:r>
              <a:rPr lang="en-US" sz="2800" dirty="0"/>
              <a:t>- Table of references</a:t>
            </a:r>
          </a:p>
          <a:p>
            <a:pPr>
              <a:spcBef>
                <a:spcPts val="1200"/>
              </a:spcBef>
            </a:pPr>
            <a:r>
              <a:rPr lang="en-US" sz="2800" dirty="0"/>
              <a:t>- Table of </a:t>
            </a:r>
            <a:r>
              <a:rPr lang="en-US" sz="2800" dirty="0" err="1"/>
              <a:t>organisations</a:t>
            </a:r>
            <a:endParaRPr lang="en-US" sz="2800" dirty="0"/>
          </a:p>
          <a:p>
            <a:pPr>
              <a:spcBef>
                <a:spcPts val="1200"/>
              </a:spcBef>
            </a:pPr>
            <a:r>
              <a:rPr lang="en-US" sz="2800" dirty="0"/>
              <a:t>- RST (= Release, Sowing, Transplantation) table</a:t>
            </a:r>
          </a:p>
          <a:p>
            <a:pPr>
              <a:spcBef>
                <a:spcPts val="1200"/>
              </a:spcBef>
            </a:pPr>
            <a:r>
              <a:rPr lang="en-US" sz="2800" dirty="0"/>
              <a:t>- Tables of </a:t>
            </a:r>
            <a:r>
              <a:rPr lang="en-US" sz="2800" dirty="0" err="1"/>
              <a:t>demog</a:t>
            </a:r>
            <a:r>
              <a:rPr lang="en-US" sz="2800" dirty="0"/>
              <a:t>. results: pop dynamics, demographic progress, viability</a:t>
            </a:r>
          </a:p>
        </p:txBody>
      </p:sp>
      <p:sp>
        <p:nvSpPr>
          <p:cNvPr id="5" name="ZoneTexte 4">
            <a:extLst>
              <a:ext uri="{FF2B5EF4-FFF2-40B4-BE49-F238E27FC236}">
                <a16:creationId xmlns:a16="http://schemas.microsoft.com/office/drawing/2014/main" id="{5CD5FDF2-226E-406F-A181-5B21C648DED6}"/>
              </a:ext>
            </a:extLst>
          </p:cNvPr>
          <p:cNvSpPr txBox="1"/>
          <p:nvPr/>
        </p:nvSpPr>
        <p:spPr>
          <a:xfrm>
            <a:off x="444614" y="1206716"/>
            <a:ext cx="11002297" cy="646331"/>
          </a:xfrm>
          <a:prstGeom prst="rect">
            <a:avLst/>
          </a:prstGeom>
          <a:noFill/>
        </p:spPr>
        <p:txBody>
          <a:bodyPr wrap="square" rtlCol="0">
            <a:spAutoFit/>
          </a:bodyPr>
          <a:lstStyle/>
          <a:p>
            <a:pPr>
              <a:spcBef>
                <a:spcPts val="1800"/>
              </a:spcBef>
            </a:pPr>
            <a:r>
              <a:rPr lang="en-US" sz="3600" b="1" dirty="0"/>
              <a:t>Structure - </a:t>
            </a:r>
            <a:r>
              <a:rPr lang="en-US" sz="2400" b="1" dirty="0"/>
              <a:t>other important tables connected to the population table</a:t>
            </a:r>
          </a:p>
        </p:txBody>
      </p:sp>
      <p:sp>
        <p:nvSpPr>
          <p:cNvPr id="6" name="ZoneTexte 5">
            <a:extLst>
              <a:ext uri="{FF2B5EF4-FFF2-40B4-BE49-F238E27FC236}">
                <a16:creationId xmlns:a16="http://schemas.microsoft.com/office/drawing/2014/main" id="{C5D6F7FE-D330-48CC-964D-B11252C0081E}"/>
              </a:ext>
            </a:extLst>
          </p:cNvPr>
          <p:cNvSpPr txBox="1"/>
          <p:nvPr/>
        </p:nvSpPr>
        <p:spPr>
          <a:xfrm>
            <a:off x="444614" y="5651284"/>
            <a:ext cx="11002297" cy="830997"/>
          </a:xfrm>
          <a:prstGeom prst="rect">
            <a:avLst/>
          </a:prstGeom>
          <a:noFill/>
        </p:spPr>
        <p:txBody>
          <a:bodyPr wrap="square" rtlCol="0">
            <a:spAutoFit/>
          </a:bodyPr>
          <a:lstStyle/>
          <a:p>
            <a:pPr>
              <a:spcBef>
                <a:spcPts val="1200"/>
              </a:spcBef>
            </a:pPr>
            <a:r>
              <a:rPr lang="en-US" sz="2400" dirty="0"/>
              <a:t>(other tables accessible to admins only and many intermediate tables, </a:t>
            </a:r>
            <a:r>
              <a:rPr lang="en-US" sz="2400" i="1" dirty="0"/>
              <a:t>e.g.</a:t>
            </a:r>
            <a:r>
              <a:rPr lang="en-US" sz="2400" dirty="0"/>
              <a:t>, listing the options available in the drop-down lists)</a:t>
            </a:r>
            <a:endParaRPr lang="en-US" sz="2400" b="1" dirty="0"/>
          </a:p>
        </p:txBody>
      </p:sp>
      <p:sp>
        <p:nvSpPr>
          <p:cNvPr id="7" name="ZoneTexte 6">
            <a:extLst>
              <a:ext uri="{FF2B5EF4-FFF2-40B4-BE49-F238E27FC236}">
                <a16:creationId xmlns:a16="http://schemas.microsoft.com/office/drawing/2014/main" id="{AFF9059F-F0C1-4E59-B7F3-3E96CA32BD43}"/>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8" name="Connecteur droit 7">
            <a:extLst>
              <a:ext uri="{FF2B5EF4-FFF2-40B4-BE49-F238E27FC236}">
                <a16:creationId xmlns:a16="http://schemas.microsoft.com/office/drawing/2014/main" id="{268515EB-E6D6-44BA-958C-AB9E6B5063A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461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1772822"/>
            <a:ext cx="11002297" cy="523220"/>
          </a:xfrm>
          <a:prstGeom prst="rect">
            <a:avLst/>
          </a:prstGeom>
          <a:noFill/>
        </p:spPr>
        <p:txBody>
          <a:bodyPr wrap="square" rtlCol="0">
            <a:spAutoFit/>
          </a:bodyPr>
          <a:lstStyle/>
          <a:p>
            <a:pPr>
              <a:spcBef>
                <a:spcPts val="1200"/>
              </a:spcBef>
            </a:pPr>
            <a:r>
              <a:rPr lang="en-US" sz="2800" dirty="0"/>
              <a:t>160 information fields</a:t>
            </a:r>
          </a:p>
        </p:txBody>
      </p:sp>
      <p:sp>
        <p:nvSpPr>
          <p:cNvPr id="6" name="ZoneTexte 5">
            <a:extLst>
              <a:ext uri="{FF2B5EF4-FFF2-40B4-BE49-F238E27FC236}">
                <a16:creationId xmlns:a16="http://schemas.microsoft.com/office/drawing/2014/main" id="{6BA7A100-A4DF-4B42-B9AE-6B3D5D501621}"/>
              </a:ext>
            </a:extLst>
          </p:cNvPr>
          <p:cNvSpPr txBox="1"/>
          <p:nvPr/>
        </p:nvSpPr>
        <p:spPr>
          <a:xfrm>
            <a:off x="444614" y="1113550"/>
            <a:ext cx="11002297" cy="646331"/>
          </a:xfrm>
          <a:prstGeom prst="rect">
            <a:avLst/>
          </a:prstGeom>
          <a:noFill/>
        </p:spPr>
        <p:txBody>
          <a:bodyPr wrap="square" rtlCol="0">
            <a:spAutoFit/>
          </a:bodyPr>
          <a:lstStyle/>
          <a:p>
            <a:pPr>
              <a:spcBef>
                <a:spcPts val="1800"/>
              </a:spcBef>
            </a:pPr>
            <a:r>
              <a:rPr lang="en-US" sz="3600" b="1" dirty="0"/>
              <a:t>Population data</a:t>
            </a:r>
            <a:endParaRPr lang="en-US" sz="3600" dirty="0"/>
          </a:p>
        </p:txBody>
      </p:sp>
      <p:grpSp>
        <p:nvGrpSpPr>
          <p:cNvPr id="12" name="Groupe 11">
            <a:extLst>
              <a:ext uri="{FF2B5EF4-FFF2-40B4-BE49-F238E27FC236}">
                <a16:creationId xmlns:a16="http://schemas.microsoft.com/office/drawing/2014/main" id="{55B7B630-6821-4876-8B01-A1A8750307B9}"/>
              </a:ext>
            </a:extLst>
          </p:cNvPr>
          <p:cNvGrpSpPr/>
          <p:nvPr/>
        </p:nvGrpSpPr>
        <p:grpSpPr>
          <a:xfrm>
            <a:off x="1398055" y="2664147"/>
            <a:ext cx="9095414" cy="3917268"/>
            <a:chOff x="1391022" y="2269378"/>
            <a:chExt cx="9095414" cy="3917268"/>
          </a:xfrm>
        </p:grpSpPr>
        <p:pic>
          <p:nvPicPr>
            <p:cNvPr id="5" name="Image 4">
              <a:extLst>
                <a:ext uri="{FF2B5EF4-FFF2-40B4-BE49-F238E27FC236}">
                  <a16:creationId xmlns:a16="http://schemas.microsoft.com/office/drawing/2014/main" id="{DA92DDDB-C707-4A3D-BBD4-BB3593086AF0}"/>
                </a:ext>
              </a:extLst>
            </p:cNvPr>
            <p:cNvPicPr>
              <a:picLocks noChangeAspect="1"/>
            </p:cNvPicPr>
            <p:nvPr/>
          </p:nvPicPr>
          <p:blipFill>
            <a:blip r:embed="rId4"/>
            <a:stretch>
              <a:fillRect/>
            </a:stretch>
          </p:blipFill>
          <p:spPr>
            <a:xfrm>
              <a:off x="1405087" y="3823262"/>
              <a:ext cx="9081349" cy="2363384"/>
            </a:xfrm>
            <a:prstGeom prst="rect">
              <a:avLst/>
            </a:prstGeom>
          </p:spPr>
        </p:pic>
        <p:pic>
          <p:nvPicPr>
            <p:cNvPr id="9" name="Image 8">
              <a:extLst>
                <a:ext uri="{FF2B5EF4-FFF2-40B4-BE49-F238E27FC236}">
                  <a16:creationId xmlns:a16="http://schemas.microsoft.com/office/drawing/2014/main" id="{AD95CF13-4A92-4242-BDC8-F0A149541EB7}"/>
                </a:ext>
              </a:extLst>
            </p:cNvPr>
            <p:cNvPicPr>
              <a:picLocks noChangeAspect="1"/>
            </p:cNvPicPr>
            <p:nvPr/>
          </p:nvPicPr>
          <p:blipFill rotWithShape="1">
            <a:blip r:embed="rId5"/>
            <a:srcRect r="3648"/>
            <a:stretch/>
          </p:blipFill>
          <p:spPr>
            <a:xfrm>
              <a:off x="1391022" y="2269378"/>
              <a:ext cx="9081349" cy="877163"/>
            </a:xfrm>
            <a:prstGeom prst="rect">
              <a:avLst/>
            </a:prstGeom>
          </p:spPr>
        </p:pic>
        <p:pic>
          <p:nvPicPr>
            <p:cNvPr id="11" name="Image 10">
              <a:extLst>
                <a:ext uri="{FF2B5EF4-FFF2-40B4-BE49-F238E27FC236}">
                  <a16:creationId xmlns:a16="http://schemas.microsoft.com/office/drawing/2014/main" id="{AB0B1071-F585-42B5-B507-B86B6E1C52AF}"/>
                </a:ext>
              </a:extLst>
            </p:cNvPr>
            <p:cNvPicPr>
              <a:picLocks noChangeAspect="1"/>
            </p:cNvPicPr>
            <p:nvPr/>
          </p:nvPicPr>
          <p:blipFill rotWithShape="1">
            <a:blip r:embed="rId6"/>
            <a:srcRect l="-1" r="40349"/>
            <a:stretch/>
          </p:blipFill>
          <p:spPr>
            <a:xfrm>
              <a:off x="1405088" y="3090133"/>
              <a:ext cx="9081348" cy="850809"/>
            </a:xfrm>
            <a:prstGeom prst="rect">
              <a:avLst/>
            </a:prstGeom>
          </p:spPr>
        </p:pic>
      </p:grpSp>
      <p:sp>
        <p:nvSpPr>
          <p:cNvPr id="10" name="ZoneTexte 9">
            <a:extLst>
              <a:ext uri="{FF2B5EF4-FFF2-40B4-BE49-F238E27FC236}">
                <a16:creationId xmlns:a16="http://schemas.microsoft.com/office/drawing/2014/main" id="{C887532A-7A26-4984-A04D-4BFA64114ADE}"/>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13" name="Connecteur droit 12">
            <a:extLst>
              <a:ext uri="{FF2B5EF4-FFF2-40B4-BE49-F238E27FC236}">
                <a16:creationId xmlns:a16="http://schemas.microsoft.com/office/drawing/2014/main" id="{A03EA96D-5DB6-4A39-9B80-8A737153F378}"/>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531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6" name="ZoneTexte 5">
            <a:extLst>
              <a:ext uri="{FF2B5EF4-FFF2-40B4-BE49-F238E27FC236}">
                <a16:creationId xmlns:a16="http://schemas.microsoft.com/office/drawing/2014/main" id="{6BA7A100-A4DF-4B42-B9AE-6B3D5D501621}"/>
              </a:ext>
            </a:extLst>
          </p:cNvPr>
          <p:cNvSpPr txBox="1"/>
          <p:nvPr/>
        </p:nvSpPr>
        <p:spPr>
          <a:xfrm>
            <a:off x="444614" y="1044145"/>
            <a:ext cx="11002297" cy="646331"/>
          </a:xfrm>
          <a:prstGeom prst="rect">
            <a:avLst/>
          </a:prstGeom>
          <a:noFill/>
        </p:spPr>
        <p:txBody>
          <a:bodyPr wrap="square" rtlCol="0">
            <a:spAutoFit/>
          </a:bodyPr>
          <a:lstStyle/>
          <a:p>
            <a:pPr>
              <a:spcBef>
                <a:spcPts val="1800"/>
              </a:spcBef>
            </a:pPr>
            <a:r>
              <a:rPr lang="en-US" sz="3600" b="1" dirty="0"/>
              <a:t>Population data</a:t>
            </a:r>
            <a:endParaRPr lang="en-US" sz="3600" dirty="0"/>
          </a:p>
        </p:txBody>
      </p:sp>
      <p:pic>
        <p:nvPicPr>
          <p:cNvPr id="14" name="Image 13">
            <a:extLst>
              <a:ext uri="{FF2B5EF4-FFF2-40B4-BE49-F238E27FC236}">
                <a16:creationId xmlns:a16="http://schemas.microsoft.com/office/drawing/2014/main" id="{6A19CADE-4538-4819-9160-6BB32C848E58}"/>
              </a:ext>
            </a:extLst>
          </p:cNvPr>
          <p:cNvPicPr>
            <a:picLocks noChangeAspect="1"/>
          </p:cNvPicPr>
          <p:nvPr/>
        </p:nvPicPr>
        <p:blipFill rotWithShape="1">
          <a:blip r:embed="rId4"/>
          <a:srcRect t="8672"/>
          <a:stretch/>
        </p:blipFill>
        <p:spPr>
          <a:xfrm>
            <a:off x="188085" y="1922369"/>
            <a:ext cx="4183481" cy="4605183"/>
          </a:xfrm>
          <a:prstGeom prst="rect">
            <a:avLst/>
          </a:prstGeom>
          <a:ln>
            <a:solidFill>
              <a:schemeClr val="tx1"/>
            </a:solidFill>
          </a:ln>
        </p:spPr>
      </p:pic>
      <p:pic>
        <p:nvPicPr>
          <p:cNvPr id="7" name="Image 6">
            <a:extLst>
              <a:ext uri="{FF2B5EF4-FFF2-40B4-BE49-F238E27FC236}">
                <a16:creationId xmlns:a16="http://schemas.microsoft.com/office/drawing/2014/main" id="{42C31CC2-6F2E-4635-AAA0-D26B04031DDF}"/>
              </a:ext>
            </a:extLst>
          </p:cNvPr>
          <p:cNvPicPr>
            <a:picLocks noChangeAspect="1"/>
          </p:cNvPicPr>
          <p:nvPr/>
        </p:nvPicPr>
        <p:blipFill rotWithShape="1">
          <a:blip r:embed="rId5"/>
          <a:srcRect r="13265"/>
          <a:stretch/>
        </p:blipFill>
        <p:spPr>
          <a:xfrm>
            <a:off x="7114025" y="961687"/>
            <a:ext cx="4871632" cy="4266410"/>
          </a:xfrm>
          <a:prstGeom prst="rect">
            <a:avLst/>
          </a:prstGeom>
          <a:ln>
            <a:solidFill>
              <a:schemeClr val="tx1"/>
            </a:solidFill>
          </a:ln>
        </p:spPr>
      </p:pic>
      <p:pic>
        <p:nvPicPr>
          <p:cNvPr id="10" name="Image 9">
            <a:extLst>
              <a:ext uri="{FF2B5EF4-FFF2-40B4-BE49-F238E27FC236}">
                <a16:creationId xmlns:a16="http://schemas.microsoft.com/office/drawing/2014/main" id="{45EA3F14-4B7E-410A-A518-D8C3C7B69582}"/>
              </a:ext>
            </a:extLst>
          </p:cNvPr>
          <p:cNvPicPr>
            <a:picLocks noChangeAspect="1"/>
          </p:cNvPicPr>
          <p:nvPr/>
        </p:nvPicPr>
        <p:blipFill rotWithShape="1">
          <a:blip r:embed="rId6"/>
          <a:srcRect r="4352"/>
          <a:stretch/>
        </p:blipFill>
        <p:spPr>
          <a:xfrm>
            <a:off x="4371566" y="2450635"/>
            <a:ext cx="4367987" cy="3548649"/>
          </a:xfrm>
          <a:prstGeom prst="rect">
            <a:avLst/>
          </a:prstGeom>
          <a:ln>
            <a:solidFill>
              <a:schemeClr val="tx1"/>
            </a:solidFill>
          </a:ln>
        </p:spPr>
      </p:pic>
      <p:sp>
        <p:nvSpPr>
          <p:cNvPr id="8" name="ZoneTexte 7">
            <a:extLst>
              <a:ext uri="{FF2B5EF4-FFF2-40B4-BE49-F238E27FC236}">
                <a16:creationId xmlns:a16="http://schemas.microsoft.com/office/drawing/2014/main" id="{621F8C1E-98E6-4930-B5FF-41CDCD511376}"/>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9" name="Connecteur droit 8">
            <a:extLst>
              <a:ext uri="{FF2B5EF4-FFF2-40B4-BE49-F238E27FC236}">
                <a16:creationId xmlns:a16="http://schemas.microsoft.com/office/drawing/2014/main" id="{8F690733-893C-48BE-9457-F1E2FC68BBA7}"/>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448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2" y="1063694"/>
            <a:ext cx="11002297" cy="646331"/>
          </a:xfrm>
          <a:prstGeom prst="rect">
            <a:avLst/>
          </a:prstGeom>
          <a:noFill/>
        </p:spPr>
        <p:txBody>
          <a:bodyPr wrap="square" rtlCol="0">
            <a:spAutoFit/>
          </a:bodyPr>
          <a:lstStyle/>
          <a:p>
            <a:pPr>
              <a:spcBef>
                <a:spcPts val="1800"/>
              </a:spcBef>
            </a:pPr>
            <a:r>
              <a:rPr lang="en-US" sz="3600" b="1" dirty="0"/>
              <a:t>Data available today</a:t>
            </a:r>
            <a:endParaRPr lang="en-US" sz="3600" dirty="0"/>
          </a:p>
        </p:txBody>
      </p:sp>
      <p:sp>
        <p:nvSpPr>
          <p:cNvPr id="7" name="ZoneTexte 6">
            <a:extLst>
              <a:ext uri="{FF2B5EF4-FFF2-40B4-BE49-F238E27FC236}">
                <a16:creationId xmlns:a16="http://schemas.microsoft.com/office/drawing/2014/main" id="{9DA63567-D250-45AA-86F6-67B0EB1EC786}"/>
              </a:ext>
            </a:extLst>
          </p:cNvPr>
          <p:cNvSpPr txBox="1"/>
          <p:nvPr/>
        </p:nvSpPr>
        <p:spPr>
          <a:xfrm>
            <a:off x="444613" y="5866211"/>
            <a:ext cx="11002297" cy="523220"/>
          </a:xfrm>
          <a:prstGeom prst="rect">
            <a:avLst/>
          </a:prstGeom>
          <a:noFill/>
        </p:spPr>
        <p:txBody>
          <a:bodyPr wrap="square" rtlCol="0">
            <a:spAutoFit/>
          </a:bodyPr>
          <a:lstStyle/>
          <a:p>
            <a:pPr>
              <a:spcBef>
                <a:spcPts val="1200"/>
              </a:spcBef>
            </a:pPr>
            <a:r>
              <a:rPr lang="en-US" sz="2800" b="1" dirty="0"/>
              <a:t>Limited information for most populations</a:t>
            </a:r>
          </a:p>
        </p:txBody>
      </p:sp>
      <p:sp>
        <p:nvSpPr>
          <p:cNvPr id="8" name="ZoneTexte 7">
            <a:extLst>
              <a:ext uri="{FF2B5EF4-FFF2-40B4-BE49-F238E27FC236}">
                <a16:creationId xmlns:a16="http://schemas.microsoft.com/office/drawing/2014/main" id="{F85AB292-6417-4FB3-93A9-AB77697CCBEC}"/>
              </a:ext>
            </a:extLst>
          </p:cNvPr>
          <p:cNvSpPr txBox="1"/>
          <p:nvPr/>
        </p:nvSpPr>
        <p:spPr>
          <a:xfrm>
            <a:off x="444613" y="5230048"/>
            <a:ext cx="11002297" cy="523220"/>
          </a:xfrm>
          <a:prstGeom prst="rect">
            <a:avLst/>
          </a:prstGeom>
          <a:noFill/>
        </p:spPr>
        <p:txBody>
          <a:bodyPr wrap="square" rtlCol="0">
            <a:spAutoFit/>
          </a:bodyPr>
          <a:lstStyle/>
          <a:p>
            <a:pPr>
              <a:spcBef>
                <a:spcPts val="1200"/>
              </a:spcBef>
            </a:pPr>
            <a:r>
              <a:rPr lang="en-US" sz="2800" b="1" dirty="0"/>
              <a:t>Not a random sample of translocations in Europe and the Mediterranean</a:t>
            </a:r>
          </a:p>
        </p:txBody>
      </p:sp>
      <p:graphicFrame>
        <p:nvGraphicFramePr>
          <p:cNvPr id="2" name="Tableau 8">
            <a:extLst>
              <a:ext uri="{FF2B5EF4-FFF2-40B4-BE49-F238E27FC236}">
                <a16:creationId xmlns:a16="http://schemas.microsoft.com/office/drawing/2014/main" id="{FB495070-CA01-4150-9A65-C895C49A5802}"/>
              </a:ext>
            </a:extLst>
          </p:cNvPr>
          <p:cNvGraphicFramePr>
            <a:graphicFrameLocks noGrp="1"/>
          </p:cNvGraphicFramePr>
          <p:nvPr>
            <p:extLst>
              <p:ext uri="{D42A27DB-BD31-4B8C-83A1-F6EECF244321}">
                <p14:modId xmlns:p14="http://schemas.microsoft.com/office/powerpoint/2010/main" val="753821028"/>
              </p:ext>
            </p:extLst>
          </p:nvPr>
        </p:nvGraphicFramePr>
        <p:xfrm>
          <a:off x="2032000" y="2052980"/>
          <a:ext cx="8127999" cy="2752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38896789"/>
                    </a:ext>
                  </a:extLst>
                </a:gridCol>
                <a:gridCol w="2709333">
                  <a:extLst>
                    <a:ext uri="{9D8B030D-6E8A-4147-A177-3AD203B41FA5}">
                      <a16:colId xmlns:a16="http://schemas.microsoft.com/office/drawing/2014/main" val="378688068"/>
                    </a:ext>
                  </a:extLst>
                </a:gridCol>
                <a:gridCol w="2709333">
                  <a:extLst>
                    <a:ext uri="{9D8B030D-6E8A-4147-A177-3AD203B41FA5}">
                      <a16:colId xmlns:a16="http://schemas.microsoft.com/office/drawing/2014/main" val="1482122086"/>
                    </a:ext>
                  </a:extLst>
                </a:gridCol>
              </a:tblGrid>
              <a:tr h="550408">
                <a:tc>
                  <a:txBody>
                    <a:bodyPr/>
                    <a:lstStyle/>
                    <a:p>
                      <a:pPr algn="ctr"/>
                      <a:endParaRPr lang="fr-FR" sz="2800" b="0">
                        <a:solidFill>
                          <a:schemeClr val="tx1"/>
                        </a:solidFill>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Populations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800" b="0" dirty="0" err="1">
                          <a:solidFill>
                            <a:schemeClr val="tx1"/>
                          </a:solidFill>
                        </a:rPr>
                        <a:t>Species</a:t>
                      </a:r>
                      <a:endParaRPr lang="fr-FR" sz="2800" b="0" dirty="0">
                        <a:solidFill>
                          <a:schemeClr val="tx1"/>
                        </a:solidFill>
                      </a:endParaRPr>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4925232"/>
                  </a:ext>
                </a:extLst>
              </a:tr>
              <a:tr h="550408">
                <a:tc>
                  <a:txBody>
                    <a:bodyPr/>
                    <a:lstStyle/>
                    <a:p>
                      <a:pPr algn="ctr"/>
                      <a:r>
                        <a:rPr lang="fr-FR" sz="2800" b="0" dirty="0">
                          <a:solidFill>
                            <a:schemeClr val="tx1"/>
                          </a:solidFill>
                        </a:rPr>
                        <a:t>Animals</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518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89</a:t>
                      </a:r>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489097488"/>
                  </a:ext>
                </a:extLst>
              </a:tr>
              <a:tr h="550408">
                <a:tc>
                  <a:txBody>
                    <a:bodyPr/>
                    <a:lstStyle/>
                    <a:p>
                      <a:pPr algn="ctr"/>
                      <a:r>
                        <a:rPr lang="fr-FR" sz="2800" b="0" dirty="0">
                          <a:solidFill>
                            <a:schemeClr val="tx1"/>
                          </a:solidFill>
                        </a:rPr>
                        <a:t>Fungi</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3</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56188990"/>
                  </a:ext>
                </a:extLst>
              </a:tr>
              <a:tr h="550408">
                <a:tc>
                  <a:txBody>
                    <a:bodyPr/>
                    <a:lstStyle/>
                    <a:p>
                      <a:pPr algn="ctr"/>
                      <a:r>
                        <a:rPr lang="fr-FR" sz="2800" b="0" dirty="0">
                          <a:solidFill>
                            <a:schemeClr val="tx1"/>
                          </a:solidFill>
                        </a:rPr>
                        <a:t>Plants</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1214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fr-FR" sz="2800" b="0" dirty="0">
                          <a:solidFill>
                            <a:schemeClr val="tx1"/>
                          </a:solidFill>
                        </a:rPr>
                        <a:t>534</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69257259"/>
                  </a:ext>
                </a:extLst>
              </a:tr>
              <a:tr h="550408">
                <a:tc>
                  <a:txBody>
                    <a:bodyPr/>
                    <a:lstStyle/>
                    <a:p>
                      <a:pPr algn="ctr"/>
                      <a:r>
                        <a:rPr lang="fr-FR" sz="2800" b="1" dirty="0">
                          <a:solidFill>
                            <a:schemeClr val="tx1"/>
                          </a:solidFill>
                        </a:rPr>
                        <a:t>Total</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800" b="1" dirty="0">
                          <a:solidFill>
                            <a:schemeClr val="tx1"/>
                          </a:solidFill>
                        </a:rPr>
                        <a:t>1742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800" b="1" dirty="0">
                          <a:solidFill>
                            <a:schemeClr val="tx1"/>
                          </a:solidFill>
                        </a:rPr>
                        <a:t>626</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3024526"/>
                  </a:ext>
                </a:extLst>
              </a:tr>
            </a:tbl>
          </a:graphicData>
        </a:graphic>
      </p:graphicFrame>
      <p:sp>
        <p:nvSpPr>
          <p:cNvPr id="9" name="ZoneTexte 8">
            <a:extLst>
              <a:ext uri="{FF2B5EF4-FFF2-40B4-BE49-F238E27FC236}">
                <a16:creationId xmlns:a16="http://schemas.microsoft.com/office/drawing/2014/main" id="{7D7864E1-8966-4B44-AC32-2685594AF854}"/>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Content</a:t>
            </a:r>
          </a:p>
        </p:txBody>
      </p:sp>
      <p:cxnSp>
        <p:nvCxnSpPr>
          <p:cNvPr id="10" name="Connecteur droit 9">
            <a:extLst>
              <a:ext uri="{FF2B5EF4-FFF2-40B4-BE49-F238E27FC236}">
                <a16:creationId xmlns:a16="http://schemas.microsoft.com/office/drawing/2014/main" id="{F0D3C0FE-DE10-49F6-B1EA-822F6086C288}"/>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854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3983881" y="3201538"/>
            <a:ext cx="4224233"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Functioning</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3786265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4" name="ZoneTexte 3">
            <a:extLst>
              <a:ext uri="{FF2B5EF4-FFF2-40B4-BE49-F238E27FC236}">
                <a16:creationId xmlns:a16="http://schemas.microsoft.com/office/drawing/2014/main" id="{92F61EDC-A85E-4EC2-B33D-BD5FE45C1A2A}"/>
              </a:ext>
            </a:extLst>
          </p:cNvPr>
          <p:cNvSpPr txBox="1"/>
          <p:nvPr/>
        </p:nvSpPr>
        <p:spPr>
          <a:xfrm>
            <a:off x="444614" y="1928374"/>
            <a:ext cx="2781969" cy="954107"/>
          </a:xfrm>
          <a:prstGeom prst="rect">
            <a:avLst/>
          </a:prstGeom>
          <a:noFill/>
        </p:spPr>
        <p:txBody>
          <a:bodyPr wrap="square" rtlCol="0">
            <a:spAutoFit/>
          </a:bodyPr>
          <a:lstStyle/>
          <a:p>
            <a:pPr>
              <a:spcBef>
                <a:spcPts val="1200"/>
              </a:spcBef>
            </a:pPr>
            <a:r>
              <a:rPr lang="en-US" sz="2800" dirty="0"/>
              <a:t>Three levels of access:</a:t>
            </a:r>
          </a:p>
        </p:txBody>
      </p:sp>
      <p:sp>
        <p:nvSpPr>
          <p:cNvPr id="5" name="ZoneTexte 4">
            <a:extLst>
              <a:ext uri="{FF2B5EF4-FFF2-40B4-BE49-F238E27FC236}">
                <a16:creationId xmlns:a16="http://schemas.microsoft.com/office/drawing/2014/main" id="{5CD5FDF2-226E-406F-A181-5B21C648DED6}"/>
              </a:ext>
            </a:extLst>
          </p:cNvPr>
          <p:cNvSpPr txBox="1"/>
          <p:nvPr/>
        </p:nvSpPr>
        <p:spPr>
          <a:xfrm>
            <a:off x="469272" y="1050138"/>
            <a:ext cx="11002297" cy="646331"/>
          </a:xfrm>
          <a:prstGeom prst="rect">
            <a:avLst/>
          </a:prstGeom>
          <a:noFill/>
        </p:spPr>
        <p:txBody>
          <a:bodyPr wrap="square" rtlCol="0">
            <a:spAutoFit/>
          </a:bodyPr>
          <a:lstStyle/>
          <a:p>
            <a:pPr>
              <a:spcBef>
                <a:spcPts val="1800"/>
              </a:spcBef>
            </a:pPr>
            <a:r>
              <a:rPr lang="en-US" sz="3600" b="1" dirty="0"/>
              <a:t>Access to the database: The </a:t>
            </a:r>
            <a:r>
              <a:rPr lang="en-US" sz="3600" b="1" dirty="0" err="1"/>
              <a:t>Transloc</a:t>
            </a:r>
            <a:r>
              <a:rPr lang="en-US" sz="3600" b="1" dirty="0"/>
              <a:t> website</a:t>
            </a:r>
            <a:endParaRPr lang="en-US" sz="3600" dirty="0"/>
          </a:p>
        </p:txBody>
      </p:sp>
      <p:sp>
        <p:nvSpPr>
          <p:cNvPr id="10" name="ZoneTexte 9">
            <a:extLst>
              <a:ext uri="{FF2B5EF4-FFF2-40B4-BE49-F238E27FC236}">
                <a16:creationId xmlns:a16="http://schemas.microsoft.com/office/drawing/2014/main" id="{9321C6DF-3C6F-4B50-952A-322B987FD310}"/>
              </a:ext>
            </a:extLst>
          </p:cNvPr>
          <p:cNvSpPr txBox="1"/>
          <p:nvPr/>
        </p:nvSpPr>
        <p:spPr>
          <a:xfrm>
            <a:off x="1057186" y="3210740"/>
            <a:ext cx="1565300" cy="646331"/>
          </a:xfrm>
          <a:prstGeom prst="rect">
            <a:avLst/>
          </a:prstGeom>
          <a:noFill/>
          <a:ln>
            <a:solidFill>
              <a:schemeClr val="tx1"/>
            </a:solidFill>
          </a:ln>
        </p:spPr>
        <p:txBody>
          <a:bodyPr wrap="none" rtlCol="0">
            <a:spAutoFit/>
          </a:bodyPr>
          <a:lstStyle/>
          <a:p>
            <a:r>
              <a:rPr lang="fr-FR" sz="3600" dirty="0" err="1"/>
              <a:t>Visitors</a:t>
            </a:r>
            <a:endParaRPr lang="fr-FR" sz="3600" dirty="0"/>
          </a:p>
        </p:txBody>
      </p:sp>
      <p:sp>
        <p:nvSpPr>
          <p:cNvPr id="11" name="ZoneTexte 10">
            <a:extLst>
              <a:ext uri="{FF2B5EF4-FFF2-40B4-BE49-F238E27FC236}">
                <a16:creationId xmlns:a16="http://schemas.microsoft.com/office/drawing/2014/main" id="{254C1B58-3523-4C18-BAB8-89E97A5E3FEA}"/>
              </a:ext>
            </a:extLst>
          </p:cNvPr>
          <p:cNvSpPr txBox="1"/>
          <p:nvPr/>
        </p:nvSpPr>
        <p:spPr>
          <a:xfrm>
            <a:off x="1227264" y="4185330"/>
            <a:ext cx="1225144" cy="646331"/>
          </a:xfrm>
          <a:prstGeom prst="rect">
            <a:avLst/>
          </a:prstGeom>
          <a:noFill/>
          <a:ln>
            <a:solidFill>
              <a:schemeClr val="tx1"/>
            </a:solidFill>
          </a:ln>
        </p:spPr>
        <p:txBody>
          <a:bodyPr wrap="none" rtlCol="0">
            <a:spAutoFit/>
          </a:bodyPr>
          <a:lstStyle/>
          <a:p>
            <a:r>
              <a:rPr lang="fr-FR" sz="3600" dirty="0" err="1"/>
              <a:t>Users</a:t>
            </a:r>
            <a:endParaRPr lang="fr-FR" sz="3600" dirty="0"/>
          </a:p>
        </p:txBody>
      </p:sp>
      <p:sp>
        <p:nvSpPr>
          <p:cNvPr id="12" name="ZoneTexte 11">
            <a:extLst>
              <a:ext uri="{FF2B5EF4-FFF2-40B4-BE49-F238E27FC236}">
                <a16:creationId xmlns:a16="http://schemas.microsoft.com/office/drawing/2014/main" id="{884CF729-8623-4AB2-AA06-94A2A52DABB1}"/>
              </a:ext>
            </a:extLst>
          </p:cNvPr>
          <p:cNvSpPr txBox="1"/>
          <p:nvPr/>
        </p:nvSpPr>
        <p:spPr>
          <a:xfrm>
            <a:off x="1043784" y="5159920"/>
            <a:ext cx="1592103" cy="646331"/>
          </a:xfrm>
          <a:prstGeom prst="rect">
            <a:avLst/>
          </a:prstGeom>
          <a:noFill/>
          <a:ln>
            <a:solidFill>
              <a:schemeClr val="tx1"/>
            </a:solidFill>
          </a:ln>
        </p:spPr>
        <p:txBody>
          <a:bodyPr wrap="none" rtlCol="0">
            <a:spAutoFit/>
          </a:bodyPr>
          <a:lstStyle/>
          <a:p>
            <a:r>
              <a:rPr lang="fr-FR" sz="3600" dirty="0"/>
              <a:t>Admins</a:t>
            </a:r>
          </a:p>
        </p:txBody>
      </p:sp>
      <p:pic>
        <p:nvPicPr>
          <p:cNvPr id="6" name="Image 5">
            <a:extLst>
              <a:ext uri="{FF2B5EF4-FFF2-40B4-BE49-F238E27FC236}">
                <a16:creationId xmlns:a16="http://schemas.microsoft.com/office/drawing/2014/main" id="{CCEF08BA-3EF8-49A3-B954-3FFE3F975E81}"/>
              </a:ext>
            </a:extLst>
          </p:cNvPr>
          <p:cNvPicPr>
            <a:picLocks noChangeAspect="1"/>
          </p:cNvPicPr>
          <p:nvPr/>
        </p:nvPicPr>
        <p:blipFill>
          <a:blip r:embed="rId4"/>
          <a:stretch>
            <a:fillRect/>
          </a:stretch>
        </p:blipFill>
        <p:spPr>
          <a:xfrm>
            <a:off x="3226583" y="2183764"/>
            <a:ext cx="8965417" cy="4003132"/>
          </a:xfrm>
          <a:prstGeom prst="rect">
            <a:avLst/>
          </a:prstGeom>
        </p:spPr>
      </p:pic>
      <p:sp>
        <p:nvSpPr>
          <p:cNvPr id="9" name="ZoneTexte 8">
            <a:extLst>
              <a:ext uri="{FF2B5EF4-FFF2-40B4-BE49-F238E27FC236}">
                <a16:creationId xmlns:a16="http://schemas.microsoft.com/office/drawing/2014/main" id="{29F1ED7E-4460-44DF-B80E-BA3FC9C2EDE2}"/>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13" name="Connecteur droit 12">
            <a:extLst>
              <a:ext uri="{FF2B5EF4-FFF2-40B4-BE49-F238E27FC236}">
                <a16:creationId xmlns:a16="http://schemas.microsoft.com/office/drawing/2014/main" id="{F0A3C0C2-4F3E-401F-A9C1-B064361A5C30}"/>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559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9321C6DF-3C6F-4B50-952A-322B987FD310}"/>
              </a:ext>
            </a:extLst>
          </p:cNvPr>
          <p:cNvSpPr txBox="1"/>
          <p:nvPr/>
        </p:nvSpPr>
        <p:spPr>
          <a:xfrm>
            <a:off x="1057186" y="2804339"/>
            <a:ext cx="1565300" cy="646331"/>
          </a:xfrm>
          <a:prstGeom prst="rect">
            <a:avLst/>
          </a:prstGeom>
          <a:noFill/>
          <a:ln>
            <a:solidFill>
              <a:schemeClr val="tx1"/>
            </a:solidFill>
          </a:ln>
        </p:spPr>
        <p:txBody>
          <a:bodyPr wrap="none" rtlCol="0">
            <a:spAutoFit/>
          </a:bodyPr>
          <a:lstStyle/>
          <a:p>
            <a:r>
              <a:rPr lang="fr-FR" sz="3600" dirty="0" err="1">
                <a:solidFill>
                  <a:schemeClr val="accent1">
                    <a:lumMod val="60000"/>
                    <a:lumOff val="40000"/>
                  </a:schemeClr>
                </a:solidFill>
              </a:rPr>
              <a:t>Visitors</a:t>
            </a:r>
            <a:endParaRPr lang="fr-FR" sz="3600" dirty="0">
              <a:solidFill>
                <a:schemeClr val="accent1">
                  <a:lumMod val="60000"/>
                  <a:lumOff val="40000"/>
                </a:schemeClr>
              </a:solidFill>
            </a:endParaRPr>
          </a:p>
        </p:txBody>
      </p:sp>
      <p:sp>
        <p:nvSpPr>
          <p:cNvPr id="11" name="ZoneTexte 10">
            <a:extLst>
              <a:ext uri="{FF2B5EF4-FFF2-40B4-BE49-F238E27FC236}">
                <a16:creationId xmlns:a16="http://schemas.microsoft.com/office/drawing/2014/main" id="{254C1B58-3523-4C18-BAB8-89E97A5E3FEA}"/>
              </a:ext>
            </a:extLst>
          </p:cNvPr>
          <p:cNvSpPr txBox="1"/>
          <p:nvPr/>
        </p:nvSpPr>
        <p:spPr>
          <a:xfrm>
            <a:off x="1227264" y="3778929"/>
            <a:ext cx="1225144" cy="646331"/>
          </a:xfrm>
          <a:prstGeom prst="rect">
            <a:avLst/>
          </a:prstGeom>
          <a:noFill/>
          <a:ln>
            <a:solidFill>
              <a:schemeClr val="tx1"/>
            </a:solidFill>
          </a:ln>
        </p:spPr>
        <p:txBody>
          <a:bodyPr wrap="none" rtlCol="0">
            <a:spAutoFit/>
          </a:bodyPr>
          <a:lstStyle/>
          <a:p>
            <a:r>
              <a:rPr lang="fr-FR" sz="3600" dirty="0" err="1">
                <a:solidFill>
                  <a:srgbClr val="00B050"/>
                </a:solidFill>
              </a:rPr>
              <a:t>Users</a:t>
            </a:r>
            <a:endParaRPr lang="fr-FR" sz="3600" dirty="0">
              <a:solidFill>
                <a:srgbClr val="00B050"/>
              </a:solidFill>
            </a:endParaRPr>
          </a:p>
        </p:txBody>
      </p:sp>
      <p:sp>
        <p:nvSpPr>
          <p:cNvPr id="12" name="ZoneTexte 11">
            <a:extLst>
              <a:ext uri="{FF2B5EF4-FFF2-40B4-BE49-F238E27FC236}">
                <a16:creationId xmlns:a16="http://schemas.microsoft.com/office/drawing/2014/main" id="{884CF729-8623-4AB2-AA06-94A2A52DABB1}"/>
              </a:ext>
            </a:extLst>
          </p:cNvPr>
          <p:cNvSpPr txBox="1"/>
          <p:nvPr/>
        </p:nvSpPr>
        <p:spPr>
          <a:xfrm>
            <a:off x="1043784" y="4753519"/>
            <a:ext cx="1592103" cy="646331"/>
          </a:xfrm>
          <a:prstGeom prst="rect">
            <a:avLst/>
          </a:prstGeom>
          <a:noFill/>
          <a:ln>
            <a:solidFill>
              <a:schemeClr val="tx1"/>
            </a:solidFill>
          </a:ln>
        </p:spPr>
        <p:txBody>
          <a:bodyPr wrap="none" rtlCol="0">
            <a:spAutoFit/>
          </a:bodyPr>
          <a:lstStyle/>
          <a:p>
            <a:r>
              <a:rPr lang="fr-FR" sz="3600" dirty="0">
                <a:solidFill>
                  <a:schemeClr val="accent2"/>
                </a:solidFill>
              </a:rPr>
              <a:t>Admins</a:t>
            </a:r>
          </a:p>
        </p:txBody>
      </p:sp>
      <p:sp>
        <p:nvSpPr>
          <p:cNvPr id="9" name="ZoneTexte 8">
            <a:extLst>
              <a:ext uri="{FF2B5EF4-FFF2-40B4-BE49-F238E27FC236}">
                <a16:creationId xmlns:a16="http://schemas.microsoft.com/office/drawing/2014/main" id="{4E699CF7-1671-4B91-A301-7A4DABA29726}"/>
              </a:ext>
            </a:extLst>
          </p:cNvPr>
          <p:cNvSpPr txBox="1"/>
          <p:nvPr/>
        </p:nvSpPr>
        <p:spPr>
          <a:xfrm>
            <a:off x="4645600" y="2183322"/>
            <a:ext cx="5778185" cy="523220"/>
          </a:xfrm>
          <a:prstGeom prst="rect">
            <a:avLst/>
          </a:prstGeom>
          <a:noFill/>
          <a:ln>
            <a:solidFill>
              <a:schemeClr val="tx1"/>
            </a:solidFill>
          </a:ln>
        </p:spPr>
        <p:txBody>
          <a:bodyPr wrap="none" rtlCol="0">
            <a:spAutoFit/>
          </a:bodyPr>
          <a:lstStyle/>
          <a:p>
            <a:r>
              <a:rPr lang="fr-FR" sz="2800" dirty="0">
                <a:solidFill>
                  <a:schemeClr val="accent1">
                    <a:lumMod val="60000"/>
                    <a:lumOff val="40000"/>
                  </a:schemeClr>
                </a:solidFill>
              </a:rPr>
              <a:t>Can </a:t>
            </a:r>
            <a:r>
              <a:rPr lang="fr-FR" sz="2800" dirty="0" err="1">
                <a:solidFill>
                  <a:schemeClr val="accent1">
                    <a:lumMod val="60000"/>
                    <a:lumOff val="40000"/>
                  </a:schemeClr>
                </a:solidFill>
              </a:rPr>
              <a:t>see</a:t>
            </a:r>
            <a:r>
              <a:rPr lang="fr-FR" sz="2800" dirty="0">
                <a:solidFill>
                  <a:schemeClr val="accent1">
                    <a:lumMod val="60000"/>
                    <a:lumOff val="40000"/>
                  </a:schemeClr>
                </a:solidFill>
              </a:rPr>
              <a:t> basic data on </a:t>
            </a:r>
            <a:r>
              <a:rPr lang="fr-FR" sz="2800" dirty="0" err="1">
                <a:solidFill>
                  <a:schemeClr val="accent1">
                    <a:lumMod val="60000"/>
                    <a:lumOff val="40000"/>
                  </a:schemeClr>
                </a:solidFill>
              </a:rPr>
              <a:t>maps</a:t>
            </a:r>
            <a:r>
              <a:rPr lang="fr-FR" sz="2800" dirty="0">
                <a:solidFill>
                  <a:schemeClr val="accent1">
                    <a:lumMod val="60000"/>
                    <a:lumOff val="40000"/>
                  </a:schemeClr>
                </a:solidFill>
              </a:rPr>
              <a:t> and tables</a:t>
            </a:r>
          </a:p>
        </p:txBody>
      </p:sp>
      <p:sp>
        <p:nvSpPr>
          <p:cNvPr id="13" name="ZoneTexte 12">
            <a:extLst>
              <a:ext uri="{FF2B5EF4-FFF2-40B4-BE49-F238E27FC236}">
                <a16:creationId xmlns:a16="http://schemas.microsoft.com/office/drawing/2014/main" id="{DAAED152-AAD4-4231-9E63-5399A76E1EC2}"/>
              </a:ext>
            </a:extLst>
          </p:cNvPr>
          <p:cNvSpPr txBox="1"/>
          <p:nvPr/>
        </p:nvSpPr>
        <p:spPr>
          <a:xfrm>
            <a:off x="4645600" y="2875819"/>
            <a:ext cx="5073825" cy="523220"/>
          </a:xfrm>
          <a:prstGeom prst="rect">
            <a:avLst/>
          </a:prstGeom>
          <a:noFill/>
          <a:ln>
            <a:solidFill>
              <a:schemeClr val="tx1"/>
            </a:solidFill>
          </a:ln>
        </p:spPr>
        <p:txBody>
          <a:bodyPr wrap="none" rtlCol="0">
            <a:spAutoFit/>
          </a:bodyPr>
          <a:lstStyle/>
          <a:p>
            <a:r>
              <a:rPr lang="fr-FR" sz="2800" dirty="0">
                <a:solidFill>
                  <a:srgbClr val="00B050"/>
                </a:solidFill>
              </a:rPr>
              <a:t>Can </a:t>
            </a:r>
            <a:r>
              <a:rPr lang="fr-FR" sz="2800" dirty="0" err="1">
                <a:solidFill>
                  <a:srgbClr val="00B050"/>
                </a:solidFill>
              </a:rPr>
              <a:t>contribute</a:t>
            </a:r>
            <a:r>
              <a:rPr lang="fr-FR" sz="2800" dirty="0">
                <a:solidFill>
                  <a:srgbClr val="00B050"/>
                </a:solidFill>
              </a:rPr>
              <a:t> to the </a:t>
            </a:r>
            <a:r>
              <a:rPr lang="fr-FR" sz="2800" dirty="0" err="1">
                <a:solidFill>
                  <a:srgbClr val="00B050"/>
                </a:solidFill>
              </a:rPr>
              <a:t>Transloc</a:t>
            </a:r>
            <a:r>
              <a:rPr lang="fr-FR" sz="2800" dirty="0">
                <a:solidFill>
                  <a:srgbClr val="00B050"/>
                </a:solidFill>
              </a:rPr>
              <a:t> DB</a:t>
            </a:r>
          </a:p>
        </p:txBody>
      </p:sp>
      <p:sp>
        <p:nvSpPr>
          <p:cNvPr id="14" name="ZoneTexte 13">
            <a:extLst>
              <a:ext uri="{FF2B5EF4-FFF2-40B4-BE49-F238E27FC236}">
                <a16:creationId xmlns:a16="http://schemas.microsoft.com/office/drawing/2014/main" id="{C77710E7-FB90-4A21-A3AF-AAC3FE726305}"/>
              </a:ext>
            </a:extLst>
          </p:cNvPr>
          <p:cNvSpPr txBox="1"/>
          <p:nvPr/>
        </p:nvSpPr>
        <p:spPr>
          <a:xfrm>
            <a:off x="4645600" y="3568316"/>
            <a:ext cx="4303871" cy="523220"/>
          </a:xfrm>
          <a:prstGeom prst="rect">
            <a:avLst/>
          </a:prstGeom>
          <a:noFill/>
          <a:ln>
            <a:solidFill>
              <a:schemeClr val="tx1"/>
            </a:solidFill>
          </a:ln>
        </p:spPr>
        <p:txBody>
          <a:bodyPr wrap="none" rtlCol="0">
            <a:spAutoFit/>
          </a:bodyPr>
          <a:lstStyle/>
          <a:p>
            <a:r>
              <a:rPr lang="fr-FR" sz="2800" dirty="0">
                <a:solidFill>
                  <a:srgbClr val="00B050"/>
                </a:solidFill>
              </a:rPr>
              <a:t>Can </a:t>
            </a:r>
            <a:r>
              <a:rPr lang="fr-FR" sz="2800" dirty="0" err="1">
                <a:solidFill>
                  <a:srgbClr val="00B050"/>
                </a:solidFill>
              </a:rPr>
              <a:t>see</a:t>
            </a:r>
            <a:r>
              <a:rPr lang="fr-FR" sz="2800" dirty="0">
                <a:solidFill>
                  <a:srgbClr val="00B050"/>
                </a:solidFill>
              </a:rPr>
              <a:t> </a:t>
            </a:r>
            <a:r>
              <a:rPr lang="fr-FR" sz="2800" dirty="0" err="1">
                <a:solidFill>
                  <a:srgbClr val="00B050"/>
                </a:solidFill>
              </a:rPr>
              <a:t>most</a:t>
            </a:r>
            <a:r>
              <a:rPr lang="fr-FR" sz="2800" dirty="0">
                <a:solidFill>
                  <a:srgbClr val="00B050"/>
                </a:solidFill>
              </a:rPr>
              <a:t> data of the DB</a:t>
            </a:r>
          </a:p>
        </p:txBody>
      </p:sp>
      <p:sp>
        <p:nvSpPr>
          <p:cNvPr id="15" name="ZoneTexte 14">
            <a:extLst>
              <a:ext uri="{FF2B5EF4-FFF2-40B4-BE49-F238E27FC236}">
                <a16:creationId xmlns:a16="http://schemas.microsoft.com/office/drawing/2014/main" id="{591A2157-14E7-4BE6-9A24-8757D41EEDA6}"/>
              </a:ext>
            </a:extLst>
          </p:cNvPr>
          <p:cNvSpPr txBox="1"/>
          <p:nvPr/>
        </p:nvSpPr>
        <p:spPr>
          <a:xfrm>
            <a:off x="4645600" y="4260813"/>
            <a:ext cx="6014532" cy="523220"/>
          </a:xfrm>
          <a:prstGeom prst="rect">
            <a:avLst/>
          </a:prstGeom>
          <a:noFill/>
          <a:ln>
            <a:solidFill>
              <a:schemeClr val="tx1"/>
            </a:solidFill>
          </a:ln>
        </p:spPr>
        <p:txBody>
          <a:bodyPr wrap="none" rtlCol="0">
            <a:spAutoFit/>
          </a:bodyPr>
          <a:lstStyle/>
          <a:p>
            <a:r>
              <a:rPr lang="fr-FR" sz="2800" dirty="0">
                <a:solidFill>
                  <a:srgbClr val="00B050"/>
                </a:solidFill>
              </a:rPr>
              <a:t>Can download the data </a:t>
            </a:r>
            <a:r>
              <a:rPr lang="fr-FR" sz="2800" dirty="0" err="1">
                <a:solidFill>
                  <a:srgbClr val="00B050"/>
                </a:solidFill>
              </a:rPr>
              <a:t>with</a:t>
            </a:r>
            <a:r>
              <a:rPr lang="fr-FR" sz="2800" dirty="0">
                <a:solidFill>
                  <a:srgbClr val="00B050"/>
                </a:solidFill>
              </a:rPr>
              <a:t> restrictions</a:t>
            </a:r>
          </a:p>
        </p:txBody>
      </p:sp>
      <p:sp>
        <p:nvSpPr>
          <p:cNvPr id="16" name="ZoneTexte 15">
            <a:extLst>
              <a:ext uri="{FF2B5EF4-FFF2-40B4-BE49-F238E27FC236}">
                <a16:creationId xmlns:a16="http://schemas.microsoft.com/office/drawing/2014/main" id="{C92AFAF3-547E-4A93-A95E-1C3C525B0C6A}"/>
              </a:ext>
            </a:extLst>
          </p:cNvPr>
          <p:cNvSpPr txBox="1"/>
          <p:nvPr/>
        </p:nvSpPr>
        <p:spPr>
          <a:xfrm>
            <a:off x="4645600" y="5645807"/>
            <a:ext cx="4589526" cy="523220"/>
          </a:xfrm>
          <a:prstGeom prst="rect">
            <a:avLst/>
          </a:prstGeom>
          <a:noFill/>
          <a:ln>
            <a:solidFill>
              <a:schemeClr val="tx1"/>
            </a:solidFill>
          </a:ln>
        </p:spPr>
        <p:txBody>
          <a:bodyPr wrap="none" rtlCol="0">
            <a:spAutoFit/>
          </a:bodyPr>
          <a:lstStyle/>
          <a:p>
            <a:r>
              <a:rPr lang="fr-FR" sz="2800" dirty="0" err="1">
                <a:solidFill>
                  <a:schemeClr val="accent2"/>
                </a:solidFill>
              </a:rPr>
              <a:t>Validate</a:t>
            </a:r>
            <a:r>
              <a:rPr lang="fr-FR" sz="2800" dirty="0">
                <a:solidFill>
                  <a:schemeClr val="accent2"/>
                </a:solidFill>
              </a:rPr>
              <a:t> data </a:t>
            </a:r>
            <a:r>
              <a:rPr lang="fr-FR" sz="2800" dirty="0" err="1">
                <a:solidFill>
                  <a:schemeClr val="accent2"/>
                </a:solidFill>
              </a:rPr>
              <a:t>entered</a:t>
            </a:r>
            <a:r>
              <a:rPr lang="fr-FR" sz="2800" dirty="0">
                <a:solidFill>
                  <a:schemeClr val="accent2"/>
                </a:solidFill>
              </a:rPr>
              <a:t> by </a:t>
            </a:r>
            <a:r>
              <a:rPr lang="fr-FR" sz="2800" dirty="0" err="1">
                <a:solidFill>
                  <a:schemeClr val="accent2"/>
                </a:solidFill>
              </a:rPr>
              <a:t>users</a:t>
            </a:r>
            <a:endParaRPr lang="fr-FR" sz="2800" dirty="0">
              <a:solidFill>
                <a:schemeClr val="accent2"/>
              </a:solidFill>
            </a:endParaRPr>
          </a:p>
        </p:txBody>
      </p:sp>
      <p:sp>
        <p:nvSpPr>
          <p:cNvPr id="17" name="ZoneTexte 16">
            <a:extLst>
              <a:ext uri="{FF2B5EF4-FFF2-40B4-BE49-F238E27FC236}">
                <a16:creationId xmlns:a16="http://schemas.microsoft.com/office/drawing/2014/main" id="{266B1AE2-05DA-44EA-BA86-DE48EBB794DE}"/>
              </a:ext>
            </a:extLst>
          </p:cNvPr>
          <p:cNvSpPr txBox="1"/>
          <p:nvPr/>
        </p:nvSpPr>
        <p:spPr>
          <a:xfrm>
            <a:off x="4645600" y="4953310"/>
            <a:ext cx="3463192" cy="523220"/>
          </a:xfrm>
          <a:prstGeom prst="rect">
            <a:avLst/>
          </a:prstGeom>
          <a:noFill/>
          <a:ln>
            <a:solidFill>
              <a:schemeClr val="tx1"/>
            </a:solidFill>
          </a:ln>
        </p:spPr>
        <p:txBody>
          <a:bodyPr wrap="none" rtlCol="0">
            <a:spAutoFit/>
          </a:bodyPr>
          <a:lstStyle/>
          <a:p>
            <a:r>
              <a:rPr lang="fr-FR" sz="2800" dirty="0">
                <a:solidFill>
                  <a:schemeClr val="accent2"/>
                </a:solidFill>
              </a:rPr>
              <a:t>Manage user </a:t>
            </a:r>
            <a:r>
              <a:rPr lang="fr-FR" sz="2800" dirty="0" err="1">
                <a:solidFill>
                  <a:schemeClr val="accent2"/>
                </a:solidFill>
              </a:rPr>
              <a:t>accounts</a:t>
            </a:r>
            <a:endParaRPr lang="fr-FR" sz="2800" dirty="0">
              <a:solidFill>
                <a:schemeClr val="accent2"/>
              </a:solidFill>
            </a:endParaRPr>
          </a:p>
        </p:txBody>
      </p:sp>
      <p:cxnSp>
        <p:nvCxnSpPr>
          <p:cNvPr id="7" name="Connecteur droit avec flèche 6">
            <a:extLst>
              <a:ext uri="{FF2B5EF4-FFF2-40B4-BE49-F238E27FC236}">
                <a16:creationId xmlns:a16="http://schemas.microsoft.com/office/drawing/2014/main" id="{CDD5BB36-5BDE-478F-B09A-04674B71B81D}"/>
              </a:ext>
            </a:extLst>
          </p:cNvPr>
          <p:cNvCxnSpPr>
            <a:stCxn id="10" idx="3"/>
            <a:endCxn id="9" idx="1"/>
          </p:cNvCxnSpPr>
          <p:nvPr/>
        </p:nvCxnSpPr>
        <p:spPr>
          <a:xfrm flipV="1">
            <a:off x="2622486" y="2444932"/>
            <a:ext cx="2023114" cy="68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8040513D-AFA4-4078-AC86-293A89237903}"/>
              </a:ext>
            </a:extLst>
          </p:cNvPr>
          <p:cNvCxnSpPr>
            <a:cxnSpLocks/>
            <a:stCxn id="11" idx="3"/>
            <a:endCxn id="9" idx="1"/>
          </p:cNvCxnSpPr>
          <p:nvPr/>
        </p:nvCxnSpPr>
        <p:spPr>
          <a:xfrm flipV="1">
            <a:off x="2452408" y="2444932"/>
            <a:ext cx="2193192" cy="1657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32A07D55-F2A8-4108-9486-9D7EBF0EA323}"/>
              </a:ext>
            </a:extLst>
          </p:cNvPr>
          <p:cNvCxnSpPr>
            <a:cxnSpLocks/>
            <a:stCxn id="12" idx="3"/>
            <a:endCxn id="9" idx="1"/>
          </p:cNvCxnSpPr>
          <p:nvPr/>
        </p:nvCxnSpPr>
        <p:spPr>
          <a:xfrm flipV="1">
            <a:off x="2635887" y="2444932"/>
            <a:ext cx="2009713" cy="2631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AE6F6E22-7C8A-4EB4-9D1F-F1FD343F091F}"/>
              </a:ext>
            </a:extLst>
          </p:cNvPr>
          <p:cNvCxnSpPr>
            <a:cxnSpLocks/>
            <a:stCxn id="11" idx="3"/>
            <a:endCxn id="13" idx="1"/>
          </p:cNvCxnSpPr>
          <p:nvPr/>
        </p:nvCxnSpPr>
        <p:spPr>
          <a:xfrm flipV="1">
            <a:off x="2452408" y="3137429"/>
            <a:ext cx="2193192" cy="96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521C61BA-CCAB-426C-9DC4-77E0E4BF600B}"/>
              </a:ext>
            </a:extLst>
          </p:cNvPr>
          <p:cNvCxnSpPr>
            <a:cxnSpLocks/>
            <a:stCxn id="11" idx="3"/>
            <a:endCxn id="14" idx="1"/>
          </p:cNvCxnSpPr>
          <p:nvPr/>
        </p:nvCxnSpPr>
        <p:spPr>
          <a:xfrm flipV="1">
            <a:off x="2452408" y="3829926"/>
            <a:ext cx="2193192" cy="272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D1C4158C-C981-428A-A478-386F5E18B411}"/>
              </a:ext>
            </a:extLst>
          </p:cNvPr>
          <p:cNvCxnSpPr>
            <a:cxnSpLocks/>
            <a:stCxn id="11" idx="3"/>
            <a:endCxn id="15" idx="1"/>
          </p:cNvCxnSpPr>
          <p:nvPr/>
        </p:nvCxnSpPr>
        <p:spPr>
          <a:xfrm>
            <a:off x="2452408" y="4102095"/>
            <a:ext cx="2193192" cy="420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207A9B9F-94A9-4081-96A0-68AB23E4793E}"/>
              </a:ext>
            </a:extLst>
          </p:cNvPr>
          <p:cNvCxnSpPr>
            <a:cxnSpLocks/>
            <a:stCxn id="12" idx="3"/>
            <a:endCxn id="13" idx="1"/>
          </p:cNvCxnSpPr>
          <p:nvPr/>
        </p:nvCxnSpPr>
        <p:spPr>
          <a:xfrm flipV="1">
            <a:off x="2635887" y="3137429"/>
            <a:ext cx="2009713" cy="1939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0A238EB5-BA49-471F-9CDB-347E080BEE73}"/>
              </a:ext>
            </a:extLst>
          </p:cNvPr>
          <p:cNvCxnSpPr>
            <a:cxnSpLocks/>
            <a:stCxn id="12" idx="3"/>
            <a:endCxn id="14" idx="1"/>
          </p:cNvCxnSpPr>
          <p:nvPr/>
        </p:nvCxnSpPr>
        <p:spPr>
          <a:xfrm flipV="1">
            <a:off x="2635887" y="3829926"/>
            <a:ext cx="2009713" cy="1246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2543BFEF-6549-4819-850A-9E5A4255CE69}"/>
              </a:ext>
            </a:extLst>
          </p:cNvPr>
          <p:cNvCxnSpPr>
            <a:cxnSpLocks/>
            <a:stCxn id="12" idx="3"/>
            <a:endCxn id="15" idx="1"/>
          </p:cNvCxnSpPr>
          <p:nvPr/>
        </p:nvCxnSpPr>
        <p:spPr>
          <a:xfrm flipV="1">
            <a:off x="2635887" y="4522423"/>
            <a:ext cx="2009713" cy="554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E4044F34-7827-4546-9B84-A54DE3AF2227}"/>
              </a:ext>
            </a:extLst>
          </p:cNvPr>
          <p:cNvCxnSpPr>
            <a:cxnSpLocks/>
            <a:stCxn id="12" idx="3"/>
            <a:endCxn id="17" idx="1"/>
          </p:cNvCxnSpPr>
          <p:nvPr/>
        </p:nvCxnSpPr>
        <p:spPr>
          <a:xfrm>
            <a:off x="2635887" y="5076685"/>
            <a:ext cx="2009713" cy="13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5E0CF89D-B28E-4D5B-ACA3-28E9650EFBF7}"/>
              </a:ext>
            </a:extLst>
          </p:cNvPr>
          <p:cNvCxnSpPr>
            <a:cxnSpLocks/>
            <a:stCxn id="12" idx="3"/>
            <a:endCxn id="16" idx="1"/>
          </p:cNvCxnSpPr>
          <p:nvPr/>
        </p:nvCxnSpPr>
        <p:spPr>
          <a:xfrm>
            <a:off x="2635887" y="5076685"/>
            <a:ext cx="2009713" cy="830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ZoneTexte 130">
            <a:extLst>
              <a:ext uri="{FF2B5EF4-FFF2-40B4-BE49-F238E27FC236}">
                <a16:creationId xmlns:a16="http://schemas.microsoft.com/office/drawing/2014/main" id="{7F326D75-2A77-4B1C-A775-7B2DFC637A3B}"/>
              </a:ext>
            </a:extLst>
          </p:cNvPr>
          <p:cNvSpPr txBox="1"/>
          <p:nvPr/>
        </p:nvSpPr>
        <p:spPr>
          <a:xfrm>
            <a:off x="469272" y="1050138"/>
            <a:ext cx="11002297" cy="646331"/>
          </a:xfrm>
          <a:prstGeom prst="rect">
            <a:avLst/>
          </a:prstGeom>
          <a:noFill/>
        </p:spPr>
        <p:txBody>
          <a:bodyPr wrap="square" rtlCol="0">
            <a:spAutoFit/>
          </a:bodyPr>
          <a:lstStyle/>
          <a:p>
            <a:pPr>
              <a:spcBef>
                <a:spcPts val="1800"/>
              </a:spcBef>
            </a:pPr>
            <a:r>
              <a:rPr lang="en-US" sz="3600" b="1" dirty="0"/>
              <a:t>Access to the database: The </a:t>
            </a:r>
            <a:r>
              <a:rPr lang="en-US" sz="3600" b="1" dirty="0" err="1"/>
              <a:t>Transloc</a:t>
            </a:r>
            <a:r>
              <a:rPr lang="en-US" sz="3600" b="1" dirty="0"/>
              <a:t> website</a:t>
            </a:r>
            <a:endParaRPr lang="en-US" sz="3600" dirty="0"/>
          </a:p>
        </p:txBody>
      </p:sp>
      <p:sp>
        <p:nvSpPr>
          <p:cNvPr id="24" name="ZoneTexte 23">
            <a:extLst>
              <a:ext uri="{FF2B5EF4-FFF2-40B4-BE49-F238E27FC236}">
                <a16:creationId xmlns:a16="http://schemas.microsoft.com/office/drawing/2014/main" id="{B584B969-948B-4615-AA41-204B47F6D277}"/>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25" name="Connecteur droit 24">
            <a:extLst>
              <a:ext uri="{FF2B5EF4-FFF2-40B4-BE49-F238E27FC236}">
                <a16:creationId xmlns:a16="http://schemas.microsoft.com/office/drawing/2014/main" id="{C2B68764-7D7A-4556-9A63-ACAF0B072BBA}"/>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7" name="Google Shape;97;p13">
            <a:extLst>
              <a:ext uri="{FF2B5EF4-FFF2-40B4-BE49-F238E27FC236}">
                <a16:creationId xmlns:a16="http://schemas.microsoft.com/office/drawing/2014/main" id="{12D3BDF0-88D4-4FA8-B9C4-CA9F069287C7}"/>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3545111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1020449"/>
            <a:ext cx="11002297" cy="646331"/>
          </a:xfrm>
          <a:prstGeom prst="rect">
            <a:avLst/>
          </a:prstGeom>
          <a:noFill/>
        </p:spPr>
        <p:txBody>
          <a:bodyPr wrap="square" rtlCol="0">
            <a:spAutoFit/>
          </a:bodyPr>
          <a:lstStyle/>
          <a:p>
            <a:pPr>
              <a:spcBef>
                <a:spcPts val="1800"/>
              </a:spcBef>
            </a:pPr>
            <a:r>
              <a:rPr lang="en-US" sz="3600" b="1" dirty="0"/>
              <a:t>How to use the website and database</a:t>
            </a:r>
            <a:endParaRPr lang="en-US" sz="3600" dirty="0"/>
          </a:p>
        </p:txBody>
      </p:sp>
      <p:sp>
        <p:nvSpPr>
          <p:cNvPr id="4" name="ZoneTexte 3">
            <a:extLst>
              <a:ext uri="{FF2B5EF4-FFF2-40B4-BE49-F238E27FC236}">
                <a16:creationId xmlns:a16="http://schemas.microsoft.com/office/drawing/2014/main" id="{FAFE1BAA-EB3A-4059-A09C-4252FC964EB5}"/>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6" name="Connecteur droit 5">
            <a:extLst>
              <a:ext uri="{FF2B5EF4-FFF2-40B4-BE49-F238E27FC236}">
                <a16:creationId xmlns:a16="http://schemas.microsoft.com/office/drawing/2014/main" id="{05805D8B-4A8B-48A1-ABBB-2EE8AA22244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849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1003516"/>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10" name="ZoneTexte 9">
            <a:extLst>
              <a:ext uri="{FF2B5EF4-FFF2-40B4-BE49-F238E27FC236}">
                <a16:creationId xmlns:a16="http://schemas.microsoft.com/office/drawing/2014/main" id="{5347DF23-F31D-4F7E-9CB7-D40FD4117A9F}"/>
              </a:ext>
            </a:extLst>
          </p:cNvPr>
          <p:cNvSpPr txBox="1"/>
          <p:nvPr/>
        </p:nvSpPr>
        <p:spPr>
          <a:xfrm>
            <a:off x="486253" y="1649847"/>
            <a:ext cx="3207801" cy="461665"/>
          </a:xfrm>
          <a:prstGeom prst="rect">
            <a:avLst/>
          </a:prstGeom>
          <a:noFill/>
          <a:ln>
            <a:noFill/>
          </a:ln>
        </p:spPr>
        <p:txBody>
          <a:bodyPr wrap="none" rtlCol="0">
            <a:spAutoFit/>
          </a:bodyPr>
          <a:lstStyle/>
          <a:p>
            <a:r>
              <a:rPr lang="fr-FR" sz="2400" b="1" dirty="0"/>
              <a:t>Home page </a:t>
            </a:r>
            <a:r>
              <a:rPr lang="fr-FR" sz="2400" b="1" dirty="0" err="1"/>
              <a:t>with</a:t>
            </a:r>
            <a:r>
              <a:rPr lang="fr-FR" sz="2400" b="1" dirty="0"/>
              <a:t> menus</a:t>
            </a:r>
          </a:p>
        </p:txBody>
      </p:sp>
      <p:sp>
        <p:nvSpPr>
          <p:cNvPr id="6" name="ZoneTexte 5">
            <a:extLst>
              <a:ext uri="{FF2B5EF4-FFF2-40B4-BE49-F238E27FC236}">
                <a16:creationId xmlns:a16="http://schemas.microsoft.com/office/drawing/2014/main" id="{E70112A9-1AB5-4E28-AD19-2F397209CD94}"/>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7" name="Connecteur droit 6">
            <a:extLst>
              <a:ext uri="{FF2B5EF4-FFF2-40B4-BE49-F238E27FC236}">
                <a16:creationId xmlns:a16="http://schemas.microsoft.com/office/drawing/2014/main" id="{31E4BA15-34BC-4F7C-BF4F-CA473EE24E9F}"/>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8135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C6CA377-3F57-4D00-87F3-8A4AA2FB9C35}"/>
              </a:ext>
            </a:extLst>
          </p:cNvPr>
          <p:cNvPicPr>
            <a:picLocks noChangeAspect="1"/>
          </p:cNvPicPr>
          <p:nvPr/>
        </p:nvPicPr>
        <p:blipFill>
          <a:blip r:embed="rId3"/>
          <a:stretch>
            <a:fillRect/>
          </a:stretch>
        </p:blipFill>
        <p:spPr>
          <a:xfrm>
            <a:off x="0" y="24271"/>
            <a:ext cx="12192000" cy="6809457"/>
          </a:xfrm>
          <a:prstGeom prst="rect">
            <a:avLst/>
          </a:prstGeom>
        </p:spPr>
      </p:pic>
      <p:sp>
        <p:nvSpPr>
          <p:cNvPr id="4" name="ZoneTexte 3">
            <a:extLst>
              <a:ext uri="{FF2B5EF4-FFF2-40B4-BE49-F238E27FC236}">
                <a16:creationId xmlns:a16="http://schemas.microsoft.com/office/drawing/2014/main" id="{980229CF-A341-40CD-946F-C07D0F1B75FC}"/>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5" name="Connecteur droit 4">
            <a:extLst>
              <a:ext uri="{FF2B5EF4-FFF2-40B4-BE49-F238E27FC236}">
                <a16:creationId xmlns:a16="http://schemas.microsoft.com/office/drawing/2014/main" id="{F14C0E24-CA3C-4AFC-B298-4F1105967A03}"/>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8276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955364"/>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pic>
        <p:nvPicPr>
          <p:cNvPr id="11" name="Image 10">
            <a:extLst>
              <a:ext uri="{FF2B5EF4-FFF2-40B4-BE49-F238E27FC236}">
                <a16:creationId xmlns:a16="http://schemas.microsoft.com/office/drawing/2014/main" id="{7D16AC97-1C57-46CB-8C19-465841D6121F}"/>
              </a:ext>
            </a:extLst>
          </p:cNvPr>
          <p:cNvPicPr>
            <a:picLocks noChangeAspect="1"/>
          </p:cNvPicPr>
          <p:nvPr/>
        </p:nvPicPr>
        <p:blipFill rotWithShape="1">
          <a:blip r:embed="rId4"/>
          <a:srcRect l="19375" r="48218" b="89877"/>
          <a:stretch/>
        </p:blipFill>
        <p:spPr>
          <a:xfrm>
            <a:off x="444614" y="2643006"/>
            <a:ext cx="11270458" cy="1571988"/>
          </a:xfrm>
          <a:prstGeom prst="rect">
            <a:avLst/>
          </a:prstGeom>
        </p:spPr>
      </p:pic>
      <p:sp>
        <p:nvSpPr>
          <p:cNvPr id="6" name="ZoneTexte 5">
            <a:extLst>
              <a:ext uri="{FF2B5EF4-FFF2-40B4-BE49-F238E27FC236}">
                <a16:creationId xmlns:a16="http://schemas.microsoft.com/office/drawing/2014/main" id="{FA80E322-2DC8-4F78-9DFA-A2909D2171BD}"/>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7" name="Connecteur droit 6">
            <a:extLst>
              <a:ext uri="{FF2B5EF4-FFF2-40B4-BE49-F238E27FC236}">
                <a16:creationId xmlns:a16="http://schemas.microsoft.com/office/drawing/2014/main" id="{17C9CB38-49F1-4577-B1E6-61F91F02B96E}"/>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7E81107-FB51-4176-A421-C0B40CEADECF}"/>
              </a:ext>
            </a:extLst>
          </p:cNvPr>
          <p:cNvSpPr txBox="1"/>
          <p:nvPr/>
        </p:nvSpPr>
        <p:spPr>
          <a:xfrm>
            <a:off x="486253" y="1649847"/>
            <a:ext cx="3207801" cy="461665"/>
          </a:xfrm>
          <a:prstGeom prst="rect">
            <a:avLst/>
          </a:prstGeom>
          <a:noFill/>
          <a:ln>
            <a:noFill/>
          </a:ln>
        </p:spPr>
        <p:txBody>
          <a:bodyPr wrap="none" rtlCol="0">
            <a:spAutoFit/>
          </a:bodyPr>
          <a:lstStyle/>
          <a:p>
            <a:r>
              <a:rPr lang="fr-FR" sz="2400" b="1" dirty="0"/>
              <a:t>Home page </a:t>
            </a:r>
            <a:r>
              <a:rPr lang="fr-FR" sz="2400" b="1" dirty="0" err="1"/>
              <a:t>with</a:t>
            </a:r>
            <a:r>
              <a:rPr lang="fr-FR" sz="2400" b="1" dirty="0"/>
              <a:t> menus</a:t>
            </a:r>
          </a:p>
        </p:txBody>
      </p:sp>
    </p:spTree>
    <p:extLst>
      <p:ext uri="{BB962C8B-B14F-4D97-AF65-F5344CB8AC3E}">
        <p14:creationId xmlns:p14="http://schemas.microsoft.com/office/powerpoint/2010/main" val="3415570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932721"/>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10" name="ZoneTexte 9">
            <a:extLst>
              <a:ext uri="{FF2B5EF4-FFF2-40B4-BE49-F238E27FC236}">
                <a16:creationId xmlns:a16="http://schemas.microsoft.com/office/drawing/2014/main" id="{5347DF23-F31D-4F7E-9CB7-D40FD4117A9F}"/>
              </a:ext>
            </a:extLst>
          </p:cNvPr>
          <p:cNvSpPr txBox="1"/>
          <p:nvPr/>
        </p:nvSpPr>
        <p:spPr>
          <a:xfrm>
            <a:off x="486253" y="1579052"/>
            <a:ext cx="2573269" cy="461665"/>
          </a:xfrm>
          <a:prstGeom prst="rect">
            <a:avLst/>
          </a:prstGeom>
          <a:noFill/>
          <a:ln>
            <a:noFill/>
          </a:ln>
        </p:spPr>
        <p:txBody>
          <a:bodyPr wrap="none" rtlCol="0">
            <a:spAutoFit/>
          </a:bodyPr>
          <a:lstStyle/>
          <a:p>
            <a:r>
              <a:rPr lang="fr-FR" sz="2400" b="1" dirty="0" err="1"/>
              <a:t>Step</a:t>
            </a:r>
            <a:r>
              <a:rPr lang="fr-FR" sz="2400" b="1" dirty="0"/>
              <a:t>-by-</a:t>
            </a:r>
            <a:r>
              <a:rPr lang="fr-FR" sz="2400" b="1" dirty="0" err="1"/>
              <a:t>step</a:t>
            </a:r>
            <a:r>
              <a:rPr lang="fr-FR" sz="2400" b="1" dirty="0"/>
              <a:t> guide</a:t>
            </a:r>
          </a:p>
        </p:txBody>
      </p:sp>
      <p:sp>
        <p:nvSpPr>
          <p:cNvPr id="6" name="ZoneTexte 5">
            <a:extLst>
              <a:ext uri="{FF2B5EF4-FFF2-40B4-BE49-F238E27FC236}">
                <a16:creationId xmlns:a16="http://schemas.microsoft.com/office/drawing/2014/main" id="{457DC30C-7673-45BB-AC58-B839E46FEF41}"/>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7" name="Connecteur droit 6">
            <a:extLst>
              <a:ext uri="{FF2B5EF4-FFF2-40B4-BE49-F238E27FC236}">
                <a16:creationId xmlns:a16="http://schemas.microsoft.com/office/drawing/2014/main" id="{8EC5FB97-4760-444E-A536-81B4ACB3B2B3}"/>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2291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pic>
        <p:nvPicPr>
          <p:cNvPr id="4" name="Image 3">
            <a:extLst>
              <a:ext uri="{FF2B5EF4-FFF2-40B4-BE49-F238E27FC236}">
                <a16:creationId xmlns:a16="http://schemas.microsoft.com/office/drawing/2014/main" id="{D507DD40-1A78-478F-BE46-B34A1908DFB6}"/>
              </a:ext>
            </a:extLst>
          </p:cNvPr>
          <p:cNvPicPr>
            <a:picLocks noChangeAspect="1"/>
          </p:cNvPicPr>
          <p:nvPr/>
        </p:nvPicPr>
        <p:blipFill rotWithShape="1">
          <a:blip r:embed="rId4"/>
          <a:srcRect b="6511"/>
          <a:stretch/>
        </p:blipFill>
        <p:spPr>
          <a:xfrm>
            <a:off x="-50763" y="999067"/>
            <a:ext cx="12242763" cy="5860974"/>
          </a:xfrm>
          <a:prstGeom prst="rect">
            <a:avLst/>
          </a:prstGeom>
        </p:spPr>
      </p:pic>
      <p:sp>
        <p:nvSpPr>
          <p:cNvPr id="5" name="ZoneTexte 4">
            <a:extLst>
              <a:ext uri="{FF2B5EF4-FFF2-40B4-BE49-F238E27FC236}">
                <a16:creationId xmlns:a16="http://schemas.microsoft.com/office/drawing/2014/main" id="{F30B7A46-C9B1-4467-8A9F-4E3A66D5D1F7}"/>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6" name="Connecteur droit 5">
            <a:extLst>
              <a:ext uri="{FF2B5EF4-FFF2-40B4-BE49-F238E27FC236}">
                <a16:creationId xmlns:a16="http://schemas.microsoft.com/office/drawing/2014/main" id="{9D42E810-AFDE-4290-84C9-0901F504D3F8}"/>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203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pic>
        <p:nvPicPr>
          <p:cNvPr id="8" name="Image 7">
            <a:extLst>
              <a:ext uri="{FF2B5EF4-FFF2-40B4-BE49-F238E27FC236}">
                <a16:creationId xmlns:a16="http://schemas.microsoft.com/office/drawing/2014/main" id="{B3A57244-BE93-4061-BD82-9CA4F6BAA301}"/>
              </a:ext>
            </a:extLst>
          </p:cNvPr>
          <p:cNvPicPr>
            <a:picLocks noChangeAspect="1"/>
          </p:cNvPicPr>
          <p:nvPr/>
        </p:nvPicPr>
        <p:blipFill>
          <a:blip r:embed="rId4"/>
          <a:stretch>
            <a:fillRect/>
          </a:stretch>
        </p:blipFill>
        <p:spPr>
          <a:xfrm>
            <a:off x="370758" y="1354667"/>
            <a:ext cx="11450484" cy="5503333"/>
          </a:xfrm>
          <a:prstGeom prst="rect">
            <a:avLst/>
          </a:prstGeom>
        </p:spPr>
      </p:pic>
      <p:cxnSp>
        <p:nvCxnSpPr>
          <p:cNvPr id="11" name="Connecteur : en angle 10">
            <a:extLst>
              <a:ext uri="{FF2B5EF4-FFF2-40B4-BE49-F238E27FC236}">
                <a16:creationId xmlns:a16="http://schemas.microsoft.com/office/drawing/2014/main" id="{41ABC75A-7DD6-4982-877E-EFA9CCF7890C}"/>
              </a:ext>
            </a:extLst>
          </p:cNvPr>
          <p:cNvCxnSpPr>
            <a:cxnSpLocks/>
          </p:cNvCxnSpPr>
          <p:nvPr/>
        </p:nvCxnSpPr>
        <p:spPr>
          <a:xfrm flipV="1">
            <a:off x="2831042" y="5503333"/>
            <a:ext cx="1643063" cy="775998"/>
          </a:xfrm>
          <a:prstGeom prst="bentConnector3">
            <a:avLst>
              <a:gd name="adj1" fmla="val 100435"/>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B8B505EC-1073-49BD-96A0-AA631E15CF2C}"/>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6" name="Connecteur droit 5">
            <a:extLst>
              <a:ext uri="{FF2B5EF4-FFF2-40B4-BE49-F238E27FC236}">
                <a16:creationId xmlns:a16="http://schemas.microsoft.com/office/drawing/2014/main" id="{8C1FF8B4-F6FC-4719-84E0-08C49F07A65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26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961394"/>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10" name="ZoneTexte 9">
            <a:extLst>
              <a:ext uri="{FF2B5EF4-FFF2-40B4-BE49-F238E27FC236}">
                <a16:creationId xmlns:a16="http://schemas.microsoft.com/office/drawing/2014/main" id="{5347DF23-F31D-4F7E-9CB7-D40FD4117A9F}"/>
              </a:ext>
            </a:extLst>
          </p:cNvPr>
          <p:cNvSpPr txBox="1"/>
          <p:nvPr/>
        </p:nvSpPr>
        <p:spPr>
          <a:xfrm>
            <a:off x="486253" y="1607725"/>
            <a:ext cx="2514919" cy="461665"/>
          </a:xfrm>
          <a:prstGeom prst="rect">
            <a:avLst/>
          </a:prstGeom>
          <a:noFill/>
          <a:ln>
            <a:noFill/>
          </a:ln>
        </p:spPr>
        <p:txBody>
          <a:bodyPr wrap="none" rtlCol="0">
            <a:spAutoFit/>
          </a:bodyPr>
          <a:lstStyle/>
          <a:p>
            <a:r>
              <a:rPr lang="fr-FR" sz="2400" b="1" dirty="0"/>
              <a:t>How to </a:t>
            </a:r>
            <a:r>
              <a:rPr lang="fr-FR" sz="2400" b="1" dirty="0" err="1"/>
              <a:t>contribute</a:t>
            </a:r>
            <a:endParaRPr lang="fr-FR" sz="2400" b="1" dirty="0"/>
          </a:p>
        </p:txBody>
      </p:sp>
      <p:sp>
        <p:nvSpPr>
          <p:cNvPr id="6" name="ZoneTexte 5">
            <a:extLst>
              <a:ext uri="{FF2B5EF4-FFF2-40B4-BE49-F238E27FC236}">
                <a16:creationId xmlns:a16="http://schemas.microsoft.com/office/drawing/2014/main" id="{ED452BB5-2DB1-489D-A830-E1B3A55524FC}"/>
              </a:ext>
            </a:extLst>
          </p:cNvPr>
          <p:cNvSpPr txBox="1"/>
          <p:nvPr/>
        </p:nvSpPr>
        <p:spPr>
          <a:xfrm>
            <a:off x="444614" y="2628468"/>
            <a:ext cx="11002297" cy="523220"/>
          </a:xfrm>
          <a:prstGeom prst="rect">
            <a:avLst/>
          </a:prstGeom>
          <a:noFill/>
        </p:spPr>
        <p:txBody>
          <a:bodyPr wrap="square" rtlCol="0">
            <a:spAutoFit/>
          </a:bodyPr>
          <a:lstStyle/>
          <a:p>
            <a:pPr>
              <a:spcBef>
                <a:spcPts val="1200"/>
              </a:spcBef>
            </a:pPr>
            <a:r>
              <a:rPr lang="en-US" sz="2800" dirty="0"/>
              <a:t>There are two possibilities:</a:t>
            </a:r>
          </a:p>
        </p:txBody>
      </p:sp>
      <p:sp>
        <p:nvSpPr>
          <p:cNvPr id="7" name="ZoneTexte 6">
            <a:extLst>
              <a:ext uri="{FF2B5EF4-FFF2-40B4-BE49-F238E27FC236}">
                <a16:creationId xmlns:a16="http://schemas.microsoft.com/office/drawing/2014/main" id="{D85761F2-CF52-4CDC-B2EE-2D97E90FB22C}"/>
              </a:ext>
            </a:extLst>
          </p:cNvPr>
          <p:cNvSpPr txBox="1"/>
          <p:nvPr/>
        </p:nvSpPr>
        <p:spPr>
          <a:xfrm>
            <a:off x="444614" y="3295948"/>
            <a:ext cx="11002297" cy="523220"/>
          </a:xfrm>
          <a:prstGeom prst="rect">
            <a:avLst/>
          </a:prstGeom>
          <a:noFill/>
        </p:spPr>
        <p:txBody>
          <a:bodyPr wrap="square" rtlCol="0">
            <a:spAutoFit/>
          </a:bodyPr>
          <a:lstStyle/>
          <a:p>
            <a:pPr>
              <a:spcBef>
                <a:spcPts val="1200"/>
              </a:spcBef>
            </a:pPr>
            <a:r>
              <a:rPr lang="en-US" sz="2800" dirty="0"/>
              <a:t>	- using the web form (for all data)</a:t>
            </a:r>
          </a:p>
        </p:txBody>
      </p:sp>
      <p:sp>
        <p:nvSpPr>
          <p:cNvPr id="8" name="ZoneTexte 7">
            <a:extLst>
              <a:ext uri="{FF2B5EF4-FFF2-40B4-BE49-F238E27FC236}">
                <a16:creationId xmlns:a16="http://schemas.microsoft.com/office/drawing/2014/main" id="{AA61E8B8-FF8E-4A95-AC0C-9651FAC5D77C}"/>
              </a:ext>
            </a:extLst>
          </p:cNvPr>
          <p:cNvSpPr txBox="1"/>
          <p:nvPr/>
        </p:nvSpPr>
        <p:spPr>
          <a:xfrm>
            <a:off x="444614" y="3963428"/>
            <a:ext cx="11002297" cy="523220"/>
          </a:xfrm>
          <a:prstGeom prst="rect">
            <a:avLst/>
          </a:prstGeom>
          <a:noFill/>
        </p:spPr>
        <p:txBody>
          <a:bodyPr wrap="square" rtlCol="0">
            <a:spAutoFit/>
          </a:bodyPr>
          <a:lstStyle/>
          <a:p>
            <a:pPr>
              <a:spcBef>
                <a:spcPts val="1200"/>
              </a:spcBef>
            </a:pPr>
            <a:r>
              <a:rPr lang="en-US" sz="2800" dirty="0"/>
              <a:t>	- using Excel template files (not for all data)</a:t>
            </a:r>
          </a:p>
        </p:txBody>
      </p:sp>
      <p:sp>
        <p:nvSpPr>
          <p:cNvPr id="9" name="ZoneTexte 8">
            <a:extLst>
              <a:ext uri="{FF2B5EF4-FFF2-40B4-BE49-F238E27FC236}">
                <a16:creationId xmlns:a16="http://schemas.microsoft.com/office/drawing/2014/main" id="{C2C71317-A5AA-478F-A09C-9E2AF5694847}"/>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11" name="Connecteur droit 10">
            <a:extLst>
              <a:ext uri="{FF2B5EF4-FFF2-40B4-BE49-F238E27FC236}">
                <a16:creationId xmlns:a16="http://schemas.microsoft.com/office/drawing/2014/main" id="{B06934EC-401B-405C-97D0-1C9C874A2266}"/>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889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pic>
        <p:nvPicPr>
          <p:cNvPr id="4" name="Image 3">
            <a:extLst>
              <a:ext uri="{FF2B5EF4-FFF2-40B4-BE49-F238E27FC236}">
                <a16:creationId xmlns:a16="http://schemas.microsoft.com/office/drawing/2014/main" id="{A2FE2606-C260-4A79-A6C1-BED202C4B976}"/>
              </a:ext>
            </a:extLst>
          </p:cNvPr>
          <p:cNvPicPr>
            <a:picLocks noChangeAspect="1"/>
          </p:cNvPicPr>
          <p:nvPr/>
        </p:nvPicPr>
        <p:blipFill>
          <a:blip r:embed="rId4"/>
          <a:stretch>
            <a:fillRect/>
          </a:stretch>
        </p:blipFill>
        <p:spPr>
          <a:xfrm>
            <a:off x="135467" y="2402239"/>
            <a:ext cx="5960533" cy="4023897"/>
          </a:xfrm>
          <a:prstGeom prst="rect">
            <a:avLst/>
          </a:prstGeom>
        </p:spPr>
      </p:pic>
      <p:pic>
        <p:nvPicPr>
          <p:cNvPr id="7" name="Image 6">
            <a:extLst>
              <a:ext uri="{FF2B5EF4-FFF2-40B4-BE49-F238E27FC236}">
                <a16:creationId xmlns:a16="http://schemas.microsoft.com/office/drawing/2014/main" id="{CEE3B797-0631-4537-920A-6DE5CCC466CC}"/>
              </a:ext>
            </a:extLst>
          </p:cNvPr>
          <p:cNvPicPr>
            <a:picLocks noChangeAspect="1"/>
          </p:cNvPicPr>
          <p:nvPr/>
        </p:nvPicPr>
        <p:blipFill>
          <a:blip r:embed="rId5"/>
          <a:stretch>
            <a:fillRect/>
          </a:stretch>
        </p:blipFill>
        <p:spPr>
          <a:xfrm>
            <a:off x="4737016" y="1529881"/>
            <a:ext cx="7059010" cy="4715533"/>
          </a:xfrm>
          <a:prstGeom prst="rect">
            <a:avLst/>
          </a:prstGeom>
        </p:spPr>
      </p:pic>
      <p:sp>
        <p:nvSpPr>
          <p:cNvPr id="8" name="ZoneTexte 7">
            <a:extLst>
              <a:ext uri="{FF2B5EF4-FFF2-40B4-BE49-F238E27FC236}">
                <a16:creationId xmlns:a16="http://schemas.microsoft.com/office/drawing/2014/main" id="{0BFBFB28-142D-4D73-8DCF-E75AA47E8AED}"/>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9" name="Connecteur droit 8">
            <a:extLst>
              <a:ext uri="{FF2B5EF4-FFF2-40B4-BE49-F238E27FC236}">
                <a16:creationId xmlns:a16="http://schemas.microsoft.com/office/drawing/2014/main" id="{B90561E8-593A-4E09-B643-CF54CA3E8B58}"/>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5347DF23-F31D-4F7E-9CB7-D40FD4117A9F}"/>
              </a:ext>
            </a:extLst>
          </p:cNvPr>
          <p:cNvSpPr txBox="1"/>
          <p:nvPr/>
        </p:nvSpPr>
        <p:spPr>
          <a:xfrm>
            <a:off x="486253" y="1559473"/>
            <a:ext cx="5058180" cy="461665"/>
          </a:xfrm>
          <a:prstGeom prst="rect">
            <a:avLst/>
          </a:prstGeom>
          <a:noFill/>
          <a:ln>
            <a:noFill/>
          </a:ln>
        </p:spPr>
        <p:txBody>
          <a:bodyPr wrap="none" rtlCol="0">
            <a:spAutoFit/>
          </a:bodyPr>
          <a:lstStyle/>
          <a:p>
            <a:r>
              <a:rPr lang="fr-FR" sz="2400" b="1" dirty="0"/>
              <a:t>How to </a:t>
            </a:r>
            <a:r>
              <a:rPr lang="fr-FR" sz="2400" b="1" dirty="0" err="1"/>
              <a:t>contribute</a:t>
            </a:r>
            <a:r>
              <a:rPr lang="fr-FR" sz="2400" b="1" dirty="0"/>
              <a:t> </a:t>
            </a:r>
            <a:r>
              <a:rPr lang="fr-FR" sz="2400" b="1" dirty="0" err="1"/>
              <a:t>using</a:t>
            </a:r>
            <a:r>
              <a:rPr lang="fr-FR" sz="2400" b="1" dirty="0"/>
              <a:t> the web </a:t>
            </a:r>
            <a:r>
              <a:rPr lang="fr-FR" sz="2400" b="1" dirty="0" err="1"/>
              <a:t>form</a:t>
            </a:r>
            <a:endParaRPr lang="fr-FR" sz="2400" b="1" dirty="0"/>
          </a:p>
        </p:txBody>
      </p:sp>
    </p:spTree>
    <p:extLst>
      <p:ext uri="{BB962C8B-B14F-4D97-AF65-F5344CB8AC3E}">
        <p14:creationId xmlns:p14="http://schemas.microsoft.com/office/powerpoint/2010/main" val="4118919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7" name="ZoneTexte 6">
            <a:extLst>
              <a:ext uri="{FF2B5EF4-FFF2-40B4-BE49-F238E27FC236}">
                <a16:creationId xmlns:a16="http://schemas.microsoft.com/office/drawing/2014/main" id="{D85761F2-CF52-4CDC-B2EE-2D97E90FB22C}"/>
              </a:ext>
            </a:extLst>
          </p:cNvPr>
          <p:cNvSpPr txBox="1"/>
          <p:nvPr/>
        </p:nvSpPr>
        <p:spPr>
          <a:xfrm>
            <a:off x="444614" y="3295948"/>
            <a:ext cx="11002297" cy="461665"/>
          </a:xfrm>
          <a:prstGeom prst="rect">
            <a:avLst/>
          </a:prstGeom>
          <a:noFill/>
        </p:spPr>
        <p:txBody>
          <a:bodyPr wrap="square" rtlCol="0">
            <a:spAutoFit/>
          </a:bodyPr>
          <a:lstStyle/>
          <a:p>
            <a:pPr>
              <a:spcBef>
                <a:spcPts val="1200"/>
              </a:spcBef>
            </a:pPr>
            <a:r>
              <a:rPr lang="en-US" sz="2400" dirty="0"/>
              <a:t>	- using the web form (for all data)</a:t>
            </a:r>
          </a:p>
        </p:txBody>
      </p:sp>
      <p:sp>
        <p:nvSpPr>
          <p:cNvPr id="8" name="ZoneTexte 7">
            <a:extLst>
              <a:ext uri="{FF2B5EF4-FFF2-40B4-BE49-F238E27FC236}">
                <a16:creationId xmlns:a16="http://schemas.microsoft.com/office/drawing/2014/main" id="{AA61E8B8-FF8E-4A95-AC0C-9651FAC5D77C}"/>
              </a:ext>
            </a:extLst>
          </p:cNvPr>
          <p:cNvSpPr txBox="1"/>
          <p:nvPr/>
        </p:nvSpPr>
        <p:spPr>
          <a:xfrm>
            <a:off x="444614" y="3963428"/>
            <a:ext cx="11002297" cy="461665"/>
          </a:xfrm>
          <a:prstGeom prst="rect">
            <a:avLst/>
          </a:prstGeom>
          <a:noFill/>
        </p:spPr>
        <p:txBody>
          <a:bodyPr wrap="square" rtlCol="0">
            <a:spAutoFit/>
          </a:bodyPr>
          <a:lstStyle/>
          <a:p>
            <a:pPr>
              <a:spcBef>
                <a:spcPts val="1200"/>
              </a:spcBef>
            </a:pPr>
            <a:r>
              <a:rPr lang="en-US" sz="2400" dirty="0"/>
              <a:t>	- using Excel template files</a:t>
            </a:r>
          </a:p>
        </p:txBody>
      </p:sp>
      <p:pic>
        <p:nvPicPr>
          <p:cNvPr id="4" name="Image 3">
            <a:extLst>
              <a:ext uri="{FF2B5EF4-FFF2-40B4-BE49-F238E27FC236}">
                <a16:creationId xmlns:a16="http://schemas.microsoft.com/office/drawing/2014/main" id="{AD21563C-0601-40CB-A508-4A041654086D}"/>
              </a:ext>
            </a:extLst>
          </p:cNvPr>
          <p:cNvPicPr>
            <a:picLocks noChangeAspect="1"/>
          </p:cNvPicPr>
          <p:nvPr/>
        </p:nvPicPr>
        <p:blipFill>
          <a:blip r:embed="rId4"/>
          <a:stretch>
            <a:fillRect/>
          </a:stretch>
        </p:blipFill>
        <p:spPr>
          <a:xfrm>
            <a:off x="240128" y="2373895"/>
            <a:ext cx="11711743" cy="4181877"/>
          </a:xfrm>
          <a:prstGeom prst="rect">
            <a:avLst/>
          </a:prstGeom>
        </p:spPr>
      </p:pic>
      <p:sp>
        <p:nvSpPr>
          <p:cNvPr id="9" name="ZoneTexte 8">
            <a:extLst>
              <a:ext uri="{FF2B5EF4-FFF2-40B4-BE49-F238E27FC236}">
                <a16:creationId xmlns:a16="http://schemas.microsoft.com/office/drawing/2014/main" id="{919A2330-B57D-4105-A5AF-9DF36CCF34A3}"/>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11" name="Connecteur droit 10">
            <a:extLst>
              <a:ext uri="{FF2B5EF4-FFF2-40B4-BE49-F238E27FC236}">
                <a16:creationId xmlns:a16="http://schemas.microsoft.com/office/drawing/2014/main" id="{F7416C24-97DF-40D2-B271-8BF65A6984DA}"/>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9E163B67-BD38-4533-8B11-30A41DD122E3}"/>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13" name="ZoneTexte 12">
            <a:extLst>
              <a:ext uri="{FF2B5EF4-FFF2-40B4-BE49-F238E27FC236}">
                <a16:creationId xmlns:a16="http://schemas.microsoft.com/office/drawing/2014/main" id="{743E3FD3-1BB5-4F51-A6E2-A123F17B37ED}"/>
              </a:ext>
            </a:extLst>
          </p:cNvPr>
          <p:cNvSpPr txBox="1"/>
          <p:nvPr/>
        </p:nvSpPr>
        <p:spPr>
          <a:xfrm>
            <a:off x="486253" y="1559473"/>
            <a:ext cx="5794791" cy="461665"/>
          </a:xfrm>
          <a:prstGeom prst="rect">
            <a:avLst/>
          </a:prstGeom>
          <a:noFill/>
          <a:ln>
            <a:noFill/>
          </a:ln>
        </p:spPr>
        <p:txBody>
          <a:bodyPr wrap="none" rtlCol="0">
            <a:spAutoFit/>
          </a:bodyPr>
          <a:lstStyle/>
          <a:p>
            <a:r>
              <a:rPr lang="fr-FR" sz="2400" b="1" dirty="0"/>
              <a:t>How to </a:t>
            </a:r>
            <a:r>
              <a:rPr lang="fr-FR" sz="2400" b="1" dirty="0" err="1"/>
              <a:t>contribute</a:t>
            </a:r>
            <a:r>
              <a:rPr lang="fr-FR" sz="2400" b="1" dirty="0"/>
              <a:t> </a:t>
            </a:r>
            <a:r>
              <a:rPr lang="fr-FR" sz="2400" b="1" dirty="0" err="1"/>
              <a:t>using</a:t>
            </a:r>
            <a:r>
              <a:rPr lang="fr-FR" sz="2400" b="1" dirty="0"/>
              <a:t> Excel </a:t>
            </a:r>
            <a:r>
              <a:rPr lang="fr-FR" sz="2400" b="1" dirty="0" err="1"/>
              <a:t>template</a:t>
            </a:r>
            <a:r>
              <a:rPr lang="fr-FR" sz="2400" b="1" dirty="0"/>
              <a:t> files</a:t>
            </a:r>
          </a:p>
        </p:txBody>
      </p:sp>
    </p:spTree>
    <p:extLst>
      <p:ext uri="{BB962C8B-B14F-4D97-AF65-F5344CB8AC3E}">
        <p14:creationId xmlns:p14="http://schemas.microsoft.com/office/powerpoint/2010/main" val="4047861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6" name="ZoneTexte 5">
            <a:extLst>
              <a:ext uri="{FF2B5EF4-FFF2-40B4-BE49-F238E27FC236}">
                <a16:creationId xmlns:a16="http://schemas.microsoft.com/office/drawing/2014/main" id="{00888652-A983-498F-90B7-910EE61EEECB}"/>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8" name="Connecteur droit 7">
            <a:extLst>
              <a:ext uri="{FF2B5EF4-FFF2-40B4-BE49-F238E27FC236}">
                <a16:creationId xmlns:a16="http://schemas.microsoft.com/office/drawing/2014/main" id="{135529CF-EBCD-44E8-8F3D-1C56C364D3B6}"/>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3534E6AB-F259-476C-A20A-FAFAE1DE27C1}"/>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11" name="ZoneTexte 10">
            <a:extLst>
              <a:ext uri="{FF2B5EF4-FFF2-40B4-BE49-F238E27FC236}">
                <a16:creationId xmlns:a16="http://schemas.microsoft.com/office/drawing/2014/main" id="{E4CA6C3D-D9B7-4244-A4BD-9D113D2DB2D4}"/>
              </a:ext>
            </a:extLst>
          </p:cNvPr>
          <p:cNvSpPr txBox="1"/>
          <p:nvPr/>
        </p:nvSpPr>
        <p:spPr>
          <a:xfrm>
            <a:off x="486253" y="1559473"/>
            <a:ext cx="9123139" cy="461665"/>
          </a:xfrm>
          <a:prstGeom prst="rect">
            <a:avLst/>
          </a:prstGeom>
          <a:noFill/>
          <a:ln>
            <a:noFill/>
          </a:ln>
        </p:spPr>
        <p:txBody>
          <a:bodyPr wrap="none" rtlCol="0">
            <a:spAutoFit/>
          </a:bodyPr>
          <a:lstStyle/>
          <a:p>
            <a:r>
              <a:rPr lang="fr-FR" sz="2400" b="1" dirty="0"/>
              <a:t>How to </a:t>
            </a:r>
            <a:r>
              <a:rPr lang="fr-FR" sz="2400" b="1" dirty="0" err="1"/>
              <a:t>contribute</a:t>
            </a:r>
            <a:r>
              <a:rPr lang="fr-FR" sz="2400" b="1" dirty="0"/>
              <a:t> </a:t>
            </a:r>
            <a:r>
              <a:rPr lang="fr-FR" sz="2400" b="1" dirty="0" err="1"/>
              <a:t>using</a:t>
            </a:r>
            <a:r>
              <a:rPr lang="fr-FR" sz="2400" b="1" dirty="0"/>
              <a:t> Excel </a:t>
            </a:r>
            <a:r>
              <a:rPr lang="fr-FR" sz="2400" b="1" dirty="0" err="1"/>
              <a:t>template</a:t>
            </a:r>
            <a:r>
              <a:rPr lang="fr-FR" sz="2400" b="1" dirty="0"/>
              <a:t> files. Example: RST </a:t>
            </a:r>
            <a:r>
              <a:rPr lang="fr-FR" sz="2400" b="1" dirty="0" err="1"/>
              <a:t>template</a:t>
            </a:r>
            <a:endParaRPr lang="fr-FR" sz="2400" b="1" dirty="0"/>
          </a:p>
        </p:txBody>
      </p:sp>
      <p:pic>
        <p:nvPicPr>
          <p:cNvPr id="4" name="Image 3">
            <a:extLst>
              <a:ext uri="{FF2B5EF4-FFF2-40B4-BE49-F238E27FC236}">
                <a16:creationId xmlns:a16="http://schemas.microsoft.com/office/drawing/2014/main" id="{601EB242-07A5-4A31-B2B8-FD06ED25BFD0}"/>
              </a:ext>
            </a:extLst>
          </p:cNvPr>
          <p:cNvPicPr>
            <a:picLocks noChangeAspect="1"/>
          </p:cNvPicPr>
          <p:nvPr/>
        </p:nvPicPr>
        <p:blipFill>
          <a:blip r:embed="rId4"/>
          <a:stretch>
            <a:fillRect/>
          </a:stretch>
        </p:blipFill>
        <p:spPr>
          <a:xfrm>
            <a:off x="444614" y="2205804"/>
            <a:ext cx="11241069" cy="4353533"/>
          </a:xfrm>
          <a:prstGeom prst="rect">
            <a:avLst/>
          </a:prstGeom>
        </p:spPr>
      </p:pic>
    </p:spTree>
    <p:extLst>
      <p:ext uri="{BB962C8B-B14F-4D97-AF65-F5344CB8AC3E}">
        <p14:creationId xmlns:p14="http://schemas.microsoft.com/office/powerpoint/2010/main" val="2344113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67760"/>
            <a:ext cx="6895990" cy="461665"/>
          </a:xfrm>
          <a:prstGeom prst="rect">
            <a:avLst/>
          </a:prstGeom>
          <a:noFill/>
          <a:ln>
            <a:noFill/>
          </a:ln>
        </p:spPr>
        <p:txBody>
          <a:bodyPr wrap="none" rtlCol="0">
            <a:spAutoFit/>
          </a:bodyPr>
          <a:lstStyle/>
          <a:p>
            <a:r>
              <a:rPr lang="en-US" sz="2400" b="1" dirty="0"/>
              <a:t>What happens to the data provided by contributors?</a:t>
            </a:r>
            <a:endParaRPr lang="fr-FR" sz="2400" b="1" dirty="0"/>
          </a:p>
        </p:txBody>
      </p:sp>
      <p:sp>
        <p:nvSpPr>
          <p:cNvPr id="7" name="ZoneTexte 6">
            <a:extLst>
              <a:ext uri="{FF2B5EF4-FFF2-40B4-BE49-F238E27FC236}">
                <a16:creationId xmlns:a16="http://schemas.microsoft.com/office/drawing/2014/main" id="{D85761F2-CF52-4CDC-B2EE-2D97E90FB22C}"/>
              </a:ext>
            </a:extLst>
          </p:cNvPr>
          <p:cNvSpPr txBox="1"/>
          <p:nvPr/>
        </p:nvSpPr>
        <p:spPr>
          <a:xfrm>
            <a:off x="444614" y="2502985"/>
            <a:ext cx="11002297" cy="3139321"/>
          </a:xfrm>
          <a:prstGeom prst="rect">
            <a:avLst/>
          </a:prstGeom>
          <a:noFill/>
        </p:spPr>
        <p:txBody>
          <a:bodyPr wrap="square" rtlCol="0">
            <a:spAutoFit/>
          </a:bodyPr>
          <a:lstStyle/>
          <a:p>
            <a:pPr>
              <a:spcBef>
                <a:spcPts val="1200"/>
              </a:spcBef>
            </a:pPr>
            <a:r>
              <a:rPr lang="en-US" sz="2800" dirty="0"/>
              <a:t>It is immediately visible on the site</a:t>
            </a:r>
          </a:p>
          <a:p>
            <a:pPr>
              <a:spcBef>
                <a:spcPts val="1200"/>
              </a:spcBef>
            </a:pPr>
            <a:r>
              <a:rPr lang="en-US" sz="2800" dirty="0"/>
              <a:t>It appears highlighted in yellow while waiting for an administrator to validate it</a:t>
            </a:r>
          </a:p>
          <a:p>
            <a:pPr>
              <a:spcBef>
                <a:spcPts val="1200"/>
              </a:spcBef>
            </a:pPr>
            <a:r>
              <a:rPr lang="en-US" sz="2800" dirty="0"/>
              <a:t>It can no longer be modified until an administrator has validated it</a:t>
            </a:r>
          </a:p>
          <a:p>
            <a:pPr>
              <a:spcBef>
                <a:spcPts val="1200"/>
              </a:spcBef>
            </a:pPr>
            <a:r>
              <a:rPr lang="en-US" sz="2800" dirty="0"/>
              <a:t>Contributors who previously modified the population are notified by e-mail of the proposed new data.</a:t>
            </a:r>
          </a:p>
        </p:txBody>
      </p:sp>
      <p:sp>
        <p:nvSpPr>
          <p:cNvPr id="6" name="ZoneTexte 5">
            <a:extLst>
              <a:ext uri="{FF2B5EF4-FFF2-40B4-BE49-F238E27FC236}">
                <a16:creationId xmlns:a16="http://schemas.microsoft.com/office/drawing/2014/main" id="{71EBFBD3-8AA7-476A-9D7A-8CE684E1C60B}"/>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8" name="Connecteur droit 7">
            <a:extLst>
              <a:ext uri="{FF2B5EF4-FFF2-40B4-BE49-F238E27FC236}">
                <a16:creationId xmlns:a16="http://schemas.microsoft.com/office/drawing/2014/main" id="{6AAEEC90-4CF9-43A5-8684-759D10BD7943}"/>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9F99AED3-119E-4360-9A11-219EF825D89E}"/>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Tree>
    <p:extLst>
      <p:ext uri="{BB962C8B-B14F-4D97-AF65-F5344CB8AC3E}">
        <p14:creationId xmlns:p14="http://schemas.microsoft.com/office/powerpoint/2010/main" val="3293573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3797706" cy="461665"/>
          </a:xfrm>
          <a:prstGeom prst="rect">
            <a:avLst/>
          </a:prstGeom>
          <a:noFill/>
          <a:ln>
            <a:noFill/>
          </a:ln>
        </p:spPr>
        <p:txBody>
          <a:bodyPr wrap="none" rtlCol="0">
            <a:spAutoFit/>
          </a:bodyPr>
          <a:lstStyle/>
          <a:p>
            <a:r>
              <a:rPr lang="en-US" sz="2400" b="1" dirty="0"/>
              <a:t>How to query the database</a:t>
            </a:r>
            <a:endParaRPr lang="fr-FR" sz="2400" b="1" dirty="0"/>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7" name="ZoneTexte 6">
            <a:extLst>
              <a:ext uri="{FF2B5EF4-FFF2-40B4-BE49-F238E27FC236}">
                <a16:creationId xmlns:a16="http://schemas.microsoft.com/office/drawing/2014/main" id="{95B17C1E-CE76-4A02-ACAF-075DD1F84782}"/>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spTree>
    <p:extLst>
      <p:ext uri="{BB962C8B-B14F-4D97-AF65-F5344CB8AC3E}">
        <p14:creationId xmlns:p14="http://schemas.microsoft.com/office/powerpoint/2010/main" val="3875412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3797706" cy="461665"/>
          </a:xfrm>
          <a:prstGeom prst="rect">
            <a:avLst/>
          </a:prstGeom>
          <a:noFill/>
          <a:ln>
            <a:noFill/>
          </a:ln>
        </p:spPr>
        <p:txBody>
          <a:bodyPr wrap="none" rtlCol="0">
            <a:spAutoFit/>
          </a:bodyPr>
          <a:lstStyle/>
          <a:p>
            <a:r>
              <a:rPr lang="en-US" sz="2400" b="1" dirty="0"/>
              <a:t>How to query the database</a:t>
            </a:r>
            <a:endParaRPr lang="fr-FR" sz="2400" b="1" dirty="0"/>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7" name="ZoneTexte 6">
            <a:extLst>
              <a:ext uri="{FF2B5EF4-FFF2-40B4-BE49-F238E27FC236}">
                <a16:creationId xmlns:a16="http://schemas.microsoft.com/office/drawing/2014/main" id="{95B17C1E-CE76-4A02-ACAF-075DD1F84782}"/>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pic>
        <p:nvPicPr>
          <p:cNvPr id="4" name="Image 3">
            <a:extLst>
              <a:ext uri="{FF2B5EF4-FFF2-40B4-BE49-F238E27FC236}">
                <a16:creationId xmlns:a16="http://schemas.microsoft.com/office/drawing/2014/main" id="{C0AAF84A-DB74-4594-8B9F-8F63B3FFFC07}"/>
              </a:ext>
            </a:extLst>
          </p:cNvPr>
          <p:cNvPicPr>
            <a:picLocks noChangeAspect="1"/>
          </p:cNvPicPr>
          <p:nvPr/>
        </p:nvPicPr>
        <p:blipFill>
          <a:blip r:embed="rId4"/>
          <a:stretch>
            <a:fillRect/>
          </a:stretch>
        </p:blipFill>
        <p:spPr>
          <a:xfrm>
            <a:off x="1225466" y="1970993"/>
            <a:ext cx="9440592" cy="4887007"/>
          </a:xfrm>
          <a:prstGeom prst="rect">
            <a:avLst/>
          </a:prstGeom>
        </p:spPr>
      </p:pic>
    </p:spTree>
    <p:extLst>
      <p:ext uri="{BB962C8B-B14F-4D97-AF65-F5344CB8AC3E}">
        <p14:creationId xmlns:p14="http://schemas.microsoft.com/office/powerpoint/2010/main" val="3298748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3797706" cy="461665"/>
          </a:xfrm>
          <a:prstGeom prst="rect">
            <a:avLst/>
          </a:prstGeom>
          <a:noFill/>
          <a:ln>
            <a:noFill/>
          </a:ln>
        </p:spPr>
        <p:txBody>
          <a:bodyPr wrap="none" rtlCol="0">
            <a:spAutoFit/>
          </a:bodyPr>
          <a:lstStyle/>
          <a:p>
            <a:r>
              <a:rPr lang="en-US" sz="2400" b="1" dirty="0"/>
              <a:t>How to query the database</a:t>
            </a:r>
            <a:endParaRPr lang="fr-FR" sz="2400" b="1" dirty="0"/>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7" name="ZoneTexte 6">
            <a:extLst>
              <a:ext uri="{FF2B5EF4-FFF2-40B4-BE49-F238E27FC236}">
                <a16:creationId xmlns:a16="http://schemas.microsoft.com/office/drawing/2014/main" id="{95B17C1E-CE76-4A02-ACAF-075DD1F84782}"/>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pic>
        <p:nvPicPr>
          <p:cNvPr id="5" name="Image 4">
            <a:extLst>
              <a:ext uri="{FF2B5EF4-FFF2-40B4-BE49-F238E27FC236}">
                <a16:creationId xmlns:a16="http://schemas.microsoft.com/office/drawing/2014/main" id="{8BFB503A-2E21-445C-88CC-23D08F8305D1}"/>
              </a:ext>
            </a:extLst>
          </p:cNvPr>
          <p:cNvPicPr>
            <a:picLocks noChangeAspect="1"/>
          </p:cNvPicPr>
          <p:nvPr/>
        </p:nvPicPr>
        <p:blipFill>
          <a:blip r:embed="rId4"/>
          <a:stretch>
            <a:fillRect/>
          </a:stretch>
        </p:blipFill>
        <p:spPr>
          <a:xfrm>
            <a:off x="1697536" y="1492569"/>
            <a:ext cx="8796927" cy="5365431"/>
          </a:xfrm>
          <a:prstGeom prst="rect">
            <a:avLst/>
          </a:prstGeom>
        </p:spPr>
      </p:pic>
    </p:spTree>
    <p:extLst>
      <p:ext uri="{BB962C8B-B14F-4D97-AF65-F5344CB8AC3E}">
        <p14:creationId xmlns:p14="http://schemas.microsoft.com/office/powerpoint/2010/main" val="1957889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3797706" cy="461665"/>
          </a:xfrm>
          <a:prstGeom prst="rect">
            <a:avLst/>
          </a:prstGeom>
          <a:noFill/>
          <a:ln>
            <a:noFill/>
          </a:ln>
        </p:spPr>
        <p:txBody>
          <a:bodyPr wrap="none" rtlCol="0">
            <a:spAutoFit/>
          </a:bodyPr>
          <a:lstStyle/>
          <a:p>
            <a:r>
              <a:rPr lang="en-US" sz="2400" b="1" dirty="0"/>
              <a:t>How to query the database</a:t>
            </a:r>
            <a:endParaRPr lang="fr-FR" sz="2400" b="1" dirty="0"/>
          </a:p>
        </p:txBody>
      </p:sp>
      <p:sp>
        <p:nvSpPr>
          <p:cNvPr id="7" name="ZoneTexte 6">
            <a:extLst>
              <a:ext uri="{FF2B5EF4-FFF2-40B4-BE49-F238E27FC236}">
                <a16:creationId xmlns:a16="http://schemas.microsoft.com/office/drawing/2014/main" id="{931D505A-C256-4C5E-B1D4-305D13623815}"/>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pic>
        <p:nvPicPr>
          <p:cNvPr id="4" name="Image 3">
            <a:extLst>
              <a:ext uri="{FF2B5EF4-FFF2-40B4-BE49-F238E27FC236}">
                <a16:creationId xmlns:a16="http://schemas.microsoft.com/office/drawing/2014/main" id="{0D8774DF-C6EF-436C-A390-3196E0FD3B3F}"/>
              </a:ext>
            </a:extLst>
          </p:cNvPr>
          <p:cNvPicPr>
            <a:picLocks noChangeAspect="1"/>
          </p:cNvPicPr>
          <p:nvPr/>
        </p:nvPicPr>
        <p:blipFill>
          <a:blip r:embed="rId4"/>
          <a:stretch>
            <a:fillRect/>
          </a:stretch>
        </p:blipFill>
        <p:spPr>
          <a:xfrm>
            <a:off x="675518" y="1884668"/>
            <a:ext cx="10840963" cy="4782217"/>
          </a:xfrm>
          <a:prstGeom prst="rect">
            <a:avLst/>
          </a:prstGeom>
        </p:spPr>
      </p:pic>
    </p:spTree>
    <p:extLst>
      <p:ext uri="{BB962C8B-B14F-4D97-AF65-F5344CB8AC3E}">
        <p14:creationId xmlns:p14="http://schemas.microsoft.com/office/powerpoint/2010/main" val="2525562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3797706" cy="461665"/>
          </a:xfrm>
          <a:prstGeom prst="rect">
            <a:avLst/>
          </a:prstGeom>
          <a:noFill/>
          <a:ln>
            <a:noFill/>
          </a:ln>
        </p:spPr>
        <p:txBody>
          <a:bodyPr wrap="none" rtlCol="0">
            <a:spAutoFit/>
          </a:bodyPr>
          <a:lstStyle/>
          <a:p>
            <a:r>
              <a:rPr lang="en-US" sz="2400" b="1" dirty="0"/>
              <a:t>How to query the database</a:t>
            </a:r>
            <a:endParaRPr lang="fr-FR" sz="2400" b="1" dirty="0"/>
          </a:p>
        </p:txBody>
      </p:sp>
      <p:sp>
        <p:nvSpPr>
          <p:cNvPr id="7" name="ZoneTexte 6">
            <a:extLst>
              <a:ext uri="{FF2B5EF4-FFF2-40B4-BE49-F238E27FC236}">
                <a16:creationId xmlns:a16="http://schemas.microsoft.com/office/drawing/2014/main" id="{931D505A-C256-4C5E-B1D4-305D13623815}"/>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pic>
        <p:nvPicPr>
          <p:cNvPr id="4" name="Image 3">
            <a:extLst>
              <a:ext uri="{FF2B5EF4-FFF2-40B4-BE49-F238E27FC236}">
                <a16:creationId xmlns:a16="http://schemas.microsoft.com/office/drawing/2014/main" id="{BE0C853F-CFC5-47DC-88E6-9BC40CFBCE91}"/>
              </a:ext>
            </a:extLst>
          </p:cNvPr>
          <p:cNvPicPr>
            <a:picLocks noChangeAspect="1"/>
          </p:cNvPicPr>
          <p:nvPr/>
        </p:nvPicPr>
        <p:blipFill>
          <a:blip r:embed="rId4"/>
          <a:stretch>
            <a:fillRect/>
          </a:stretch>
        </p:blipFill>
        <p:spPr>
          <a:xfrm>
            <a:off x="4626483" y="1559473"/>
            <a:ext cx="6477904" cy="5058481"/>
          </a:xfrm>
          <a:prstGeom prst="rect">
            <a:avLst/>
          </a:prstGeom>
        </p:spPr>
      </p:pic>
    </p:spTree>
    <p:extLst>
      <p:ext uri="{BB962C8B-B14F-4D97-AF65-F5344CB8AC3E}">
        <p14:creationId xmlns:p14="http://schemas.microsoft.com/office/powerpoint/2010/main" val="343286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10" name="ZoneTexte 9">
            <a:extLst>
              <a:ext uri="{FF2B5EF4-FFF2-40B4-BE49-F238E27FC236}">
                <a16:creationId xmlns:a16="http://schemas.microsoft.com/office/drawing/2014/main" id="{5347DF23-F31D-4F7E-9CB7-D40FD4117A9F}"/>
              </a:ext>
            </a:extLst>
          </p:cNvPr>
          <p:cNvSpPr txBox="1"/>
          <p:nvPr/>
        </p:nvSpPr>
        <p:spPr>
          <a:xfrm>
            <a:off x="486253" y="1512861"/>
            <a:ext cx="2685479" cy="461665"/>
          </a:xfrm>
          <a:prstGeom prst="rect">
            <a:avLst/>
          </a:prstGeom>
          <a:noFill/>
          <a:ln>
            <a:noFill/>
          </a:ln>
        </p:spPr>
        <p:txBody>
          <a:bodyPr wrap="none" rtlCol="0">
            <a:spAutoFit/>
          </a:bodyPr>
          <a:lstStyle/>
          <a:p>
            <a:r>
              <a:rPr lang="en-US" sz="2400" b="1" dirty="0"/>
              <a:t>Limitations to users</a:t>
            </a:r>
            <a:endParaRPr lang="fr-FR" sz="2400" b="1" dirty="0"/>
          </a:p>
        </p:txBody>
      </p:sp>
      <p:sp>
        <p:nvSpPr>
          <p:cNvPr id="7" name="ZoneTexte 6">
            <a:extLst>
              <a:ext uri="{FF2B5EF4-FFF2-40B4-BE49-F238E27FC236}">
                <a16:creationId xmlns:a16="http://schemas.microsoft.com/office/drawing/2014/main" id="{931D505A-C256-4C5E-B1D4-305D13623815}"/>
              </a:ext>
            </a:extLst>
          </p:cNvPr>
          <p:cNvSpPr txBox="1"/>
          <p:nvPr/>
        </p:nvSpPr>
        <p:spPr>
          <a:xfrm>
            <a:off x="5456881" y="265007"/>
            <a:ext cx="6440269" cy="646331"/>
          </a:xfrm>
          <a:prstGeom prst="rect">
            <a:avLst/>
          </a:prstGeom>
          <a:noFill/>
        </p:spPr>
        <p:txBody>
          <a:bodyPr wrap="square" rtlCol="0">
            <a:spAutoFit/>
          </a:bodyPr>
          <a:lstStyle/>
          <a:p>
            <a:pPr algn="r">
              <a:spcBef>
                <a:spcPts val="1800"/>
              </a:spcBef>
            </a:pPr>
            <a:r>
              <a:rPr lang="en-US" sz="3600" b="1" dirty="0">
                <a:solidFill>
                  <a:schemeClr val="bg1">
                    <a:lumMod val="75000"/>
                  </a:schemeClr>
                </a:solidFill>
              </a:rPr>
              <a:t>Functioning</a:t>
            </a:r>
          </a:p>
        </p:txBody>
      </p:sp>
      <p:cxnSp>
        <p:nvCxnSpPr>
          <p:cNvPr id="9" name="Connecteur droit 8">
            <a:extLst>
              <a:ext uri="{FF2B5EF4-FFF2-40B4-BE49-F238E27FC236}">
                <a16:creationId xmlns:a16="http://schemas.microsoft.com/office/drawing/2014/main" id="{9B4DA933-40FF-4D0B-80A2-1B807B35E1B9}"/>
              </a:ext>
            </a:extLst>
          </p:cNvPr>
          <p:cNvCxnSpPr>
            <a:cxnSpLocks/>
          </p:cNvCxnSpPr>
          <p:nvPr/>
        </p:nvCxnSpPr>
        <p:spPr>
          <a:xfrm>
            <a:off x="8306544" y="874826"/>
            <a:ext cx="3885456" cy="6043"/>
          </a:xfrm>
          <a:prstGeom prst="line">
            <a:avLst/>
          </a:prstGeom>
          <a:ln w="63500">
            <a:gradFill flip="none" rotWithShape="1">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9D05BF6-AF73-4775-8D3B-C11CD69B1B5D}"/>
              </a:ext>
            </a:extLst>
          </p:cNvPr>
          <p:cNvSpPr txBox="1"/>
          <p:nvPr/>
        </p:nvSpPr>
        <p:spPr>
          <a:xfrm>
            <a:off x="444614" y="913142"/>
            <a:ext cx="11002297" cy="646331"/>
          </a:xfrm>
          <a:prstGeom prst="rect">
            <a:avLst/>
          </a:prstGeom>
          <a:noFill/>
        </p:spPr>
        <p:txBody>
          <a:bodyPr wrap="square" rtlCol="0">
            <a:spAutoFit/>
          </a:bodyPr>
          <a:lstStyle/>
          <a:p>
            <a:pPr>
              <a:spcBef>
                <a:spcPts val="1800"/>
              </a:spcBef>
            </a:pPr>
            <a:r>
              <a:rPr lang="en-US" sz="3600" b="1" dirty="0">
                <a:solidFill>
                  <a:schemeClr val="bg1">
                    <a:lumMod val="75000"/>
                  </a:schemeClr>
                </a:solidFill>
              </a:rPr>
              <a:t>How to use the website and database</a:t>
            </a:r>
            <a:endParaRPr lang="en-US" sz="3600" dirty="0">
              <a:solidFill>
                <a:schemeClr val="bg1">
                  <a:lumMod val="75000"/>
                </a:schemeClr>
              </a:solidFill>
            </a:endParaRPr>
          </a:p>
        </p:txBody>
      </p:sp>
      <p:sp>
        <p:nvSpPr>
          <p:cNvPr id="8" name="ZoneTexte 7">
            <a:extLst>
              <a:ext uri="{FF2B5EF4-FFF2-40B4-BE49-F238E27FC236}">
                <a16:creationId xmlns:a16="http://schemas.microsoft.com/office/drawing/2014/main" id="{00707623-F584-4B46-8440-992D955D0116}"/>
              </a:ext>
            </a:extLst>
          </p:cNvPr>
          <p:cNvSpPr txBox="1"/>
          <p:nvPr/>
        </p:nvSpPr>
        <p:spPr>
          <a:xfrm>
            <a:off x="444614" y="2502985"/>
            <a:ext cx="11002297" cy="3293209"/>
          </a:xfrm>
          <a:prstGeom prst="rect">
            <a:avLst/>
          </a:prstGeom>
          <a:noFill/>
        </p:spPr>
        <p:txBody>
          <a:bodyPr wrap="square" rtlCol="0">
            <a:spAutoFit/>
          </a:bodyPr>
          <a:lstStyle/>
          <a:p>
            <a:pPr>
              <a:spcBef>
                <a:spcPts val="1200"/>
              </a:spcBef>
            </a:pPr>
            <a:r>
              <a:rPr lang="en-US" sz="2800" dirty="0"/>
              <a:t>1. Users can only download the data for populations they have contributed to. </a:t>
            </a:r>
          </a:p>
          <a:p>
            <a:pPr>
              <a:spcBef>
                <a:spcPts val="1200"/>
              </a:spcBef>
            </a:pPr>
            <a:r>
              <a:rPr lang="en-US" sz="2800" dirty="0"/>
              <a:t>2. Confidential data is hidden. Data that may be confidential:</a:t>
            </a:r>
          </a:p>
          <a:p>
            <a:pPr>
              <a:spcBef>
                <a:spcPts val="1200"/>
              </a:spcBef>
            </a:pPr>
            <a:r>
              <a:rPr lang="en-US" sz="2800" dirty="0"/>
              <a:t>	- Precise locations (translocated AND natural populations)</a:t>
            </a:r>
          </a:p>
          <a:p>
            <a:pPr>
              <a:spcBef>
                <a:spcPts val="1200"/>
              </a:spcBef>
            </a:pPr>
            <a:r>
              <a:rPr lang="en-US" sz="2800" dirty="0"/>
              <a:t>	- Table of RST</a:t>
            </a:r>
          </a:p>
          <a:p>
            <a:pPr>
              <a:spcBef>
                <a:spcPts val="1200"/>
              </a:spcBef>
            </a:pPr>
            <a:r>
              <a:rPr lang="en-US" sz="2800" dirty="0"/>
              <a:t>	- Table of Pop dynamics </a:t>
            </a:r>
          </a:p>
        </p:txBody>
      </p:sp>
    </p:spTree>
    <p:extLst>
      <p:ext uri="{BB962C8B-B14F-4D97-AF65-F5344CB8AC3E}">
        <p14:creationId xmlns:p14="http://schemas.microsoft.com/office/powerpoint/2010/main" val="1945209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DE45CBC-45A0-4A02-B2E0-EBE11203BA2D}"/>
              </a:ext>
            </a:extLst>
          </p:cNvPr>
          <p:cNvSpPr txBox="1"/>
          <p:nvPr/>
        </p:nvSpPr>
        <p:spPr>
          <a:xfrm>
            <a:off x="3862661" y="3201538"/>
            <a:ext cx="4466672"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Perspectives</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Tree>
    <p:extLst>
      <p:ext uri="{BB962C8B-B14F-4D97-AF65-F5344CB8AC3E}">
        <p14:creationId xmlns:p14="http://schemas.microsoft.com/office/powerpoint/2010/main" val="3711432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7;p13">
            <a:extLst>
              <a:ext uri="{FF2B5EF4-FFF2-40B4-BE49-F238E27FC236}">
                <a16:creationId xmlns:a16="http://schemas.microsoft.com/office/drawing/2014/main" id="{0FC65694-00FC-43AC-B6E7-14A50C13833E}"/>
              </a:ext>
            </a:extLst>
          </p:cNvPr>
          <p:cNvSpPr/>
          <p:nvPr/>
        </p:nvSpPr>
        <p:spPr>
          <a:xfrm>
            <a:off x="294850" y="-30370"/>
            <a:ext cx="3590608" cy="1237086"/>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3">
              <a:alphaModFix/>
            </a:blip>
            <a:stretch>
              <a:fillRect t="-51413" b="-66256"/>
            </a:stretch>
          </a:blipFill>
          <a:ln>
            <a:noFill/>
          </a:ln>
        </p:spPr>
      </p:sp>
      <p:sp>
        <p:nvSpPr>
          <p:cNvPr id="5" name="ZoneTexte 4">
            <a:extLst>
              <a:ext uri="{FF2B5EF4-FFF2-40B4-BE49-F238E27FC236}">
                <a16:creationId xmlns:a16="http://schemas.microsoft.com/office/drawing/2014/main" id="{5CD5FDF2-226E-406F-A181-5B21C648DED6}"/>
              </a:ext>
            </a:extLst>
          </p:cNvPr>
          <p:cNvSpPr txBox="1"/>
          <p:nvPr/>
        </p:nvSpPr>
        <p:spPr>
          <a:xfrm>
            <a:off x="444614" y="1206716"/>
            <a:ext cx="11002297" cy="646331"/>
          </a:xfrm>
          <a:prstGeom prst="rect">
            <a:avLst/>
          </a:prstGeom>
          <a:noFill/>
        </p:spPr>
        <p:txBody>
          <a:bodyPr wrap="square" rtlCol="0">
            <a:spAutoFit/>
          </a:bodyPr>
          <a:lstStyle/>
          <a:p>
            <a:pPr>
              <a:spcBef>
                <a:spcPts val="1800"/>
              </a:spcBef>
            </a:pPr>
            <a:r>
              <a:rPr lang="en-US" sz="3600" b="1" dirty="0"/>
              <a:t>Perspectives</a:t>
            </a:r>
            <a:endParaRPr lang="en-US" sz="3600" dirty="0"/>
          </a:p>
        </p:txBody>
      </p:sp>
      <p:sp>
        <p:nvSpPr>
          <p:cNvPr id="4" name="ZoneTexte 3">
            <a:extLst>
              <a:ext uri="{FF2B5EF4-FFF2-40B4-BE49-F238E27FC236}">
                <a16:creationId xmlns:a16="http://schemas.microsoft.com/office/drawing/2014/main" id="{41BE6CBD-4E3F-45E3-AFD5-20C73B2096D0}"/>
              </a:ext>
            </a:extLst>
          </p:cNvPr>
          <p:cNvSpPr txBox="1"/>
          <p:nvPr/>
        </p:nvSpPr>
        <p:spPr>
          <a:xfrm>
            <a:off x="444614" y="2280007"/>
            <a:ext cx="11002297" cy="4031873"/>
          </a:xfrm>
          <a:prstGeom prst="rect">
            <a:avLst/>
          </a:prstGeom>
          <a:noFill/>
        </p:spPr>
        <p:txBody>
          <a:bodyPr wrap="square" rtlCol="0">
            <a:spAutoFit/>
          </a:bodyPr>
          <a:lstStyle/>
          <a:p>
            <a:pPr>
              <a:spcBef>
                <a:spcPts val="1200"/>
              </a:spcBef>
            </a:pPr>
            <a:r>
              <a:rPr lang="en-US" sz="2800" dirty="0"/>
              <a:t>Expected contribution from managers</a:t>
            </a:r>
          </a:p>
          <a:p>
            <a:pPr>
              <a:spcBef>
                <a:spcPts val="1200"/>
              </a:spcBef>
            </a:pPr>
            <a:endParaRPr lang="en-US" sz="2800" dirty="0"/>
          </a:p>
          <a:p>
            <a:pPr>
              <a:spcBef>
                <a:spcPts val="1200"/>
              </a:spcBef>
            </a:pPr>
            <a:r>
              <a:rPr lang="en-US" sz="2800" dirty="0"/>
              <a:t>Generate new ideas for analysis and research work</a:t>
            </a:r>
          </a:p>
          <a:p>
            <a:pPr>
              <a:spcBef>
                <a:spcPts val="1200"/>
              </a:spcBef>
            </a:pPr>
            <a:endParaRPr lang="en-US" sz="2800" dirty="0"/>
          </a:p>
          <a:p>
            <a:pPr>
              <a:spcBef>
                <a:spcPts val="1200"/>
              </a:spcBef>
            </a:pPr>
            <a:r>
              <a:rPr lang="en-US" sz="2800" dirty="0"/>
              <a:t>Promote the database to environmental authorities</a:t>
            </a:r>
          </a:p>
          <a:p>
            <a:pPr>
              <a:spcBef>
                <a:spcPts val="1200"/>
              </a:spcBef>
            </a:pPr>
            <a:endParaRPr lang="en-US" sz="2800" dirty="0"/>
          </a:p>
          <a:p>
            <a:pPr>
              <a:spcBef>
                <a:spcPts val="1200"/>
              </a:spcBef>
            </a:pPr>
            <a:r>
              <a:rPr lang="en-US" sz="2800" dirty="0"/>
              <a:t>Establish links with other European and international databases</a:t>
            </a:r>
          </a:p>
        </p:txBody>
      </p:sp>
    </p:spTree>
    <p:extLst>
      <p:ext uri="{BB962C8B-B14F-4D97-AF65-F5344CB8AC3E}">
        <p14:creationId xmlns:p14="http://schemas.microsoft.com/office/powerpoint/2010/main" val="2810875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srcRect l="40060" t="148"/>
          <a:stretch/>
        </p:blipFill>
        <p:spPr>
          <a:xfrm>
            <a:off x="0" y="-22577"/>
            <a:ext cx="12238151" cy="6880578"/>
          </a:xfrm>
          <a:prstGeom prst="rect">
            <a:avLst/>
          </a:prstGeom>
        </p:spPr>
      </p:pic>
      <p:pic>
        <p:nvPicPr>
          <p:cNvPr id="16" name="Image 15">
            <a:extLst>
              <a:ext uri="{FF2B5EF4-FFF2-40B4-BE49-F238E27FC236}">
                <a16:creationId xmlns:a16="http://schemas.microsoft.com/office/drawing/2014/main" id="{7580EFBD-AEAD-49B4-9C7C-A8CE8670F0B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rot="16200000">
            <a:off x="10069989" y="426632"/>
            <a:ext cx="1393053" cy="1323401"/>
          </a:xfrm>
          <a:prstGeom prst="rect">
            <a:avLst/>
          </a:prstGeom>
        </p:spPr>
      </p:pic>
      <p:pic>
        <p:nvPicPr>
          <p:cNvPr id="14" name="Image 13">
            <a:extLst>
              <a:ext uri="{FF2B5EF4-FFF2-40B4-BE49-F238E27FC236}">
                <a16:creationId xmlns:a16="http://schemas.microsoft.com/office/drawing/2014/main" id="{D1997961-37B2-4055-907F-5490D8816726}"/>
              </a:ext>
            </a:extLst>
          </p:cNvPr>
          <p:cNvPicPr>
            <a:picLocks noChangeAspect="1"/>
          </p:cNvPicPr>
          <p:nvPr/>
        </p:nvPicPr>
        <p:blipFill>
          <a:blip r:embed="rId5">
            <a:clrChange>
              <a:clrFrom>
                <a:srgbClr val="DBDBD9"/>
              </a:clrFrom>
              <a:clrTo>
                <a:srgbClr val="DBDBD9">
                  <a:alpha val="0"/>
                </a:srgbClr>
              </a:clrTo>
            </a:clrChange>
          </a:blip>
          <a:stretch>
            <a:fillRect/>
          </a:stretch>
        </p:blipFill>
        <p:spPr>
          <a:xfrm>
            <a:off x="3689994" y="-22578"/>
            <a:ext cx="1367587" cy="801557"/>
          </a:xfrm>
          <a:prstGeom prst="rect">
            <a:avLst/>
          </a:prstGeom>
        </p:spPr>
      </p:pic>
      <p:sp>
        <p:nvSpPr>
          <p:cNvPr id="8" name="Google Shape;97;p13">
            <a:extLst>
              <a:ext uri="{FF2B5EF4-FFF2-40B4-BE49-F238E27FC236}">
                <a16:creationId xmlns:a16="http://schemas.microsoft.com/office/drawing/2014/main" id="{0FC65694-00FC-43AC-B6E7-14A50C13833E}"/>
              </a:ext>
            </a:extLst>
          </p:cNvPr>
          <p:cNvSpPr/>
          <p:nvPr/>
        </p:nvSpPr>
        <p:spPr>
          <a:xfrm>
            <a:off x="3199659" y="325230"/>
            <a:ext cx="5792679" cy="1995774"/>
          </a:xfrm>
          <a:custGeom>
            <a:avLst/>
            <a:gdLst/>
            <a:ahLst/>
            <a:cxnLst/>
            <a:rect l="l" t="t" r="r" b="b"/>
            <a:pathLst>
              <a:path w="3590608" h="1237086" extrusionOk="0">
                <a:moveTo>
                  <a:pt x="0" y="0"/>
                </a:moveTo>
                <a:lnTo>
                  <a:pt x="3590608" y="0"/>
                </a:lnTo>
                <a:lnTo>
                  <a:pt x="3590608" y="1237086"/>
                </a:lnTo>
                <a:lnTo>
                  <a:pt x="0" y="1237086"/>
                </a:lnTo>
                <a:lnTo>
                  <a:pt x="0" y="0"/>
                </a:lnTo>
                <a:close/>
              </a:path>
            </a:pathLst>
          </a:custGeom>
          <a:blipFill rotWithShape="1">
            <a:blip r:embed="rId6">
              <a:alphaModFix/>
            </a:blip>
            <a:stretch>
              <a:fillRect t="-51413" b="-66256"/>
            </a:stretch>
          </a:blipFill>
          <a:ln>
            <a:noFill/>
          </a:ln>
        </p:spPr>
      </p:sp>
      <p:sp>
        <p:nvSpPr>
          <p:cNvPr id="9" name="ZoneTexte 8">
            <a:extLst>
              <a:ext uri="{FF2B5EF4-FFF2-40B4-BE49-F238E27FC236}">
                <a16:creationId xmlns:a16="http://schemas.microsoft.com/office/drawing/2014/main" id="{9DE45CBC-45A0-4A02-B2E0-EBE11203BA2D}"/>
              </a:ext>
            </a:extLst>
          </p:cNvPr>
          <p:cNvSpPr txBox="1"/>
          <p:nvPr/>
        </p:nvSpPr>
        <p:spPr>
          <a:xfrm>
            <a:off x="4781152" y="3201538"/>
            <a:ext cx="2629694" cy="1107996"/>
          </a:xfrm>
          <a:prstGeom prst="rect">
            <a:avLst/>
          </a:prstGeom>
          <a:solidFill>
            <a:schemeClr val="bg1">
              <a:lumMod val="95000"/>
            </a:schemeClr>
          </a:solidFill>
          <a:ln w="28575">
            <a:solidFill>
              <a:srgbClr val="0070C0"/>
            </a:solidFill>
          </a:ln>
        </p:spPr>
        <p:txBody>
          <a:bodyPr wrap="none" rtlCol="0">
            <a:spAutoFit/>
          </a:bodyPr>
          <a:lstStyle/>
          <a:p>
            <a:pPr algn="ctr"/>
            <a:r>
              <a:rPr lang="en-US" sz="6600" dirty="0">
                <a:solidFill>
                  <a:srgbClr val="0070C0"/>
                </a:solidFill>
                <a:latin typeface="Calibri" panose="020F0502020204030204" pitchFamily="34" charset="0"/>
                <a:ea typeface="Calibri" panose="020F0502020204030204" pitchFamily="34" charset="0"/>
                <a:cs typeface="Calibri" panose="020F0502020204030204" pitchFamily="34" charset="0"/>
              </a:rPr>
              <a:t>Merci !</a:t>
            </a:r>
            <a:endParaRPr lang="fr-FR" sz="66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pic>
        <p:nvPicPr>
          <p:cNvPr id="10" name="Picture 2" descr="Scarab beetle insect icon flat style symbol Vector Image">
            <a:extLst>
              <a:ext uri="{FF2B5EF4-FFF2-40B4-BE49-F238E27FC236}">
                <a16:creationId xmlns:a16="http://schemas.microsoft.com/office/drawing/2014/main" id="{AB46C705-18F2-4F0A-A01C-076FB4A338F7}"/>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17315" b="76389" l="23690" r="85585">
                        <a14:foregroundMark x1="54234" y1="20648" x2="54234" y2="20648"/>
                        <a14:foregroundMark x1="54335" y1="18241" x2="54335" y2="18241"/>
                        <a14:foregroundMark x1="44657" y1="17778" x2="44657" y2="17778"/>
                        <a14:foregroundMark x1="53931" y1="17315" x2="53931" y2="17315"/>
                      </a14:backgroundRemoval>
                    </a14:imgEffect>
                  </a14:imgLayer>
                </a14:imgProps>
              </a:ext>
              <a:ext uri="{28A0092B-C50C-407E-A947-70E740481C1C}">
                <a14:useLocalDpi xmlns:a14="http://schemas.microsoft.com/office/drawing/2010/main" val="0"/>
              </a:ext>
            </a:extLst>
          </a:blip>
          <a:srcRect l="15973" t="14046" r="6297" b="16508"/>
          <a:stretch/>
        </p:blipFill>
        <p:spPr bwMode="auto">
          <a:xfrm rot="3996079">
            <a:off x="5594545" y="2014973"/>
            <a:ext cx="1171974" cy="11399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3">
            <a:extLst>
              <a:ext uri="{FF2B5EF4-FFF2-40B4-BE49-F238E27FC236}">
                <a16:creationId xmlns:a16="http://schemas.microsoft.com/office/drawing/2014/main" id="{B2192CB0-54BA-4CED-8E81-9306F09A820F}"/>
              </a:ext>
            </a:extLst>
          </p:cNvPr>
          <p:cNvPicPr>
            <a:picLocks noChangeAspect="1"/>
          </p:cNvPicPr>
          <p:nvPr/>
        </p:nvPicPr>
        <p:blipFill rotWithShape="1">
          <a:blip r:embed="rId9">
            <a:extLst>
              <a:ext uri="{BEBA8EAE-BF5A-486C-A8C5-ECC9F3942E4B}">
                <a14:imgProps xmlns:a14="http://schemas.microsoft.com/office/drawing/2010/main">
                  <a14:imgLayer r:embed="rId10">
                    <a14:imgEffect>
                      <a14:backgroundRemoval t="8889" b="85741" l="9920" r="93487">
                        <a14:foregroundMark x1="93587" y1="67685" x2="93587" y2="67685"/>
                        <a14:foregroundMark x1="60321" y1="81944" x2="60321" y2="81944"/>
                        <a14:foregroundMark x1="47295" y1="82685" x2="47295" y2="82685"/>
                        <a14:foregroundMark x1="86774" y1="85741" x2="86774" y2="85741"/>
                      </a14:backgroundRemoval>
                    </a14:imgEffect>
                  </a14:imgLayer>
                </a14:imgProps>
              </a:ext>
            </a:extLst>
          </a:blip>
          <a:srcRect b="9841"/>
          <a:stretch/>
        </p:blipFill>
        <p:spPr>
          <a:xfrm rot="16200000">
            <a:off x="156705" y="799063"/>
            <a:ext cx="1650729" cy="1610562"/>
          </a:xfrm>
          <a:prstGeom prst="rect">
            <a:avLst/>
          </a:prstGeom>
        </p:spPr>
      </p:pic>
      <p:pic>
        <p:nvPicPr>
          <p:cNvPr id="12" name="Picture 6" descr="Vetor de vector realistic illustration of a lynx isolated on white  background do Stock | Adobe Stock">
            <a:extLst>
              <a:ext uri="{FF2B5EF4-FFF2-40B4-BE49-F238E27FC236}">
                <a16:creationId xmlns:a16="http://schemas.microsoft.com/office/drawing/2014/main" id="{59EF9B42-B7AD-40B7-A767-1AE9BE11E63F}"/>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backgroundRemoval t="9883" b="90117" l="4800" r="93900">
                        <a14:foregroundMark x1="8700" y1="27308" x2="8700" y2="27308"/>
                        <a14:foregroundMark x1="4800" y1="28218" x2="4800" y2="28218"/>
                        <a14:foregroundMark x1="13900" y1="11704" x2="13900" y2="11704"/>
                        <a14:foregroundMark x1="90500" y1="86086" x2="90500" y2="86086"/>
                        <a14:foregroundMark x1="93900" y1="72432" x2="93900" y2="72432"/>
                        <a14:foregroundMark x1="87300" y1="90117" x2="87300" y2="90117"/>
                      </a14:backgroundRemoval>
                    </a14:imgEffect>
                  </a14:imgLayer>
                </a14:imgProps>
              </a:ext>
              <a:ext uri="{28A0092B-C50C-407E-A947-70E740481C1C}">
                <a14:useLocalDpi xmlns:a14="http://schemas.microsoft.com/office/drawing/2010/main" val="0"/>
              </a:ext>
            </a:extLst>
          </a:blip>
          <a:srcRect/>
          <a:stretch>
            <a:fillRect/>
          </a:stretch>
        </p:blipFill>
        <p:spPr bwMode="auto">
          <a:xfrm rot="5400000">
            <a:off x="10250570" y="3869099"/>
            <a:ext cx="1961225" cy="1508101"/>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E5BE86A4-A3A0-419B-B290-272583C0636E}"/>
              </a:ext>
            </a:extLst>
          </p:cNvPr>
          <p:cNvPicPr>
            <a:picLocks noChangeAspect="1"/>
          </p:cNvPicPr>
          <p:nvPr/>
        </p:nvPicPr>
        <p:blipFill>
          <a:blip r:embed="rId1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01162" y="5373511"/>
            <a:ext cx="879250" cy="869077"/>
          </a:xfrm>
          <a:prstGeom prst="rect">
            <a:avLst/>
          </a:prstGeom>
        </p:spPr>
      </p:pic>
      <p:pic>
        <p:nvPicPr>
          <p:cNvPr id="15" name="Image 14">
            <a:extLst>
              <a:ext uri="{FF2B5EF4-FFF2-40B4-BE49-F238E27FC236}">
                <a16:creationId xmlns:a16="http://schemas.microsoft.com/office/drawing/2014/main" id="{5696D93D-0A53-4B26-9698-21793DE9521C}"/>
              </a:ext>
            </a:extLst>
          </p:cNvPr>
          <p:cNvPicPr>
            <a:picLocks noChangeAspect="1"/>
          </p:cNvPicPr>
          <p:nvPr/>
        </p:nvPicPr>
        <p:blipFill>
          <a:blip r:embed="rId14"/>
          <a:stretch>
            <a:fillRect/>
          </a:stretch>
        </p:blipFill>
        <p:spPr>
          <a:xfrm rot="5400000">
            <a:off x="6042386" y="5785737"/>
            <a:ext cx="693586" cy="1094325"/>
          </a:xfrm>
          <a:prstGeom prst="rect">
            <a:avLst/>
          </a:prstGeom>
        </p:spPr>
      </p:pic>
      <p:pic>
        <p:nvPicPr>
          <p:cNvPr id="17" name="Picture 21">
            <a:extLst>
              <a:ext uri="{FF2B5EF4-FFF2-40B4-BE49-F238E27FC236}">
                <a16:creationId xmlns:a16="http://schemas.microsoft.com/office/drawing/2014/main" id="{F56A5086-A628-4262-988C-5F78ACD6E89A}"/>
              </a:ext>
            </a:extLst>
          </p:cNvPr>
          <p:cNvPicPr>
            <a:picLocks noChangeAspect="1"/>
          </p:cNvPicPr>
          <p:nvPr/>
        </p:nvPicPr>
        <p:blipFill>
          <a:blip r:embed="rId15"/>
          <a:stretch>
            <a:fillRect/>
          </a:stretch>
        </p:blipFill>
        <p:spPr>
          <a:xfrm rot="10800000">
            <a:off x="1628385" y="2224517"/>
            <a:ext cx="1471401" cy="2013495"/>
          </a:xfrm>
          <a:prstGeom prst="rect">
            <a:avLst/>
          </a:prstGeom>
        </p:spPr>
      </p:pic>
    </p:spTree>
    <p:extLst>
      <p:ext uri="{BB962C8B-B14F-4D97-AF65-F5344CB8AC3E}">
        <p14:creationId xmlns:p14="http://schemas.microsoft.com/office/powerpoint/2010/main" val="999266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94193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2540</TotalTime>
  <Words>3186</Words>
  <Application>Microsoft Office PowerPoint</Application>
  <PresentationFormat>Grand écran</PresentationFormat>
  <Paragraphs>369</Paragraphs>
  <Slides>44</Slides>
  <Notes>42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44</vt:i4>
      </vt:variant>
    </vt:vector>
  </HeadingPairs>
  <TitlesOfParts>
    <vt:vector size="48"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Bruno</dc:creator>
  <cp:lastModifiedBy>Bruno</cp:lastModifiedBy>
  <cp:revision>130</cp:revision>
  <dcterms:created xsi:type="dcterms:W3CDTF">2025-09-03T10:06:55Z</dcterms:created>
  <dcterms:modified xsi:type="dcterms:W3CDTF">2025-09-10T03:39:20Z</dcterms:modified>
</cp:coreProperties>
</file>